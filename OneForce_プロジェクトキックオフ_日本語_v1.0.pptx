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OneForce向けのDataiku処理をMicrosoft Fabric上へ移行し、対象5テーブルをDataverseへ連携する計画を説明します。Omni2Fabricのキックオフ資料は構成とデザインの参考にしていますが、そのプロジェクトの担当者、日程、Power BI開発スコープを転用したものではありません。本資料の開催日と正式な計画は関係者の合意後に確定します。
【出典・前提】
Omni2Fabricキックオフ画像 p.1〜9：構成・デザイン参考。
OneForce作業内容画像 No.2、No.34〜49：対象と構築範囲。
Fabric移行_WBS_作業内容反映_v1.0.xlsx：未承認の計画案。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議題はOmni2Fabricの構成に合わせた7項目です。OneForceでは、特に5テーブルの出力仕様、Dataverseへの反映時刻、共通処理の方式、既存基盤への変更範囲が重要になります。本日の会議でスコープと意思決定の責任者を確認し、未確定事項には回答責任者と期限を付けます。
【出典・前提】
OneForce作業内容 No.1〜18、19〜24。WBS「確認事項」C01〜C20。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現行Dataikuでは6テーブルを作成していますが、今回のFabric移行対象はHospitalSalesAmountを除いた5テーブルです。単に処理を移すのではなく、共通化、差分管理、通知や復旧、試験証跡と引継ぎまでを含めて運用可能な状態にすることを目指します。Omni資料にある単独担当者リスクを、OneForceの確認済みの現状として断定していません。目的と期待価値は今回の作業内容を基にした提案です。
【出典・前提】
OneForce作業内容 No.2、11、34〜49、50〜64。Omni2Fabric p.3 は目的・価値・成果物の見せ方のみ参照。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5テーブルそれぞれについて要件・設計・加工・出力・受入までを対象にします。HospitalSalesAmountは元資料に基づく対象外です。一方、Power BI開発、Dataikuの基盤廃止や上流の機能改修、本番切替・保守は今回の作業一覧とWBSに未計上であり、契約上の除外が確定したと断言せず、追加承認が必要な範囲として提示しています。DPSは略称の意味や必要性を推測せず、元資料どおり要否判断事項として扱います。
【出典・前提】
OneForce作業内容 No.2（6→5テーブル）、No.10（DPS要否）、No.19〜64。WBS「確認事項」C04、C18。Omni2Fabric p.4はOneForceを対象外とする別案件であり、そのスコープは転記しない。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この図は役割を分けるための体制案であり、正式な責任者の指名ではありません。業務側には仕様とSLA、UAT受入の責任を、開発側には設計実装と試験、基盤側には権限や接続許可、運用チームには監視復旧と引継ぎ確認をお願いする案です。李さんは元資料の共通Functionと共通Notebookの確認先です。楊さん参加予定とクレアさん申請中は資料時点の情報で、現時点の参加確定として扱いません。
【出典・前提】
OneForce作業内容 No.13、43、47、64。WBS「確認事項」C16。Omni2Fabric p.5は役割図の構成だけを参照。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既存WBSのキャッシュ値を読み取り、8工程の期間と件数をそのまま反映しています。準備12、要件設計17、事前検証7、開発32、単体14、結合9、UAT7、KT3の合計101タスクです。UATの早い開始日は試験準備で、業務試験は結合テスト移行判定後の2月24日からです。KTも1月に資料準備を行い、引継ぎの実施と完了確認は3月11日〜15日です。期間は土日しか除外しておらず、祝日・年末年始と要員競合の調整が必要です。3月15日をGo-Live日とみなしてはいけません。WBS上のキックオフタスクは11月2日の仮置きで、開催日は未確定です。
【出典・前提】
Fabric移行_WBS_作業内容反映_v1.0.xlsx「サマリー」A17:F24・A30:D39、「作業計画」00012、00092〜00101、「設定」B4・B7・B12。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構成は元資料の作業区分を図示した案です。OneForce、Redshift、SharePointを入力候補とし、既存Japan Data PlatformのBronze・Silverを活用しながら、Goldで加工・共通化し、Outputでstg、tgt、Watermarkを管理してDataverseへ連携します。すべての入力が必ず同一の物理経路を通ることを確定した図ではありません。Goldへの参照かコピーか、個別入力の取込経路は設計で決めます。SQL FunctionとNotebook関数は実行エンジンが異なり、SparkからSQL Functionが無条件に直接使えるという意味ではありません。Dataverseへのコピー先対応は公式に存在しますが、実環境の接続成功を示すものではありません。
【出典・前提】
OneForce作業内容 No.11〜12、24、30〜49。MS1: https://learn.microsoft.com/en-us/fabric/data-factory/connector-dataverse-copy-activity
MS2: https://learn.microsoft.com/en-us/fabric/data-engineering/lakehouse-sql-analytics-endpoint
現行の受渡経路は提示された画像だけでは確定できないため記載を限定。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開発成果物を5領域に分けています。BronzeとSilverの39テーブルという値は現行同等と仮定した見込みであり、実数はINPUT一覧から決めます。GoldLakehouseの1〜2件、出力Notebookの5件も初期想定です。共通処理と差分更新はそれぞれ1件、Dataverse出力Pipelineも1件という元資料の想定を示しました。101は管理用のWBSタスク数で、成果物数や試験ケース数ではありません。
【出典・前提】
OneForce作業内容 No.34〜49、50〜64。WBS「確認事項」C03、C13、C14。Notebook %runの実行方式はMS3: https://learn.microsoft.com/en-us/fabric/data-engineering/author-execute-notebook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先行確認はDataverse連携、SQL Function、共通Notebookの3件です。Dataverseのコピー先はUpsertのため、更新キーとNULLの扱いをテストします。SQL FunctionはWarehouseかSQL分析エンドポイントかを採用機能と権限の実証に基づいて選びます。Notebookは会話で選択した方式Aの%runを使用し、同一ワークスペースで定義を読み込む方式を確認します。これまでの会話で手順やソースは作成しましたが、ユーザー環境での実行完了は確認できていないため完了とは表示していません。スカラーUDFを使う場合は採用時点の提供状態とインライン化制約も確認します。
【出典・前提】
OneForce作業内容 No.24、43、47。WBS 00028〜00030。
MS1: https://learn.microsoft.com/en-us/fabric/data-factory/connector-dataverse-copy-activity
MS2: https://learn.microsoft.com/en-us/fabric/data-engineering/lakehouse-sql-analytics-endpoint
MS3: https://learn.microsoft.com/en-us/fabric/data-engineering/author-execute-notebook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品質と運用を設計時から定義します。データ照合は件数だけではなくキー、値、型、NULLと参照関係を含めます。結合では追加分だけでなく既存Bronze・Silverへの性能影響と異常時の復旧も確認します。Dataverseへの反映が8時ごろでよいかは元資料の確認事項であって、SLAが8時に決まったわけではありません。許容差や重大不具合の完了条件も業務側と合意してから評価します。権限はアクセス経路ごとに要件に合う方式を選定します。
【出典・前提】
OneForce作業内容 No.7〜8、15〜18、50〜64。WBS「確認事項」C02、C07〜C09、C15。判定基準の表現は本資料の合意案。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Omni2Fabricのリスク整理の見せ方を参考に、OneForce固有の確認事項へ置き換えています。特にINPUTと成果物数量、SLA、既存基盤の影響、要員と休暇の前提が日程を左右します。NextForceという名称は作業一覧に記載されていますが、OneForceと同一の環境名と断定せず、実際の接続対象との照合が必要です。業務UATと運用移管の稼働・承認者も外部依存として早期に確保します。
【出典・前提】
OneForce作業内容 No.7、9〜18、24、31〜49、59〜64。WBS「確認事項」C01〜C20。Omni2Fabric p.8はリスク・前提・依存という枠組みのみ参照。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この表は作業担当を確定するためのアクション案です。氏名は元資料に記載された確認先であり、勝手に責任者へ任命したものではありません。日付を明記した先行検証だけはWBSの11月18日から19日の仮完了日を引用しています。その他は承認前や着手前という期限基準を記載したので、会議で担当と具体日を設定します。終了時に5テーブル、体制、日程前提、先行検証の条件の4点を確認し、未決は課題一覧へ残します。
【出典・前提】
OneForce作業内容 No.1〜24、43、47、64。WBS「確認事項」C01〜C20、「作業計画」00028〜00030。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【説明メモ】
本資料の根拠を最後に整理しています。OneForceの作業内容画像と仮WBSを内容の一次情報とし、Omni2Fabricは見せ方の参考として使用しました。元資料の完了2件からプロジェクト全体の正式な進捗率は算定しません。技術事項はMicrosoft Learnを確認しましたが、今回ユーザーのFabric環境で実装を実行したものではありません。表や構成図、工程バーはPowerPointの編集可能な要素で作成しているため、承認後の日程や担当へ置き換えて利用できます。
【出典・前提】
参照画像：image(20261014-041732).png〜image(20261014-041921).png（Omni2Fabric 9枚）。
OneForce作業内容：image(5).png〜image(9).png。
WBS：Fabric移行_WBS_作業内容反映_v1.0.xlsx。
MS1: https://learn.microsoft.com/en-us/fabric/data-factory/connector-dataverse-copy-activity
MS2: https://learn.microsoft.com/en-us/fabric/data-engineering/lakehouse-sql-analytics-endpoint
MS3: https://learn.microsoft.com/en-us/fabric/data-engineering/author-execute-notebook
本資料はキックオフに向けた検討用ドラフト。日程・担当・数量・合否基準は、明示のない限り正式承認前の案です。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learn.microsoft.com/en-us/fabric/data-factory/connector-dataverse-copy-activity" TargetMode="External"/><Relationship Id="rId2" Type="http://schemas.openxmlformats.org/officeDocument/2006/relationships/hyperlink" Target="https://learn.microsoft.com/en-us/fabric/data-engineering/lakehouse-sql-analytics-endpoint" TargetMode="External"/><Relationship Id="rId3" Type="http://schemas.openxmlformats.org/officeDocument/2006/relationships/hyperlink" Target="https://learn.microsoft.com/en-us/fabric/data-engineering/author-execute-notebook" TargetMode="External"/><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1B0B"/>
        </a:solidFill>
      </p:bgPr>
    </p:bg>
    <p:spTree>
      <p:nvGrpSpPr>
        <p:cNvPr id="1" name=""/>
        <p:cNvGrpSpPr/>
        <p:nvPr/>
      </p:nvGrpSpPr>
      <p:grpSpPr>
        <a:xfrm>
          <a:off x="0" y="0"/>
          <a:ext cx="0" cy="0"/>
          <a:chOff x="0" y="0"/>
          <a:chExt cx="0" cy="0"/>
        </a:xfrm>
      </p:grpSpPr>
      <p:sp>
        <p:nvSpPr>
          <p:cNvPr id="2" name="Shape 0"/>
          <p:cNvSpPr/>
          <p:nvPr/>
        </p:nvSpPr>
        <p:spPr>
          <a:xfrm>
            <a:off x="8092440" y="0"/>
            <a:ext cx="4099560" cy="6858000"/>
          </a:xfrm>
          <a:prstGeom prst="rect">
            <a:avLst>
              <a:gd name="adj" fmla="val 1784"/>
            </a:avLst>
          </a:prstGeom>
          <a:solidFill>
            <a:srgbClr val="F4F4F3"/>
          </a:solidFill>
          <a:ln w="12700">
            <a:solidFill>
              <a:srgbClr val="F4F4F3">
                <a:alpha val="0"/>
              </a:srgbClr>
            </a:solidFill>
            <a:prstDash val="solid"/>
          </a:ln>
        </p:spPr>
      </p:sp>
      <p:sp>
        <p:nvSpPr>
          <p:cNvPr id="3" name="Text 1"/>
          <p:cNvSpPr/>
          <p:nvPr/>
        </p:nvSpPr>
        <p:spPr>
          <a:xfrm>
            <a:off x="530352" y="566928"/>
            <a:ext cx="7315200" cy="896112"/>
          </a:xfrm>
          <a:prstGeom prst="rect">
            <a:avLst/>
          </a:prstGeom>
          <a:noFill/>
          <a:ln/>
        </p:spPr>
        <p:txBody>
          <a:bodyPr wrap="square" lIns="0" tIns="0" rIns="0" bIns="0" rtlCol="0" anchor="ctr"/>
          <a:lstStyle/>
          <a:p>
            <a:pPr indent="0" marL="0">
              <a:buNone/>
            </a:pPr>
            <a:r>
              <a:rPr lang="ja-JP" altLang="en-US" sz="6200" dirty="0">
                <a:solidFill>
                  <a:srgbClr val="FFFFFF"/>
                </a:solidFill>
                <a:latin typeface="Arial" pitchFamily="34" charset="0"/>
                <a:ea typeface="Arial" pitchFamily="34" charset="-122"/>
                <a:cs typeface="Arial" pitchFamily="34" charset="-120"/>
              </a:rPr>
              <a:t>OneForce</a:t>
            </a:r>
            <a:endParaRPr lang="ja-JP" sz="6200" dirty="0"/>
          </a:p>
        </p:txBody>
      </p:sp>
      <p:sp>
        <p:nvSpPr>
          <p:cNvPr id="4" name="Text 2"/>
          <p:cNvSpPr/>
          <p:nvPr/>
        </p:nvSpPr>
        <p:spPr>
          <a:xfrm>
            <a:off x="566928" y="1709928"/>
            <a:ext cx="7223760" cy="1636776"/>
          </a:xfrm>
          <a:prstGeom prst="rect">
            <a:avLst/>
          </a:prstGeom>
          <a:noFill/>
          <a:ln/>
        </p:spPr>
        <p:txBody>
          <a:bodyPr wrap="square" lIns="0" tIns="0" rIns="0" bIns="0" rtlCol="0" anchor="ctr"/>
          <a:lstStyle/>
          <a:p>
            <a:pPr indent="0" marL="0">
              <a:buNone/>
            </a:pPr>
            <a:r>
              <a:rPr lang="ja-JP" altLang="en-US" sz="3800" dirty="0">
                <a:solidFill>
                  <a:srgbClr val="FFFFFF"/>
                </a:solidFill>
                <a:latin typeface="Noto Sans CJK JP" pitchFamily="34" charset="0"/>
                <a:ea typeface="Noto Sans CJK JP" pitchFamily="34" charset="-122"/>
                <a:cs typeface="Noto Sans CJK JP" pitchFamily="34" charset="-120"/>
              </a:rPr>
              <a:t>プロジェクト</a:t>
            </a:r>
            <a:endParaRPr lang="ja-JP" sz="3800" dirty="0"/>
          </a:p>
          <a:p>
            <a:pPr indent="0" marL="0">
              <a:buNone/>
            </a:pPr>
            <a:r>
              <a:rPr lang="ja-JP" altLang="en-US" sz="3800" dirty="0">
                <a:solidFill>
                  <a:srgbClr val="FFFFFF"/>
                </a:solidFill>
                <a:latin typeface="Noto Sans CJK JP" pitchFamily="34" charset="0"/>
                <a:ea typeface="Noto Sans CJK JP" pitchFamily="34" charset="-122"/>
                <a:cs typeface="Noto Sans CJK JP" pitchFamily="34" charset="-120"/>
              </a:rPr>
              <a:t>キックオフ</a:t>
            </a:r>
            <a:endParaRPr lang="ja-JP" sz="3800" dirty="0"/>
          </a:p>
        </p:txBody>
      </p:sp>
      <p:sp>
        <p:nvSpPr>
          <p:cNvPr id="5" name="Text 3"/>
          <p:cNvSpPr/>
          <p:nvPr/>
        </p:nvSpPr>
        <p:spPr>
          <a:xfrm>
            <a:off x="603504" y="3767328"/>
            <a:ext cx="7223760" cy="868680"/>
          </a:xfrm>
          <a:prstGeom prst="rect">
            <a:avLst/>
          </a:prstGeom>
          <a:noFill/>
          <a:ln/>
        </p:spPr>
        <p:txBody>
          <a:bodyPr wrap="square" lIns="0" tIns="0" rIns="0" bIns="0" rtlCol="0" anchor="ctr"/>
          <a:lstStyle/>
          <a:p>
            <a:pPr indent="0" marL="0">
              <a:buNone/>
            </a:pPr>
            <a:r>
              <a:rPr lang="ja-JP" altLang="en-US" sz="2300" dirty="0">
                <a:solidFill>
                  <a:srgbClr val="FFFFFF"/>
                </a:solidFill>
                <a:latin typeface="Noto Sans CJK JP" pitchFamily="34" charset="0"/>
                <a:ea typeface="Noto Sans CJK JP" pitchFamily="34" charset="-122"/>
                <a:cs typeface="Noto Sans CJK JP" pitchFamily="34" charset="-120"/>
              </a:rPr>
              <a:t>Dataiku処理のFabric移行と</a:t>
            </a:r>
            <a:endParaRPr lang="ja-JP" sz="2300" dirty="0"/>
          </a:p>
          <a:p>
            <a:pPr indent="0" marL="0">
              <a:buNone/>
            </a:pPr>
            <a:r>
              <a:rPr lang="ja-JP" altLang="en-US" sz="2300" dirty="0">
                <a:solidFill>
                  <a:srgbClr val="FFFFFF"/>
                </a:solidFill>
                <a:latin typeface="Noto Sans CJK JP" pitchFamily="34" charset="0"/>
                <a:ea typeface="Noto Sans CJK JP" pitchFamily="34" charset="-122"/>
                <a:cs typeface="Noto Sans CJK JP" pitchFamily="34" charset="-120"/>
              </a:rPr>
              <a:t>Dataverse連携の再構築</a:t>
            </a:r>
            <a:endParaRPr lang="ja-JP" sz="2300" dirty="0"/>
          </a:p>
        </p:txBody>
      </p:sp>
      <p:sp>
        <p:nvSpPr>
          <p:cNvPr id="6" name="Shape 4"/>
          <p:cNvSpPr/>
          <p:nvPr/>
        </p:nvSpPr>
        <p:spPr>
          <a:xfrm>
            <a:off x="603504" y="5129784"/>
            <a:ext cx="6665976" cy="0"/>
          </a:xfrm>
          <a:prstGeom prst="line">
            <a:avLst/>
          </a:prstGeom>
          <a:noFill/>
          <a:ln w="12700">
            <a:solidFill>
              <a:srgbClr val="F8766C"/>
            </a:solidFill>
            <a:prstDash val="solid"/>
            <a:headEnd type="none"/>
            <a:tailEnd type="none"/>
          </a:ln>
        </p:spPr>
      </p:sp>
      <p:sp>
        <p:nvSpPr>
          <p:cNvPr id="7" name="Text 5"/>
          <p:cNvSpPr/>
          <p:nvPr/>
        </p:nvSpPr>
        <p:spPr>
          <a:xfrm>
            <a:off x="603504" y="5376672"/>
            <a:ext cx="7132320" cy="347472"/>
          </a:xfrm>
          <a:prstGeom prst="rect">
            <a:avLst/>
          </a:prstGeom>
          <a:noFill/>
          <a:ln/>
        </p:spPr>
        <p:txBody>
          <a:bodyPr wrap="square" lIns="0" tIns="0" rIns="0" bIns="0" rtlCol="0" anchor="ctr"/>
          <a:lstStyle/>
          <a:p>
            <a:pPr indent="0" marL="0">
              <a:buNone/>
            </a:pPr>
            <a:r>
              <a:rPr lang="ja-JP" altLang="en-US" sz="1400" dirty="0">
                <a:solidFill>
                  <a:srgbClr val="FFFFFF"/>
                </a:solidFill>
                <a:latin typeface="Noto Sans CJK JP" pitchFamily="34" charset="0"/>
                <a:ea typeface="Noto Sans CJK JP" pitchFamily="34" charset="-122"/>
                <a:cs typeface="Noto Sans CJK JP" pitchFamily="34" charset="-120"/>
              </a:rPr>
              <a:t>日本語版  |  v1.0  |  検討用ドラフト</a:t>
            </a:r>
            <a:endParaRPr lang="ja-JP" sz="1400" dirty="0"/>
          </a:p>
        </p:txBody>
      </p:sp>
      <p:sp>
        <p:nvSpPr>
          <p:cNvPr id="8" name="Text 6"/>
          <p:cNvSpPr/>
          <p:nvPr/>
        </p:nvSpPr>
        <p:spPr>
          <a:xfrm>
            <a:off x="603504" y="5897880"/>
            <a:ext cx="6949440" cy="530352"/>
          </a:xfrm>
          <a:prstGeom prst="rect">
            <a:avLst/>
          </a:prstGeom>
          <a:noFill/>
          <a:ln/>
        </p:spPr>
        <p:txBody>
          <a:bodyPr wrap="square" lIns="0" tIns="0" rIns="0" bIns="0" rtlCol="0" anchor="ctr"/>
          <a:lstStyle/>
          <a:p>
            <a:pPr indent="0" marL="0">
              <a:buNone/>
            </a:pPr>
            <a:r>
              <a:rPr lang="ja-JP" altLang="en-US" sz="1300" dirty="0">
                <a:solidFill>
                  <a:srgbClr val="FFFFFF"/>
                </a:solidFill>
                <a:latin typeface="Noto Sans CJK JP" pitchFamily="34" charset="0"/>
                <a:ea typeface="Noto Sans CJK JP" pitchFamily="34" charset="-122"/>
                <a:cs typeface="Noto Sans CJK JP" pitchFamily="34" charset="-120"/>
              </a:rPr>
              <a:t>作成日：2026年10月14日</a:t>
            </a:r>
            <a:endParaRPr lang="ja-JP" sz="1300" dirty="0"/>
          </a:p>
          <a:p>
            <a:pPr indent="0" marL="0">
              <a:buNone/>
            </a:pPr>
            <a:r>
              <a:rPr lang="ja-JP" altLang="en-US" sz="1300" dirty="0">
                <a:solidFill>
                  <a:srgbClr val="FFFFFF"/>
                </a:solidFill>
                <a:latin typeface="Noto Sans CJK JP" pitchFamily="34" charset="0"/>
                <a:ea typeface="Noto Sans CJK JP" pitchFamily="34" charset="-122"/>
                <a:cs typeface="Noto Sans CJK JP" pitchFamily="34" charset="-120"/>
              </a:rPr>
              <a:t>キックオフ開催日：要確定</a:t>
            </a:r>
            <a:endParaRPr lang="ja-JP" sz="1300" dirty="0"/>
          </a:p>
        </p:txBody>
      </p:sp>
      <p:sp>
        <p:nvSpPr>
          <p:cNvPr id="9" name="Text 7"/>
          <p:cNvSpPr/>
          <p:nvPr/>
        </p:nvSpPr>
        <p:spPr>
          <a:xfrm>
            <a:off x="8449056" y="603504"/>
            <a:ext cx="3383280" cy="320040"/>
          </a:xfrm>
          <a:prstGeom prst="rect">
            <a:avLst/>
          </a:prstGeom>
          <a:noFill/>
          <a:ln/>
        </p:spPr>
        <p:txBody>
          <a:bodyPr wrap="square" lIns="0" tIns="0" rIns="0" bIns="0" rtlCol="0" anchor="ctr"/>
          <a:lstStyle/>
          <a:p>
            <a:pPr indent="0" marL="0">
              <a:buNone/>
            </a:pPr>
            <a:r>
              <a:rPr lang="ja-JP" altLang="en-US" sz="1300" b="1" dirty="0">
                <a:solidFill>
                  <a:srgbClr val="E51B0B"/>
                </a:solidFill>
                <a:latin typeface="Arial" pitchFamily="34" charset="0"/>
                <a:ea typeface="Arial" pitchFamily="34" charset="-122"/>
                <a:cs typeface="Arial" pitchFamily="34" charset="-120"/>
              </a:rPr>
              <a:t>ONEFORCE → FABRIC</a:t>
            </a:r>
            <a:endParaRPr lang="ja-JP" sz="1300" dirty="0"/>
          </a:p>
        </p:txBody>
      </p:sp>
      <p:sp>
        <p:nvSpPr>
          <p:cNvPr id="10" name="Text 8"/>
          <p:cNvSpPr/>
          <p:nvPr/>
        </p:nvSpPr>
        <p:spPr>
          <a:xfrm>
            <a:off x="8449056" y="1143000"/>
            <a:ext cx="3337560" cy="868680"/>
          </a:xfrm>
          <a:prstGeom prst="rect">
            <a:avLst/>
          </a:prstGeom>
          <a:noFill/>
          <a:ln/>
        </p:spPr>
        <p:txBody>
          <a:bodyPr wrap="square" lIns="0" tIns="0" rIns="0" bIns="0" rtlCol="0" anchor="ctr"/>
          <a:lstStyle/>
          <a:p>
            <a:pPr indent="0" marL="0">
              <a:buNone/>
            </a:pPr>
            <a:r>
              <a:rPr lang="ja-JP" altLang="en-US" sz="2400" b="1" dirty="0">
                <a:solidFill>
                  <a:srgbClr val="25282E"/>
                </a:solidFill>
                <a:latin typeface="Noto Sans CJK JP" pitchFamily="34" charset="0"/>
                <a:ea typeface="Noto Sans CJK JP" pitchFamily="34" charset="-122"/>
                <a:cs typeface="Noto Sans CJK JP" pitchFamily="34" charset="-120"/>
              </a:rPr>
              <a:t>5つの出力を、</a:t>
            </a:r>
            <a:endParaRPr lang="ja-JP" sz="2400" dirty="0"/>
          </a:p>
          <a:p>
            <a:pPr indent="0" marL="0">
              <a:buNone/>
            </a:pPr>
            <a:r>
              <a:rPr lang="ja-JP" altLang="en-US" sz="2400" b="1" dirty="0">
                <a:solidFill>
                  <a:srgbClr val="25282E"/>
                </a:solidFill>
                <a:latin typeface="Noto Sans CJK JP" pitchFamily="34" charset="0"/>
                <a:ea typeface="Noto Sans CJK JP" pitchFamily="34" charset="-122"/>
                <a:cs typeface="Noto Sans CJK JP" pitchFamily="34" charset="-120"/>
              </a:rPr>
              <a:t>一貫した連携へ。</a:t>
            </a:r>
            <a:endParaRPr lang="ja-JP" sz="2400" dirty="0"/>
          </a:p>
        </p:txBody>
      </p:sp>
      <p:sp>
        <p:nvSpPr>
          <p:cNvPr id="11" name="Shape 9"/>
          <p:cNvSpPr/>
          <p:nvPr/>
        </p:nvSpPr>
        <p:spPr>
          <a:xfrm>
            <a:off x="8458200" y="2606040"/>
            <a:ext cx="3227832" cy="694944"/>
          </a:xfrm>
          <a:prstGeom prst="rect">
            <a:avLst>
              <a:gd name="adj" fmla="val 10526"/>
            </a:avLst>
          </a:prstGeom>
          <a:solidFill>
            <a:srgbClr val="FFFFFF"/>
          </a:solidFill>
          <a:ln w="12700">
            <a:solidFill>
              <a:srgbClr val="FFFFFF">
                <a:alpha val="0"/>
              </a:srgbClr>
            </a:solidFill>
            <a:prstDash val="solid"/>
          </a:ln>
        </p:spPr>
      </p:sp>
      <p:sp>
        <p:nvSpPr>
          <p:cNvPr id="12" name="Text 10"/>
          <p:cNvSpPr/>
          <p:nvPr/>
        </p:nvSpPr>
        <p:spPr>
          <a:xfrm>
            <a:off x="8631936" y="2697480"/>
            <a:ext cx="2871216" cy="274320"/>
          </a:xfrm>
          <a:prstGeom prst="rect">
            <a:avLst/>
          </a:prstGeom>
          <a:noFill/>
          <a:ln/>
        </p:spPr>
        <p:txBody>
          <a:bodyPr wrap="square" lIns="0" tIns="0" rIns="0" bIns="0" rtlCol="0" anchor="ctr"/>
          <a:lstStyle/>
          <a:p>
            <a:pPr indent="0" marL="0">
              <a:buNone/>
            </a:pPr>
            <a:r>
              <a:rPr lang="ja-JP" altLang="en-US" sz="2000" b="1" dirty="0">
                <a:solidFill>
                  <a:srgbClr val="25282E"/>
                </a:solidFill>
                <a:latin typeface="Arial" pitchFamily="34" charset="0"/>
                <a:ea typeface="Arial" pitchFamily="34" charset="-122"/>
                <a:cs typeface="Arial" pitchFamily="34" charset="-120"/>
              </a:rPr>
              <a:t>Dataiku</a:t>
            </a:r>
            <a:endParaRPr lang="ja-JP" sz="2000" dirty="0"/>
          </a:p>
        </p:txBody>
      </p:sp>
      <p:sp>
        <p:nvSpPr>
          <p:cNvPr id="13" name="Text 11"/>
          <p:cNvSpPr/>
          <p:nvPr/>
        </p:nvSpPr>
        <p:spPr>
          <a:xfrm>
            <a:off x="8631936" y="3008376"/>
            <a:ext cx="2871216" cy="182880"/>
          </a:xfrm>
          <a:prstGeom prst="rect">
            <a:avLst/>
          </a:prstGeom>
          <a:noFill/>
          <a:ln/>
        </p:spPr>
        <p:txBody>
          <a:bodyPr wrap="square" lIns="0" tIns="0" rIns="0" bIns="0" rtlCol="0" anchor="ctr"/>
          <a:lstStyle/>
          <a:p>
            <a:pP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現行処理を確認</a:t>
            </a:r>
            <a:endParaRPr lang="ja-JP" sz="1130" dirty="0"/>
          </a:p>
        </p:txBody>
      </p:sp>
      <p:sp>
        <p:nvSpPr>
          <p:cNvPr id="14" name="Shape 12"/>
          <p:cNvSpPr/>
          <p:nvPr/>
        </p:nvSpPr>
        <p:spPr>
          <a:xfrm>
            <a:off x="10076688" y="3355848"/>
            <a:ext cx="0" cy="210312"/>
          </a:xfrm>
          <a:prstGeom prst="line">
            <a:avLst/>
          </a:prstGeom>
          <a:noFill/>
          <a:ln w="19050">
            <a:solidFill>
              <a:srgbClr val="E51B0B"/>
            </a:solidFill>
            <a:prstDash val="solid"/>
            <a:headEnd type="none"/>
            <a:tailEnd type="triangle"/>
          </a:ln>
        </p:spPr>
      </p:sp>
      <p:sp>
        <p:nvSpPr>
          <p:cNvPr id="15" name="Shape 13"/>
          <p:cNvSpPr/>
          <p:nvPr/>
        </p:nvSpPr>
        <p:spPr>
          <a:xfrm>
            <a:off x="8458200" y="3621024"/>
            <a:ext cx="3227832" cy="694944"/>
          </a:xfrm>
          <a:prstGeom prst="rect">
            <a:avLst>
              <a:gd name="adj" fmla="val 10526"/>
            </a:avLst>
          </a:prstGeom>
          <a:solidFill>
            <a:srgbClr val="E51B0B"/>
          </a:solidFill>
          <a:ln w="12700">
            <a:solidFill>
              <a:srgbClr val="E51B0B">
                <a:alpha val="0"/>
              </a:srgbClr>
            </a:solidFill>
            <a:prstDash val="solid"/>
          </a:ln>
        </p:spPr>
      </p:sp>
      <p:sp>
        <p:nvSpPr>
          <p:cNvPr id="16" name="Text 14"/>
          <p:cNvSpPr/>
          <p:nvPr/>
        </p:nvSpPr>
        <p:spPr>
          <a:xfrm>
            <a:off x="8631936" y="3712464"/>
            <a:ext cx="2871216" cy="274320"/>
          </a:xfrm>
          <a:prstGeom prst="rect">
            <a:avLst/>
          </a:prstGeom>
          <a:noFill/>
          <a:ln/>
        </p:spPr>
        <p:txBody>
          <a:bodyPr wrap="square" lIns="0" tIns="0" rIns="0" bIns="0" rtlCol="0" anchor="ctr"/>
          <a:lstStyle/>
          <a:p>
            <a:pPr indent="0" marL="0">
              <a:buNone/>
            </a:pPr>
            <a:r>
              <a:rPr lang="ja-JP" altLang="en-US" sz="1900" b="1" dirty="0">
                <a:solidFill>
                  <a:srgbClr val="FFFFFF"/>
                </a:solidFill>
                <a:latin typeface="Arial" pitchFamily="34" charset="0"/>
                <a:ea typeface="Arial" pitchFamily="34" charset="-122"/>
                <a:cs typeface="Arial" pitchFamily="34" charset="-120"/>
              </a:rPr>
              <a:t>Microsoft Fabric</a:t>
            </a:r>
            <a:endParaRPr lang="ja-JP" sz="1900" dirty="0"/>
          </a:p>
        </p:txBody>
      </p:sp>
      <p:sp>
        <p:nvSpPr>
          <p:cNvPr id="17" name="Text 15"/>
          <p:cNvSpPr/>
          <p:nvPr/>
        </p:nvSpPr>
        <p:spPr>
          <a:xfrm>
            <a:off x="8631936" y="4023360"/>
            <a:ext cx="2871216" cy="182880"/>
          </a:xfrm>
          <a:prstGeom prst="rect">
            <a:avLst/>
          </a:prstGeom>
          <a:noFill/>
          <a:ln/>
        </p:spPr>
        <p:txBody>
          <a:bodyPr wrap="square" lIns="0" tIns="0" rIns="0" bIns="0" rtlCol="0" anchor="ctr"/>
          <a:lstStyle/>
          <a:p>
            <a:pPr indent="0" marL="0">
              <a:buNone/>
            </a:pPr>
            <a:r>
              <a:rPr lang="ja-JP" altLang="en-US" sz="1130" dirty="0">
                <a:solidFill>
                  <a:srgbClr val="FFFFFF"/>
                </a:solidFill>
                <a:latin typeface="Noto Sans CJK JP" pitchFamily="34" charset="0"/>
                <a:ea typeface="Noto Sans CJK JP" pitchFamily="34" charset="-122"/>
                <a:cs typeface="Noto Sans CJK JP" pitchFamily="34" charset="-120"/>
              </a:rPr>
              <a:t>加工・共通化・出力管理</a:t>
            </a:r>
            <a:endParaRPr lang="ja-JP" sz="1130" dirty="0"/>
          </a:p>
        </p:txBody>
      </p:sp>
      <p:sp>
        <p:nvSpPr>
          <p:cNvPr id="18" name="Shape 16"/>
          <p:cNvSpPr/>
          <p:nvPr/>
        </p:nvSpPr>
        <p:spPr>
          <a:xfrm>
            <a:off x="10076688" y="4370832"/>
            <a:ext cx="0" cy="210312"/>
          </a:xfrm>
          <a:prstGeom prst="line">
            <a:avLst/>
          </a:prstGeom>
          <a:noFill/>
          <a:ln w="19050">
            <a:solidFill>
              <a:srgbClr val="E51B0B"/>
            </a:solidFill>
            <a:prstDash val="solid"/>
            <a:headEnd type="none"/>
            <a:tailEnd type="triangle"/>
          </a:ln>
        </p:spPr>
      </p:sp>
      <p:sp>
        <p:nvSpPr>
          <p:cNvPr id="19" name="Shape 17"/>
          <p:cNvSpPr/>
          <p:nvPr/>
        </p:nvSpPr>
        <p:spPr>
          <a:xfrm>
            <a:off x="8458200" y="4636008"/>
            <a:ext cx="3227832" cy="694944"/>
          </a:xfrm>
          <a:prstGeom prst="rect">
            <a:avLst>
              <a:gd name="adj" fmla="val 10526"/>
            </a:avLst>
          </a:prstGeom>
          <a:solidFill>
            <a:srgbClr val="FFFFFF"/>
          </a:solidFill>
          <a:ln w="12700">
            <a:solidFill>
              <a:srgbClr val="FFFFFF">
                <a:alpha val="0"/>
              </a:srgbClr>
            </a:solidFill>
            <a:prstDash val="solid"/>
          </a:ln>
        </p:spPr>
      </p:sp>
      <p:sp>
        <p:nvSpPr>
          <p:cNvPr id="20" name="Text 18"/>
          <p:cNvSpPr/>
          <p:nvPr/>
        </p:nvSpPr>
        <p:spPr>
          <a:xfrm>
            <a:off x="8631936" y="4727448"/>
            <a:ext cx="2871216" cy="274320"/>
          </a:xfrm>
          <a:prstGeom prst="rect">
            <a:avLst/>
          </a:prstGeom>
          <a:noFill/>
          <a:ln/>
        </p:spPr>
        <p:txBody>
          <a:bodyPr wrap="square" lIns="0" tIns="0" rIns="0" bIns="0" rtlCol="0" anchor="ctr"/>
          <a:lstStyle/>
          <a:p>
            <a:pPr indent="0" marL="0">
              <a:buNone/>
            </a:pPr>
            <a:r>
              <a:rPr lang="ja-JP" altLang="en-US" sz="2000" b="1" dirty="0">
                <a:solidFill>
                  <a:srgbClr val="25282E"/>
                </a:solidFill>
                <a:latin typeface="Arial" pitchFamily="34" charset="0"/>
                <a:ea typeface="Arial" pitchFamily="34" charset="-122"/>
                <a:cs typeface="Arial" pitchFamily="34" charset="-120"/>
              </a:rPr>
              <a:t>Dataverse</a:t>
            </a:r>
            <a:endParaRPr lang="ja-JP" sz="2000" dirty="0"/>
          </a:p>
        </p:txBody>
      </p:sp>
      <p:sp>
        <p:nvSpPr>
          <p:cNvPr id="21" name="Text 19"/>
          <p:cNvSpPr/>
          <p:nvPr/>
        </p:nvSpPr>
        <p:spPr>
          <a:xfrm>
            <a:off x="8631936" y="5038344"/>
            <a:ext cx="2871216" cy="182880"/>
          </a:xfrm>
          <a:prstGeom prst="rect">
            <a:avLst/>
          </a:prstGeom>
          <a:noFill/>
          <a:ln/>
        </p:spPr>
        <p:txBody>
          <a:bodyPr wrap="square" lIns="0" tIns="0" rIns="0" bIns="0" rtlCol="0" anchor="ctr"/>
          <a:lstStyle/>
          <a:p>
            <a:pP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5テーブルを連携</a:t>
            </a:r>
            <a:endParaRPr lang="ja-JP" sz="1130" dirty="0"/>
          </a:p>
        </p:txBody>
      </p:sp>
      <p:sp>
        <p:nvSpPr>
          <p:cNvPr id="22" name="Text 20"/>
          <p:cNvSpPr/>
          <p:nvPr/>
        </p:nvSpPr>
        <p:spPr>
          <a:xfrm>
            <a:off x="8467344" y="5897880"/>
            <a:ext cx="3282696" cy="448056"/>
          </a:xfrm>
          <a:prstGeom prst="rect">
            <a:avLst/>
          </a:prstGeom>
          <a:noFill/>
          <a:ln/>
        </p:spPr>
        <p:txBody>
          <a:bodyPr wrap="square" lIns="0" tIns="0" rIns="0" bIns="0" rtlCol="0" anchor="ctr"/>
          <a:lstStyle/>
          <a:p>
            <a:pPr indent="0" marL="0">
              <a:buNone/>
            </a:pPr>
            <a:r>
              <a:rPr lang="ja-JP" altLang="en-US" sz="1060" dirty="0">
                <a:solidFill>
                  <a:srgbClr val="60656D"/>
                </a:solidFill>
                <a:latin typeface="Arial" pitchFamily="34" charset="0"/>
                <a:ea typeface="Arial" pitchFamily="34" charset="-122"/>
                <a:cs typeface="Arial" pitchFamily="34" charset="-120"/>
              </a:rPr>
              <a:t>Product / Contact / Account</a:t>
            </a:r>
            <a:endParaRPr lang="ja-JP" sz="1060" dirty="0"/>
          </a:p>
          <a:p>
            <a:pPr indent="0" marL="0">
              <a:buNone/>
            </a:pPr>
            <a:r>
              <a:rPr lang="ja-JP" altLang="en-US" sz="1060" dirty="0">
                <a:solidFill>
                  <a:srgbClr val="60656D"/>
                </a:solidFill>
                <a:latin typeface="Arial" pitchFamily="34" charset="0"/>
                <a:ea typeface="Arial" pitchFamily="34" charset="-122"/>
                <a:cs typeface="Arial" pitchFamily="34" charset="-120"/>
              </a:rPr>
              <a:t>AccountContact / SalesRepHospital</a:t>
            </a:r>
            <a:endParaRPr lang="ja-JP" sz="10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アジェンダ</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対象範囲・責任分担・スケジュール・着手条件を、関係者でそろえる</a:t>
            </a:r>
            <a:endParaRPr lang="ja-JP" sz="1340" dirty="0"/>
          </a:p>
        </p:txBody>
      </p:sp>
      <p:sp>
        <p:nvSpPr>
          <p:cNvPr id="6" name="Text 4"/>
          <p:cNvSpPr/>
          <p:nvPr/>
        </p:nvSpPr>
        <p:spPr>
          <a:xfrm>
            <a:off x="530352" y="1554480"/>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01</a:t>
            </a:r>
            <a:endParaRPr lang="ja-JP" sz="1600" dirty="0"/>
          </a:p>
        </p:txBody>
      </p:sp>
      <p:sp>
        <p:nvSpPr>
          <p:cNvPr id="7" name="Text 5"/>
          <p:cNvSpPr/>
          <p:nvPr/>
        </p:nvSpPr>
        <p:spPr>
          <a:xfrm>
            <a:off x="1106424" y="1554480"/>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プロジェクト概要</a:t>
            </a:r>
            <a:endParaRPr lang="ja-JP" sz="1900" dirty="0"/>
          </a:p>
        </p:txBody>
      </p:sp>
      <p:sp>
        <p:nvSpPr>
          <p:cNvPr id="8" name="Text 6"/>
          <p:cNvSpPr/>
          <p:nvPr/>
        </p:nvSpPr>
        <p:spPr>
          <a:xfrm>
            <a:off x="1106424" y="1883664"/>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背景・目的・期待する成果</a:t>
            </a:r>
            <a:endParaRPr lang="ja-JP" sz="1160" dirty="0"/>
          </a:p>
        </p:txBody>
      </p:sp>
      <p:sp>
        <p:nvSpPr>
          <p:cNvPr id="9" name="Text 7"/>
          <p:cNvSpPr/>
          <p:nvPr/>
        </p:nvSpPr>
        <p:spPr>
          <a:xfrm>
            <a:off x="530352" y="2112264"/>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02</a:t>
            </a:r>
            <a:endParaRPr lang="ja-JP" sz="1600" dirty="0"/>
          </a:p>
        </p:txBody>
      </p:sp>
      <p:sp>
        <p:nvSpPr>
          <p:cNvPr id="10" name="Text 8"/>
          <p:cNvSpPr/>
          <p:nvPr/>
        </p:nvSpPr>
        <p:spPr>
          <a:xfrm>
            <a:off x="1106424" y="2112264"/>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スコープ</a:t>
            </a:r>
            <a:endParaRPr lang="ja-JP" sz="1900" dirty="0"/>
          </a:p>
        </p:txBody>
      </p:sp>
      <p:sp>
        <p:nvSpPr>
          <p:cNvPr id="11" name="Text 9"/>
          <p:cNvSpPr/>
          <p:nvPr/>
        </p:nvSpPr>
        <p:spPr>
          <a:xfrm>
            <a:off x="1106424" y="2441448"/>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対象5テーブルと今回の開発範囲</a:t>
            </a:r>
            <a:endParaRPr lang="ja-JP" sz="1160" dirty="0"/>
          </a:p>
        </p:txBody>
      </p:sp>
      <p:sp>
        <p:nvSpPr>
          <p:cNvPr id="12" name="Text 10"/>
          <p:cNvSpPr/>
          <p:nvPr/>
        </p:nvSpPr>
        <p:spPr>
          <a:xfrm>
            <a:off x="530352" y="2670048"/>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03</a:t>
            </a:r>
            <a:endParaRPr lang="ja-JP" sz="1600" dirty="0"/>
          </a:p>
        </p:txBody>
      </p:sp>
      <p:sp>
        <p:nvSpPr>
          <p:cNvPr id="13" name="Text 11"/>
          <p:cNvSpPr/>
          <p:nvPr/>
        </p:nvSpPr>
        <p:spPr>
          <a:xfrm>
            <a:off x="1106424" y="2670048"/>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プロジェクト体制</a:t>
            </a:r>
            <a:endParaRPr lang="ja-JP" sz="1900" dirty="0"/>
          </a:p>
        </p:txBody>
      </p:sp>
      <p:sp>
        <p:nvSpPr>
          <p:cNvPr id="14" name="Text 12"/>
          <p:cNvSpPr/>
          <p:nvPr/>
        </p:nvSpPr>
        <p:spPr>
          <a:xfrm>
            <a:off x="1106424" y="2999232"/>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業務・開発・基盤・運用の役割</a:t>
            </a:r>
            <a:endParaRPr lang="ja-JP" sz="1160" dirty="0"/>
          </a:p>
        </p:txBody>
      </p:sp>
      <p:sp>
        <p:nvSpPr>
          <p:cNvPr id="15" name="Text 13"/>
          <p:cNvSpPr/>
          <p:nvPr/>
        </p:nvSpPr>
        <p:spPr>
          <a:xfrm>
            <a:off x="530352" y="3227832"/>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04</a:t>
            </a:r>
            <a:endParaRPr lang="ja-JP" sz="1600" dirty="0"/>
          </a:p>
        </p:txBody>
      </p:sp>
      <p:sp>
        <p:nvSpPr>
          <p:cNvPr id="16" name="Text 14"/>
          <p:cNvSpPr/>
          <p:nvPr/>
        </p:nvSpPr>
        <p:spPr>
          <a:xfrm>
            <a:off x="1106424" y="3227832"/>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スケジュール</a:t>
            </a:r>
            <a:endParaRPr lang="ja-JP" sz="1900" dirty="0"/>
          </a:p>
        </p:txBody>
      </p:sp>
      <p:sp>
        <p:nvSpPr>
          <p:cNvPr id="17" name="Text 15"/>
          <p:cNvSpPr/>
          <p:nvPr/>
        </p:nvSpPr>
        <p:spPr>
          <a:xfrm>
            <a:off x="1106424" y="3557016"/>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WBSに基づく工程・主要判定点</a:t>
            </a:r>
            <a:endParaRPr lang="ja-JP" sz="1160" dirty="0"/>
          </a:p>
        </p:txBody>
      </p:sp>
      <p:sp>
        <p:nvSpPr>
          <p:cNvPr id="18" name="Text 16"/>
          <p:cNvSpPr/>
          <p:nvPr/>
        </p:nvSpPr>
        <p:spPr>
          <a:xfrm>
            <a:off x="530352" y="3785616"/>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05</a:t>
            </a:r>
            <a:endParaRPr lang="ja-JP" sz="1600" dirty="0"/>
          </a:p>
        </p:txBody>
      </p:sp>
      <p:sp>
        <p:nvSpPr>
          <p:cNvPr id="19" name="Text 17"/>
          <p:cNvSpPr/>
          <p:nvPr/>
        </p:nvSpPr>
        <p:spPr>
          <a:xfrm>
            <a:off x="1106424" y="3785616"/>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アーキテクチャと開発方針</a:t>
            </a:r>
            <a:endParaRPr lang="ja-JP" sz="1900" dirty="0"/>
          </a:p>
        </p:txBody>
      </p:sp>
      <p:sp>
        <p:nvSpPr>
          <p:cNvPr id="20" name="Text 18"/>
          <p:cNvSpPr/>
          <p:nvPr/>
        </p:nvSpPr>
        <p:spPr>
          <a:xfrm>
            <a:off x="1106424" y="4114800"/>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構成案・成果物・先行検証</a:t>
            </a:r>
            <a:endParaRPr lang="ja-JP" sz="1160" dirty="0"/>
          </a:p>
        </p:txBody>
      </p:sp>
      <p:sp>
        <p:nvSpPr>
          <p:cNvPr id="21" name="Text 19"/>
          <p:cNvSpPr/>
          <p:nvPr/>
        </p:nvSpPr>
        <p:spPr>
          <a:xfrm>
            <a:off x="530352" y="4343400"/>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06</a:t>
            </a:r>
            <a:endParaRPr lang="ja-JP" sz="1600" dirty="0"/>
          </a:p>
        </p:txBody>
      </p:sp>
      <p:sp>
        <p:nvSpPr>
          <p:cNvPr id="22" name="Text 20"/>
          <p:cNvSpPr/>
          <p:nvPr/>
        </p:nvSpPr>
        <p:spPr>
          <a:xfrm>
            <a:off x="1106424" y="4343400"/>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品質・リスク・依存関係</a:t>
            </a:r>
            <a:endParaRPr lang="ja-JP" sz="1900" dirty="0"/>
          </a:p>
        </p:txBody>
      </p:sp>
      <p:sp>
        <p:nvSpPr>
          <p:cNvPr id="23" name="Text 21"/>
          <p:cNvSpPr/>
          <p:nvPr/>
        </p:nvSpPr>
        <p:spPr>
          <a:xfrm>
            <a:off x="1106424" y="4672584"/>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受入基準・権限・未確定事項</a:t>
            </a:r>
            <a:endParaRPr lang="ja-JP" sz="1160" dirty="0"/>
          </a:p>
        </p:txBody>
      </p:sp>
      <p:sp>
        <p:nvSpPr>
          <p:cNvPr id="24" name="Text 22"/>
          <p:cNvSpPr/>
          <p:nvPr/>
        </p:nvSpPr>
        <p:spPr>
          <a:xfrm>
            <a:off x="530352" y="4901184"/>
            <a:ext cx="438912" cy="329184"/>
          </a:xfrm>
          <a:prstGeom prst="rect">
            <a:avLst/>
          </a:prstGeom>
          <a:noFill/>
          <a:ln/>
        </p:spPr>
        <p:txBody>
          <a:bodyPr wrap="square" lIns="0" tIns="0" rIns="0" bIns="0" rtlCol="0" anchor="ctr"/>
          <a:lstStyle/>
          <a:p>
            <a:pPr indent="0" marL="0">
              <a:buNone/>
            </a:pPr>
            <a:r>
              <a:rPr lang="ja-JP" altLang="en-US" sz="1600" b="1" dirty="0">
                <a:solidFill>
                  <a:srgbClr val="E51B0B"/>
                </a:solidFill>
                <a:latin typeface="Arial" pitchFamily="34" charset="0"/>
                <a:ea typeface="Arial" pitchFamily="34" charset="-122"/>
                <a:cs typeface="Arial" pitchFamily="34" charset="-120"/>
              </a:rPr>
              <a:t>07</a:t>
            </a:r>
            <a:endParaRPr lang="ja-JP" sz="1600" dirty="0"/>
          </a:p>
        </p:txBody>
      </p:sp>
      <p:sp>
        <p:nvSpPr>
          <p:cNvPr id="25" name="Text 23"/>
          <p:cNvSpPr/>
          <p:nvPr/>
        </p:nvSpPr>
        <p:spPr>
          <a:xfrm>
            <a:off x="1106424" y="4901184"/>
            <a:ext cx="4892040" cy="320040"/>
          </a:xfrm>
          <a:prstGeom prst="rect">
            <a:avLst/>
          </a:prstGeom>
          <a:noFill/>
          <a:ln/>
        </p:spPr>
        <p:txBody>
          <a:bodyPr wrap="square" lIns="0" tIns="0" rIns="0" bIns="0" rtlCol="0" anchor="ctr"/>
          <a:lstStyle/>
          <a:p>
            <a:pPr indent="0" marL="0">
              <a:buNone/>
            </a:pPr>
            <a:r>
              <a:rPr lang="ja-JP" altLang="en-US" sz="1900" b="1" dirty="0">
                <a:solidFill>
                  <a:srgbClr val="25282E"/>
                </a:solidFill>
                <a:latin typeface="Noto Sans CJK JP" pitchFamily="34" charset="0"/>
                <a:ea typeface="Noto Sans CJK JP" pitchFamily="34" charset="-122"/>
                <a:cs typeface="Noto Sans CJK JP" pitchFamily="34" charset="-120"/>
              </a:rPr>
              <a:t>次のアクション</a:t>
            </a:r>
            <a:endParaRPr lang="ja-JP" sz="1900" dirty="0"/>
          </a:p>
        </p:txBody>
      </p:sp>
      <p:sp>
        <p:nvSpPr>
          <p:cNvPr id="26" name="Text 24"/>
          <p:cNvSpPr/>
          <p:nvPr/>
        </p:nvSpPr>
        <p:spPr>
          <a:xfrm>
            <a:off x="1106424" y="5230368"/>
            <a:ext cx="5321808" cy="210312"/>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担当・確認事項・合意の進め方</a:t>
            </a:r>
            <a:endParaRPr lang="ja-JP" sz="1160" dirty="0"/>
          </a:p>
        </p:txBody>
      </p:sp>
      <p:sp>
        <p:nvSpPr>
          <p:cNvPr id="27" name="Shape 25"/>
          <p:cNvSpPr/>
          <p:nvPr/>
        </p:nvSpPr>
        <p:spPr>
          <a:xfrm>
            <a:off x="7315200" y="1554480"/>
            <a:ext cx="4389120" cy="4251960"/>
          </a:xfrm>
          <a:prstGeom prst="rect">
            <a:avLst>
              <a:gd name="adj" fmla="val 1720"/>
            </a:avLst>
          </a:prstGeom>
          <a:solidFill>
            <a:srgbClr val="FCE7E4"/>
          </a:solidFill>
          <a:ln w="12700">
            <a:solidFill>
              <a:srgbClr val="FCE7E4">
                <a:alpha val="0"/>
              </a:srgbClr>
            </a:solidFill>
            <a:prstDash val="solid"/>
          </a:ln>
        </p:spPr>
      </p:sp>
      <p:sp>
        <p:nvSpPr>
          <p:cNvPr id="28" name="Text 26"/>
          <p:cNvSpPr/>
          <p:nvPr/>
        </p:nvSpPr>
        <p:spPr>
          <a:xfrm>
            <a:off x="7571232" y="1828800"/>
            <a:ext cx="3840480" cy="475488"/>
          </a:xfrm>
          <a:prstGeom prst="rect">
            <a:avLst/>
          </a:prstGeom>
          <a:noFill/>
          <a:ln/>
        </p:spPr>
        <p:txBody>
          <a:bodyPr wrap="square" lIns="0" tIns="0" rIns="0" bIns="0" rtlCol="0" anchor="ctr"/>
          <a:lstStyle/>
          <a:p>
            <a:pPr indent="0" marL="0">
              <a:buNone/>
            </a:pPr>
            <a:r>
              <a:rPr lang="ja-JP" altLang="en-US" sz="2300" b="1" dirty="0">
                <a:solidFill>
                  <a:srgbClr val="E51B0B"/>
                </a:solidFill>
                <a:latin typeface="Noto Sans CJK JP" pitchFamily="34" charset="0"/>
                <a:ea typeface="Noto Sans CJK JP" pitchFamily="34" charset="-122"/>
                <a:cs typeface="Noto Sans CJK JP" pitchFamily="34" charset="-120"/>
              </a:rPr>
              <a:t>本日の合意ポイント</a:t>
            </a:r>
            <a:endParaRPr lang="ja-JP" sz="2300" dirty="0"/>
          </a:p>
        </p:txBody>
      </p:sp>
      <p:sp>
        <p:nvSpPr>
          <p:cNvPr id="29" name="Shape 27"/>
          <p:cNvSpPr/>
          <p:nvPr/>
        </p:nvSpPr>
        <p:spPr>
          <a:xfrm>
            <a:off x="7589520" y="2606040"/>
            <a:ext cx="914400" cy="283464"/>
          </a:xfrm>
          <a:prstGeom prst="rect">
            <a:avLst>
              <a:gd name="adj" fmla="val 25806"/>
            </a:avLst>
          </a:prstGeom>
          <a:solidFill>
            <a:srgbClr val="E51B0B"/>
          </a:solidFill>
          <a:ln w="12700">
            <a:solidFill>
              <a:srgbClr val="E51B0B">
                <a:alpha val="0"/>
              </a:srgbClr>
            </a:solidFill>
            <a:prstDash val="solid"/>
          </a:ln>
        </p:spPr>
      </p:sp>
      <p:sp>
        <p:nvSpPr>
          <p:cNvPr id="30" name="Text 28"/>
          <p:cNvSpPr/>
          <p:nvPr/>
        </p:nvSpPr>
        <p:spPr>
          <a:xfrm>
            <a:off x="7662672" y="2615184"/>
            <a:ext cx="768096" cy="265176"/>
          </a:xfrm>
          <a:prstGeom prst="rect">
            <a:avLst/>
          </a:prstGeom>
          <a:noFill/>
          <a:ln/>
        </p:spPr>
        <p:txBody>
          <a:bodyPr wrap="square" lIns="0" tIns="0" rIns="0" bIns="0" rtlCol="0" anchor="ctr"/>
          <a:lstStyle/>
          <a:p>
            <a:pPr algn="ctr" indent="0" marL="0">
              <a:buNone/>
            </a:pPr>
            <a:r>
              <a:rPr lang="ja-JP" altLang="en-US" sz="1200" b="1" dirty="0">
                <a:solidFill>
                  <a:srgbClr val="FFFFFF"/>
                </a:solidFill>
                <a:latin typeface="Noto Sans CJK JP" pitchFamily="34" charset="0"/>
                <a:ea typeface="Noto Sans CJK JP" pitchFamily="34" charset="-122"/>
                <a:cs typeface="Noto Sans CJK JP" pitchFamily="34" charset="-120"/>
              </a:rPr>
              <a:t>対象</a:t>
            </a:r>
            <a:endParaRPr lang="ja-JP" sz="1200" dirty="0"/>
          </a:p>
        </p:txBody>
      </p:sp>
      <p:sp>
        <p:nvSpPr>
          <p:cNvPr id="31" name="Text 29"/>
          <p:cNvSpPr/>
          <p:nvPr/>
        </p:nvSpPr>
        <p:spPr>
          <a:xfrm>
            <a:off x="8668512" y="2592324"/>
            <a:ext cx="2816352" cy="384048"/>
          </a:xfrm>
          <a:prstGeom prst="rect">
            <a:avLst/>
          </a:prstGeom>
          <a:noFill/>
          <a:ln/>
        </p:spPr>
        <p:txBody>
          <a:bodyPr wrap="square" lIns="0" tIns="0" rIns="0" bIns="0" rtlCol="0" anchor="ctr"/>
          <a:lstStyle/>
          <a:p>
            <a:pPr indent="0" marL="0">
              <a:buNone/>
            </a:pPr>
            <a:r>
              <a:rPr lang="ja-JP" altLang="en-US" sz="1600" dirty="0">
                <a:solidFill>
                  <a:srgbClr val="25282E"/>
                </a:solidFill>
                <a:latin typeface="Noto Sans CJK JP" pitchFamily="34" charset="0"/>
                <a:ea typeface="Noto Sans CJK JP" pitchFamily="34" charset="-122"/>
                <a:cs typeface="Noto Sans CJK JP" pitchFamily="34" charset="-120"/>
              </a:rPr>
              <a:t>5テーブル・除外範囲</a:t>
            </a:r>
            <a:endParaRPr lang="ja-JP" sz="1600" dirty="0"/>
          </a:p>
        </p:txBody>
      </p:sp>
      <p:sp>
        <p:nvSpPr>
          <p:cNvPr id="32" name="Shape 30"/>
          <p:cNvSpPr/>
          <p:nvPr/>
        </p:nvSpPr>
        <p:spPr>
          <a:xfrm>
            <a:off x="7589520" y="3291840"/>
            <a:ext cx="914400" cy="283464"/>
          </a:xfrm>
          <a:prstGeom prst="rect">
            <a:avLst>
              <a:gd name="adj" fmla="val 25806"/>
            </a:avLst>
          </a:prstGeom>
          <a:solidFill>
            <a:srgbClr val="E51B0B"/>
          </a:solidFill>
          <a:ln w="12700">
            <a:solidFill>
              <a:srgbClr val="E51B0B">
                <a:alpha val="0"/>
              </a:srgbClr>
            </a:solidFill>
            <a:prstDash val="solid"/>
          </a:ln>
        </p:spPr>
      </p:sp>
      <p:sp>
        <p:nvSpPr>
          <p:cNvPr id="33" name="Text 31"/>
          <p:cNvSpPr/>
          <p:nvPr/>
        </p:nvSpPr>
        <p:spPr>
          <a:xfrm>
            <a:off x="7662672" y="3300984"/>
            <a:ext cx="768096" cy="265176"/>
          </a:xfrm>
          <a:prstGeom prst="rect">
            <a:avLst/>
          </a:prstGeom>
          <a:noFill/>
          <a:ln/>
        </p:spPr>
        <p:txBody>
          <a:bodyPr wrap="square" lIns="0" tIns="0" rIns="0" bIns="0" rtlCol="0" anchor="ctr"/>
          <a:lstStyle/>
          <a:p>
            <a:pPr algn="ctr" indent="0" marL="0">
              <a:buNone/>
            </a:pPr>
            <a:r>
              <a:rPr lang="ja-JP" altLang="en-US" sz="1200" b="1" dirty="0">
                <a:solidFill>
                  <a:srgbClr val="FFFFFF"/>
                </a:solidFill>
                <a:latin typeface="Noto Sans CJK JP" pitchFamily="34" charset="0"/>
                <a:ea typeface="Noto Sans CJK JP" pitchFamily="34" charset="-122"/>
                <a:cs typeface="Noto Sans CJK JP" pitchFamily="34" charset="-120"/>
              </a:rPr>
              <a:t>体制</a:t>
            </a:r>
            <a:endParaRPr lang="ja-JP" sz="1200" dirty="0"/>
          </a:p>
        </p:txBody>
      </p:sp>
      <p:sp>
        <p:nvSpPr>
          <p:cNvPr id="34" name="Text 32"/>
          <p:cNvSpPr/>
          <p:nvPr/>
        </p:nvSpPr>
        <p:spPr>
          <a:xfrm>
            <a:off x="8668512" y="3278124"/>
            <a:ext cx="2816352" cy="384048"/>
          </a:xfrm>
          <a:prstGeom prst="rect">
            <a:avLst/>
          </a:prstGeom>
          <a:noFill/>
          <a:ln/>
        </p:spPr>
        <p:txBody>
          <a:bodyPr wrap="square" lIns="0" tIns="0" rIns="0" bIns="0" rtlCol="0" anchor="ctr"/>
          <a:lstStyle/>
          <a:p>
            <a:pPr indent="0" marL="0">
              <a:buNone/>
            </a:pPr>
            <a:r>
              <a:rPr lang="ja-JP" altLang="en-US" sz="1600" dirty="0">
                <a:solidFill>
                  <a:srgbClr val="25282E"/>
                </a:solidFill>
                <a:latin typeface="Noto Sans CJK JP" pitchFamily="34" charset="0"/>
                <a:ea typeface="Noto Sans CJK JP" pitchFamily="34" charset="-122"/>
                <a:cs typeface="Noto Sans CJK JP" pitchFamily="34" charset="-120"/>
              </a:rPr>
              <a:t>責任者・承認者・要員</a:t>
            </a:r>
            <a:endParaRPr lang="ja-JP" sz="1600" dirty="0"/>
          </a:p>
        </p:txBody>
      </p:sp>
      <p:sp>
        <p:nvSpPr>
          <p:cNvPr id="35" name="Shape 33"/>
          <p:cNvSpPr/>
          <p:nvPr/>
        </p:nvSpPr>
        <p:spPr>
          <a:xfrm>
            <a:off x="7589520" y="3977640"/>
            <a:ext cx="914400" cy="283464"/>
          </a:xfrm>
          <a:prstGeom prst="rect">
            <a:avLst>
              <a:gd name="adj" fmla="val 25806"/>
            </a:avLst>
          </a:prstGeom>
          <a:solidFill>
            <a:srgbClr val="E51B0B"/>
          </a:solidFill>
          <a:ln w="12700">
            <a:solidFill>
              <a:srgbClr val="E51B0B">
                <a:alpha val="0"/>
              </a:srgbClr>
            </a:solidFill>
            <a:prstDash val="solid"/>
          </a:ln>
        </p:spPr>
      </p:sp>
      <p:sp>
        <p:nvSpPr>
          <p:cNvPr id="36" name="Text 34"/>
          <p:cNvSpPr/>
          <p:nvPr/>
        </p:nvSpPr>
        <p:spPr>
          <a:xfrm>
            <a:off x="7662672" y="3986784"/>
            <a:ext cx="768096" cy="265176"/>
          </a:xfrm>
          <a:prstGeom prst="rect">
            <a:avLst/>
          </a:prstGeom>
          <a:noFill/>
          <a:ln/>
        </p:spPr>
        <p:txBody>
          <a:bodyPr wrap="square" lIns="0" tIns="0" rIns="0" bIns="0" rtlCol="0" anchor="ctr"/>
          <a:lstStyle/>
          <a:p>
            <a:pPr algn="ctr" indent="0" marL="0">
              <a:buNone/>
            </a:pPr>
            <a:r>
              <a:rPr lang="ja-JP" altLang="en-US" sz="1200" b="1" dirty="0">
                <a:solidFill>
                  <a:srgbClr val="FFFFFF"/>
                </a:solidFill>
                <a:latin typeface="Noto Sans CJK JP" pitchFamily="34" charset="0"/>
                <a:ea typeface="Noto Sans CJK JP" pitchFamily="34" charset="-122"/>
                <a:cs typeface="Noto Sans CJK JP" pitchFamily="34" charset="-120"/>
              </a:rPr>
              <a:t>計画</a:t>
            </a:r>
            <a:endParaRPr lang="ja-JP" sz="1200" dirty="0"/>
          </a:p>
        </p:txBody>
      </p:sp>
      <p:sp>
        <p:nvSpPr>
          <p:cNvPr id="37" name="Text 35"/>
          <p:cNvSpPr/>
          <p:nvPr/>
        </p:nvSpPr>
        <p:spPr>
          <a:xfrm>
            <a:off x="8668512" y="3963924"/>
            <a:ext cx="2816352" cy="384048"/>
          </a:xfrm>
          <a:prstGeom prst="rect">
            <a:avLst/>
          </a:prstGeom>
          <a:noFill/>
          <a:ln/>
        </p:spPr>
        <p:txBody>
          <a:bodyPr wrap="square" lIns="0" tIns="0" rIns="0" bIns="0" rtlCol="0" anchor="ctr"/>
          <a:lstStyle/>
          <a:p>
            <a:pPr indent="0" marL="0">
              <a:buNone/>
            </a:pPr>
            <a:r>
              <a:rPr lang="ja-JP" altLang="en-US" sz="1600" dirty="0">
                <a:solidFill>
                  <a:srgbClr val="25282E"/>
                </a:solidFill>
                <a:latin typeface="Noto Sans CJK JP" pitchFamily="34" charset="0"/>
                <a:ea typeface="Noto Sans CJK JP" pitchFamily="34" charset="-122"/>
                <a:cs typeface="Noto Sans CJK JP" pitchFamily="34" charset="-120"/>
              </a:rPr>
              <a:t>正式日程・SLA・数量</a:t>
            </a:r>
            <a:endParaRPr lang="ja-JP" sz="1600" dirty="0"/>
          </a:p>
        </p:txBody>
      </p:sp>
      <p:sp>
        <p:nvSpPr>
          <p:cNvPr id="38" name="Shape 36"/>
          <p:cNvSpPr/>
          <p:nvPr/>
        </p:nvSpPr>
        <p:spPr>
          <a:xfrm>
            <a:off x="7589520" y="4663440"/>
            <a:ext cx="914400" cy="283464"/>
          </a:xfrm>
          <a:prstGeom prst="rect">
            <a:avLst>
              <a:gd name="adj" fmla="val 25806"/>
            </a:avLst>
          </a:prstGeom>
          <a:solidFill>
            <a:srgbClr val="E51B0B"/>
          </a:solidFill>
          <a:ln w="12700">
            <a:solidFill>
              <a:srgbClr val="E51B0B">
                <a:alpha val="0"/>
              </a:srgbClr>
            </a:solidFill>
            <a:prstDash val="solid"/>
          </a:ln>
        </p:spPr>
      </p:sp>
      <p:sp>
        <p:nvSpPr>
          <p:cNvPr id="39" name="Text 37"/>
          <p:cNvSpPr/>
          <p:nvPr/>
        </p:nvSpPr>
        <p:spPr>
          <a:xfrm>
            <a:off x="7662672" y="4672584"/>
            <a:ext cx="768096" cy="265176"/>
          </a:xfrm>
          <a:prstGeom prst="rect">
            <a:avLst/>
          </a:prstGeom>
          <a:noFill/>
          <a:ln/>
        </p:spPr>
        <p:txBody>
          <a:bodyPr wrap="square" lIns="0" tIns="0" rIns="0" bIns="0" rtlCol="0" anchor="ctr"/>
          <a:lstStyle/>
          <a:p>
            <a:pPr algn="ctr" indent="0" marL="0">
              <a:buNone/>
            </a:pPr>
            <a:r>
              <a:rPr lang="ja-JP" altLang="en-US" sz="1200" b="1" dirty="0">
                <a:solidFill>
                  <a:srgbClr val="FFFFFF"/>
                </a:solidFill>
                <a:latin typeface="Noto Sans CJK JP" pitchFamily="34" charset="0"/>
                <a:ea typeface="Noto Sans CJK JP" pitchFamily="34" charset="-122"/>
                <a:cs typeface="Noto Sans CJK JP" pitchFamily="34" charset="-120"/>
              </a:rPr>
              <a:t>着手条件</a:t>
            </a:r>
            <a:endParaRPr lang="ja-JP" sz="1200" dirty="0"/>
          </a:p>
        </p:txBody>
      </p:sp>
      <p:sp>
        <p:nvSpPr>
          <p:cNvPr id="40" name="Text 38"/>
          <p:cNvSpPr/>
          <p:nvPr/>
        </p:nvSpPr>
        <p:spPr>
          <a:xfrm>
            <a:off x="8668512" y="4649724"/>
            <a:ext cx="2816352" cy="384048"/>
          </a:xfrm>
          <a:prstGeom prst="rect">
            <a:avLst/>
          </a:prstGeom>
          <a:noFill/>
          <a:ln/>
        </p:spPr>
        <p:txBody>
          <a:bodyPr wrap="square" lIns="0" tIns="0" rIns="0" bIns="0" rtlCol="0" anchor="ctr"/>
          <a:lstStyle/>
          <a:p>
            <a:pPr indent="0" marL="0">
              <a:buNone/>
            </a:pPr>
            <a:r>
              <a:rPr lang="ja-JP" altLang="en-US" sz="1600" dirty="0">
                <a:solidFill>
                  <a:srgbClr val="25282E"/>
                </a:solidFill>
                <a:latin typeface="Noto Sans CJK JP" pitchFamily="34" charset="0"/>
                <a:ea typeface="Noto Sans CJK JP" pitchFamily="34" charset="-122"/>
                <a:cs typeface="Noto Sans CJK JP" pitchFamily="34" charset="-120"/>
              </a:rPr>
              <a:t>接続許可・先行3検証</a:t>
            </a:r>
            <a:endParaRPr lang="ja-JP" sz="1600" dirty="0"/>
          </a:p>
        </p:txBody>
      </p:sp>
      <p:sp>
        <p:nvSpPr>
          <p:cNvPr id="41" name="Shape 39"/>
          <p:cNvSpPr/>
          <p:nvPr/>
        </p:nvSpPr>
        <p:spPr>
          <a:xfrm>
            <a:off x="457200" y="6492240"/>
            <a:ext cx="11274552" cy="0"/>
          </a:xfrm>
          <a:prstGeom prst="line">
            <a:avLst/>
          </a:prstGeom>
          <a:noFill/>
          <a:ln w="8890">
            <a:solidFill>
              <a:srgbClr val="DFE1E4"/>
            </a:solidFill>
            <a:prstDash val="solid"/>
            <a:headEnd type="none"/>
            <a:tailEnd type="none"/>
          </a:ln>
        </p:spPr>
      </p:sp>
      <p:sp>
        <p:nvSpPr>
          <p:cNvPr id="42" name="Text 40"/>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43" name="Text 41"/>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44" name="Text 42"/>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02</a:t>
            </a:r>
            <a:endParaRPr lang="ja-JP" sz="1000" dirty="0"/>
          </a:p>
        </p:txBody>
      </p:sp>
      <p:sp>
        <p:nvSpPr>
          <p:cNvPr id="45" name="Text 43"/>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構成参考：Omni2Fabricキックオフ p.2／OneForce作業内容 No.1〜18</a:t>
            </a:r>
            <a:endParaRPr lang="ja-JP"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プロジェクト概要</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OneForce向けの加工・連携処理をFabricへ移し、品質と運用の再現性を高める</a:t>
            </a:r>
            <a:endParaRPr lang="ja-JP" sz="1340" dirty="0"/>
          </a:p>
        </p:txBody>
      </p:sp>
      <p:sp>
        <p:nvSpPr>
          <p:cNvPr id="6" name="Shape 4"/>
          <p:cNvSpPr/>
          <p:nvPr/>
        </p:nvSpPr>
        <p:spPr>
          <a:xfrm>
            <a:off x="475488" y="1508760"/>
            <a:ext cx="11228832" cy="950976"/>
          </a:xfrm>
          <a:prstGeom prst="rect">
            <a:avLst>
              <a:gd name="adj" fmla="val 7692"/>
            </a:avLst>
          </a:prstGeom>
          <a:solidFill>
            <a:srgbClr val="F4F4F3"/>
          </a:solidFill>
          <a:ln w="12700">
            <a:solidFill>
              <a:srgbClr val="F4F4F3">
                <a:alpha val="0"/>
              </a:srgbClr>
            </a:solidFill>
            <a:prstDash val="solid"/>
          </a:ln>
        </p:spPr>
      </p:sp>
      <p:sp>
        <p:nvSpPr>
          <p:cNvPr id="7" name="Text 5"/>
          <p:cNvSpPr/>
          <p:nvPr/>
        </p:nvSpPr>
        <p:spPr>
          <a:xfrm>
            <a:off x="685800" y="1682496"/>
            <a:ext cx="557784" cy="283464"/>
          </a:xfrm>
          <a:prstGeom prst="rect">
            <a:avLst/>
          </a:prstGeom>
          <a:noFill/>
          <a:ln/>
        </p:spPr>
        <p:txBody>
          <a:bodyPr wrap="square" lIns="0" tIns="0" rIns="0" bIns="0" rtlCol="0" anchor="ctr"/>
          <a:lstStyle/>
          <a:p>
            <a:pPr indent="0" marL="0">
              <a:buNone/>
            </a:pPr>
            <a:r>
              <a:rPr lang="ja-JP" altLang="en-US" sz="1300" b="1" dirty="0">
                <a:solidFill>
                  <a:srgbClr val="60656D"/>
                </a:solidFill>
                <a:latin typeface="Noto Sans CJK JP" pitchFamily="34" charset="0"/>
                <a:ea typeface="Noto Sans CJK JP" pitchFamily="34" charset="-122"/>
                <a:cs typeface="Noto Sans CJK JP" pitchFamily="34" charset="-120"/>
              </a:rPr>
              <a:t>現行</a:t>
            </a:r>
            <a:endParaRPr lang="ja-JP" sz="1300" dirty="0"/>
          </a:p>
        </p:txBody>
      </p:sp>
      <p:sp>
        <p:nvSpPr>
          <p:cNvPr id="8" name="Text 6"/>
          <p:cNvSpPr/>
          <p:nvPr/>
        </p:nvSpPr>
        <p:spPr>
          <a:xfrm>
            <a:off x="1344168" y="1645920"/>
            <a:ext cx="3950208" cy="365760"/>
          </a:xfrm>
          <a:prstGeom prst="rect">
            <a:avLst/>
          </a:prstGeom>
          <a:noFill/>
          <a:ln/>
        </p:spPr>
        <p:txBody>
          <a:bodyPr wrap="square" lIns="0" tIns="0" rIns="0" bIns="0" rtlCol="0" anchor="ctr"/>
          <a:lstStyle/>
          <a:p>
            <a:pPr indent="0" marL="0">
              <a:buNone/>
            </a:pPr>
            <a:r>
              <a:rPr lang="ja-JP" altLang="en-US" sz="2100" b="1" dirty="0">
                <a:solidFill>
                  <a:srgbClr val="25282E"/>
                </a:solidFill>
                <a:latin typeface="Noto Sans CJK JP" pitchFamily="34" charset="0"/>
                <a:ea typeface="Noto Sans CJK JP" pitchFamily="34" charset="-122"/>
                <a:cs typeface="Noto Sans CJK JP" pitchFamily="34" charset="-120"/>
              </a:rPr>
              <a:t>Dataiku：6テーブルを作成</a:t>
            </a:r>
            <a:endParaRPr lang="ja-JP" sz="2100" dirty="0"/>
          </a:p>
        </p:txBody>
      </p:sp>
      <p:sp>
        <p:nvSpPr>
          <p:cNvPr id="9" name="Shape 7"/>
          <p:cNvSpPr/>
          <p:nvPr/>
        </p:nvSpPr>
        <p:spPr>
          <a:xfrm>
            <a:off x="5577840" y="1938528"/>
            <a:ext cx="676656" cy="0"/>
          </a:xfrm>
          <a:prstGeom prst="line">
            <a:avLst/>
          </a:prstGeom>
          <a:noFill/>
          <a:ln w="25400">
            <a:solidFill>
              <a:srgbClr val="E51B0B"/>
            </a:solidFill>
            <a:prstDash val="solid"/>
            <a:headEnd type="none"/>
            <a:tailEnd type="triangle"/>
          </a:ln>
        </p:spPr>
      </p:sp>
      <p:sp>
        <p:nvSpPr>
          <p:cNvPr id="10" name="Text 8"/>
          <p:cNvSpPr/>
          <p:nvPr/>
        </p:nvSpPr>
        <p:spPr>
          <a:xfrm>
            <a:off x="6473952" y="1682496"/>
            <a:ext cx="594360" cy="283464"/>
          </a:xfrm>
          <a:prstGeom prst="rect">
            <a:avLst/>
          </a:prstGeom>
          <a:noFill/>
          <a:ln/>
        </p:spPr>
        <p:txBody>
          <a:bodyPr wrap="square" lIns="0" tIns="0" rIns="0" bIns="0" rtlCol="0" anchor="ctr"/>
          <a:lstStyle/>
          <a:p>
            <a:pPr indent="0" marL="0">
              <a:buNone/>
            </a:pPr>
            <a:r>
              <a:rPr lang="ja-JP" altLang="en-US" sz="1300" b="1" dirty="0">
                <a:solidFill>
                  <a:srgbClr val="E51B0B"/>
                </a:solidFill>
                <a:latin typeface="Noto Sans CJK JP" pitchFamily="34" charset="0"/>
                <a:ea typeface="Noto Sans CJK JP" pitchFamily="34" charset="-122"/>
                <a:cs typeface="Noto Sans CJK JP" pitchFamily="34" charset="-120"/>
              </a:rPr>
              <a:t>今回</a:t>
            </a:r>
            <a:endParaRPr lang="ja-JP" sz="1300" dirty="0"/>
          </a:p>
        </p:txBody>
      </p:sp>
      <p:sp>
        <p:nvSpPr>
          <p:cNvPr id="11" name="Text 9"/>
          <p:cNvSpPr/>
          <p:nvPr/>
        </p:nvSpPr>
        <p:spPr>
          <a:xfrm>
            <a:off x="7168896" y="1645920"/>
            <a:ext cx="4297680" cy="393192"/>
          </a:xfrm>
          <a:prstGeom prst="rect">
            <a:avLst/>
          </a:prstGeom>
          <a:noFill/>
          <a:ln/>
        </p:spPr>
        <p:txBody>
          <a:bodyPr wrap="square" lIns="0" tIns="0" rIns="0" bIns="0" rtlCol="0" anchor="ctr"/>
          <a:lstStyle/>
          <a:p>
            <a:pPr indent="0" marL="0">
              <a:buNone/>
            </a:pPr>
            <a:r>
              <a:rPr lang="ja-JP" altLang="en-US" sz="2000" b="1" dirty="0">
                <a:solidFill>
                  <a:srgbClr val="25282E"/>
                </a:solidFill>
                <a:latin typeface="Noto Sans CJK JP" pitchFamily="34" charset="0"/>
                <a:ea typeface="Noto Sans CJK JP" pitchFamily="34" charset="-122"/>
                <a:cs typeface="Noto Sans CJK JP" pitchFamily="34" charset="-120"/>
              </a:rPr>
              <a:t>Fabric：5テーブルを作成・連携</a:t>
            </a:r>
            <a:endParaRPr lang="ja-JP" sz="2000" dirty="0"/>
          </a:p>
        </p:txBody>
      </p:sp>
      <p:sp>
        <p:nvSpPr>
          <p:cNvPr id="12" name="Shape 10"/>
          <p:cNvSpPr/>
          <p:nvPr/>
        </p:nvSpPr>
        <p:spPr>
          <a:xfrm>
            <a:off x="475488" y="2724912"/>
            <a:ext cx="3593592" cy="3227832"/>
          </a:xfrm>
          <a:prstGeom prst="rect">
            <a:avLst>
              <a:gd name="adj" fmla="val 2266"/>
            </a:avLst>
          </a:prstGeom>
          <a:solidFill>
            <a:srgbClr val="F4F4F3"/>
          </a:solidFill>
          <a:ln w="12700">
            <a:solidFill>
              <a:srgbClr val="F4F4F3">
                <a:alpha val="0"/>
              </a:srgbClr>
            </a:solidFill>
            <a:prstDash val="solid"/>
          </a:ln>
        </p:spPr>
      </p:sp>
      <p:sp>
        <p:nvSpPr>
          <p:cNvPr id="13" name="Shape 11"/>
          <p:cNvSpPr/>
          <p:nvPr/>
        </p:nvSpPr>
        <p:spPr>
          <a:xfrm>
            <a:off x="475488" y="2724912"/>
            <a:ext cx="3593592" cy="411480"/>
          </a:xfrm>
          <a:prstGeom prst="rect">
            <a:avLst>
              <a:gd name="adj" fmla="val 17778"/>
            </a:avLst>
          </a:prstGeom>
          <a:solidFill>
            <a:srgbClr val="E51B0B"/>
          </a:solidFill>
          <a:ln w="12700">
            <a:solidFill>
              <a:srgbClr val="E51B0B">
                <a:alpha val="0"/>
              </a:srgbClr>
            </a:solidFill>
            <a:prstDash val="solid"/>
          </a:ln>
        </p:spPr>
      </p:sp>
      <p:sp>
        <p:nvSpPr>
          <p:cNvPr id="14" name="Text 12"/>
          <p:cNvSpPr/>
          <p:nvPr/>
        </p:nvSpPr>
        <p:spPr>
          <a:xfrm>
            <a:off x="621792" y="2743200"/>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目的</a:t>
            </a:r>
            <a:endParaRPr lang="ja-JP" sz="1700" dirty="0"/>
          </a:p>
        </p:txBody>
      </p:sp>
      <p:sp>
        <p:nvSpPr>
          <p:cNvPr id="15" name="Text 13"/>
          <p:cNvSpPr/>
          <p:nvPr/>
        </p:nvSpPr>
        <p:spPr>
          <a:xfrm>
            <a:off x="649224" y="3300984"/>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1. 加工処理を再構築</a:t>
            </a:r>
            <a:endParaRPr lang="ja-JP" sz="1650" dirty="0"/>
          </a:p>
        </p:txBody>
      </p:sp>
      <p:sp>
        <p:nvSpPr>
          <p:cNvPr id="16" name="Text 14"/>
          <p:cNvSpPr/>
          <p:nvPr/>
        </p:nvSpPr>
        <p:spPr>
          <a:xfrm>
            <a:off x="649224" y="3639312"/>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現行仕様を整理し、Fabricで</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必要な加工・出力を実装する。</a:t>
            </a:r>
            <a:endParaRPr lang="ja-JP" sz="1320" dirty="0"/>
          </a:p>
        </p:txBody>
      </p:sp>
      <p:sp>
        <p:nvSpPr>
          <p:cNvPr id="17" name="Text 15"/>
          <p:cNvSpPr/>
          <p:nvPr/>
        </p:nvSpPr>
        <p:spPr>
          <a:xfrm>
            <a:off x="649224" y="4114800"/>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2. 共通化と運用標準化</a:t>
            </a:r>
            <a:endParaRPr lang="ja-JP" sz="1650" dirty="0"/>
          </a:p>
        </p:txBody>
      </p:sp>
      <p:sp>
        <p:nvSpPr>
          <p:cNvPr id="18" name="Text 16"/>
          <p:cNvSpPr/>
          <p:nvPr/>
        </p:nvSpPr>
        <p:spPr>
          <a:xfrm>
            <a:off x="649224" y="4453128"/>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SQL Function・共通Notebookを</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整備し、変更箇所を集約する。</a:t>
            </a:r>
            <a:endParaRPr lang="ja-JP" sz="1320" dirty="0"/>
          </a:p>
        </p:txBody>
      </p:sp>
      <p:sp>
        <p:nvSpPr>
          <p:cNvPr id="19" name="Text 17"/>
          <p:cNvSpPr/>
          <p:nvPr/>
        </p:nvSpPr>
        <p:spPr>
          <a:xfrm>
            <a:off x="649224" y="4928616"/>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3. データ品質を確保</a:t>
            </a:r>
            <a:endParaRPr lang="ja-JP" sz="1650" dirty="0"/>
          </a:p>
        </p:txBody>
      </p:sp>
      <p:sp>
        <p:nvSpPr>
          <p:cNvPr id="20" name="Text 18"/>
          <p:cNvSpPr/>
          <p:nvPr/>
        </p:nvSpPr>
        <p:spPr>
          <a:xfrm>
            <a:off x="649224" y="5266944"/>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一致性・更新時刻・異常時処理を</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確認し、業務受入につなげる。</a:t>
            </a:r>
            <a:endParaRPr lang="ja-JP" sz="1320" dirty="0"/>
          </a:p>
        </p:txBody>
      </p:sp>
      <p:sp>
        <p:nvSpPr>
          <p:cNvPr id="21" name="Shape 19"/>
          <p:cNvSpPr/>
          <p:nvPr/>
        </p:nvSpPr>
        <p:spPr>
          <a:xfrm>
            <a:off x="4297680" y="2724912"/>
            <a:ext cx="3593592" cy="3227832"/>
          </a:xfrm>
          <a:prstGeom prst="rect">
            <a:avLst>
              <a:gd name="adj" fmla="val 2266"/>
            </a:avLst>
          </a:prstGeom>
          <a:solidFill>
            <a:srgbClr val="F4F4F3"/>
          </a:solidFill>
          <a:ln w="12700">
            <a:solidFill>
              <a:srgbClr val="F4F4F3">
                <a:alpha val="0"/>
              </a:srgbClr>
            </a:solidFill>
            <a:prstDash val="solid"/>
          </a:ln>
        </p:spPr>
      </p:sp>
      <p:sp>
        <p:nvSpPr>
          <p:cNvPr id="22" name="Shape 20"/>
          <p:cNvSpPr/>
          <p:nvPr/>
        </p:nvSpPr>
        <p:spPr>
          <a:xfrm>
            <a:off x="4297680" y="2724912"/>
            <a:ext cx="3593592" cy="411480"/>
          </a:xfrm>
          <a:prstGeom prst="rect">
            <a:avLst>
              <a:gd name="adj" fmla="val 17778"/>
            </a:avLst>
          </a:prstGeom>
          <a:solidFill>
            <a:srgbClr val="E51B0B"/>
          </a:solidFill>
          <a:ln w="12700">
            <a:solidFill>
              <a:srgbClr val="E51B0B">
                <a:alpha val="0"/>
              </a:srgbClr>
            </a:solidFill>
            <a:prstDash val="solid"/>
          </a:ln>
        </p:spPr>
      </p:sp>
      <p:sp>
        <p:nvSpPr>
          <p:cNvPr id="23" name="Text 21"/>
          <p:cNvSpPr/>
          <p:nvPr/>
        </p:nvSpPr>
        <p:spPr>
          <a:xfrm>
            <a:off x="4443984" y="2743200"/>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業務上の価値（狙い）</a:t>
            </a:r>
            <a:endParaRPr lang="ja-JP" sz="1700" dirty="0"/>
          </a:p>
        </p:txBody>
      </p:sp>
      <p:sp>
        <p:nvSpPr>
          <p:cNvPr id="24" name="Text 22"/>
          <p:cNvSpPr/>
          <p:nvPr/>
        </p:nvSpPr>
        <p:spPr>
          <a:xfrm>
            <a:off x="4471416" y="3300984"/>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1. 安定したデータ供給</a:t>
            </a:r>
            <a:endParaRPr lang="ja-JP" sz="1650" dirty="0"/>
          </a:p>
        </p:txBody>
      </p:sp>
      <p:sp>
        <p:nvSpPr>
          <p:cNvPr id="25" name="Text 23"/>
          <p:cNvSpPr/>
          <p:nvPr/>
        </p:nvSpPr>
        <p:spPr>
          <a:xfrm>
            <a:off x="4471416" y="3639312"/>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Dataverseへの連携を整備し、</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合意した頻度・時刻で提供する。</a:t>
            </a:r>
            <a:endParaRPr lang="ja-JP" sz="1320" dirty="0"/>
          </a:p>
        </p:txBody>
      </p:sp>
      <p:sp>
        <p:nvSpPr>
          <p:cNvPr id="26" name="Text 24"/>
          <p:cNvSpPr/>
          <p:nvPr/>
        </p:nvSpPr>
        <p:spPr>
          <a:xfrm>
            <a:off x="4471416" y="4114800"/>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2. 変更しやすい構成</a:t>
            </a:r>
            <a:endParaRPr lang="ja-JP" sz="1650" dirty="0"/>
          </a:p>
        </p:txBody>
      </p:sp>
      <p:sp>
        <p:nvSpPr>
          <p:cNvPr id="27" name="Text 25"/>
          <p:cNvSpPr/>
          <p:nvPr/>
        </p:nvSpPr>
        <p:spPr>
          <a:xfrm>
            <a:off x="4471416" y="4453128"/>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既存Bronze／Silverを活用し、</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Goldの責務を明確にする。</a:t>
            </a:r>
            <a:endParaRPr lang="ja-JP" sz="1320" dirty="0"/>
          </a:p>
        </p:txBody>
      </p:sp>
      <p:sp>
        <p:nvSpPr>
          <p:cNvPr id="28" name="Text 26"/>
          <p:cNvSpPr/>
          <p:nvPr/>
        </p:nvSpPr>
        <p:spPr>
          <a:xfrm>
            <a:off x="4471416" y="4928616"/>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3. 引継ぎできる運用</a:t>
            </a:r>
            <a:endParaRPr lang="ja-JP" sz="1650" dirty="0"/>
          </a:p>
        </p:txBody>
      </p:sp>
      <p:sp>
        <p:nvSpPr>
          <p:cNvPr id="29" name="Text 27"/>
          <p:cNvSpPr/>
          <p:nvPr/>
        </p:nvSpPr>
        <p:spPr>
          <a:xfrm>
            <a:off x="4471416" y="5266944"/>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Datalake運用チーム向けに</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監視・復旧・実行手順を整える。</a:t>
            </a:r>
            <a:endParaRPr lang="ja-JP" sz="1320" dirty="0"/>
          </a:p>
        </p:txBody>
      </p:sp>
      <p:sp>
        <p:nvSpPr>
          <p:cNvPr id="30" name="Shape 28"/>
          <p:cNvSpPr/>
          <p:nvPr/>
        </p:nvSpPr>
        <p:spPr>
          <a:xfrm>
            <a:off x="8119872" y="2724912"/>
            <a:ext cx="3593592" cy="3227832"/>
          </a:xfrm>
          <a:prstGeom prst="rect">
            <a:avLst>
              <a:gd name="adj" fmla="val 2266"/>
            </a:avLst>
          </a:prstGeom>
          <a:solidFill>
            <a:srgbClr val="F4F4F3"/>
          </a:solidFill>
          <a:ln w="12700">
            <a:solidFill>
              <a:srgbClr val="F4F4F3">
                <a:alpha val="0"/>
              </a:srgbClr>
            </a:solidFill>
            <a:prstDash val="solid"/>
          </a:ln>
        </p:spPr>
      </p:sp>
      <p:sp>
        <p:nvSpPr>
          <p:cNvPr id="31" name="Shape 29"/>
          <p:cNvSpPr/>
          <p:nvPr/>
        </p:nvSpPr>
        <p:spPr>
          <a:xfrm>
            <a:off x="8119872" y="2724912"/>
            <a:ext cx="3593592" cy="411480"/>
          </a:xfrm>
          <a:prstGeom prst="rect">
            <a:avLst>
              <a:gd name="adj" fmla="val 17778"/>
            </a:avLst>
          </a:prstGeom>
          <a:solidFill>
            <a:srgbClr val="E51B0B"/>
          </a:solidFill>
          <a:ln w="12700">
            <a:solidFill>
              <a:srgbClr val="E51B0B">
                <a:alpha val="0"/>
              </a:srgbClr>
            </a:solidFill>
            <a:prstDash val="solid"/>
          </a:ln>
        </p:spPr>
      </p:sp>
      <p:sp>
        <p:nvSpPr>
          <p:cNvPr id="32" name="Text 30"/>
          <p:cNvSpPr/>
          <p:nvPr/>
        </p:nvSpPr>
        <p:spPr>
          <a:xfrm>
            <a:off x="8266176" y="2743200"/>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主要成果物</a:t>
            </a:r>
            <a:endParaRPr lang="ja-JP" sz="1700" dirty="0"/>
          </a:p>
        </p:txBody>
      </p:sp>
      <p:sp>
        <p:nvSpPr>
          <p:cNvPr id="33" name="Text 31"/>
          <p:cNvSpPr/>
          <p:nvPr/>
        </p:nvSpPr>
        <p:spPr>
          <a:xfrm>
            <a:off x="8293608" y="3300984"/>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1. Fabric処理・連携</a:t>
            </a:r>
            <a:endParaRPr lang="ja-JP" sz="1650" dirty="0"/>
          </a:p>
        </p:txBody>
      </p:sp>
      <p:sp>
        <p:nvSpPr>
          <p:cNvPr id="34" name="Text 32"/>
          <p:cNvSpPr/>
          <p:nvPr/>
        </p:nvSpPr>
        <p:spPr>
          <a:xfrm>
            <a:off x="8293608" y="3639312"/>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5出力のNotebook／Pipeline、</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Function／Viewを作成する。</a:t>
            </a:r>
            <a:endParaRPr lang="ja-JP" sz="1320" dirty="0"/>
          </a:p>
        </p:txBody>
      </p:sp>
      <p:sp>
        <p:nvSpPr>
          <p:cNvPr id="35" name="Text 33"/>
          <p:cNvSpPr/>
          <p:nvPr/>
        </p:nvSpPr>
        <p:spPr>
          <a:xfrm>
            <a:off x="8293608" y="4114800"/>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2. 出力・差分管理</a:t>
            </a:r>
            <a:endParaRPr lang="ja-JP" sz="1650" dirty="0"/>
          </a:p>
        </p:txBody>
      </p:sp>
      <p:sp>
        <p:nvSpPr>
          <p:cNvPr id="36" name="Text 34"/>
          <p:cNvSpPr/>
          <p:nvPr/>
        </p:nvSpPr>
        <p:spPr>
          <a:xfrm>
            <a:off x="8293608" y="4453128"/>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stg／tgt・Watermarkを整備し、</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Dataverseへ連携する。</a:t>
            </a:r>
            <a:endParaRPr lang="ja-JP" sz="1320" dirty="0"/>
          </a:p>
        </p:txBody>
      </p:sp>
      <p:sp>
        <p:nvSpPr>
          <p:cNvPr id="37" name="Text 35"/>
          <p:cNvSpPr/>
          <p:nvPr/>
        </p:nvSpPr>
        <p:spPr>
          <a:xfrm>
            <a:off x="8293608" y="4928616"/>
            <a:ext cx="3246120" cy="283464"/>
          </a:xfrm>
          <a:prstGeom prst="rect">
            <a:avLst/>
          </a:prstGeom>
          <a:noFill/>
          <a:ln/>
        </p:spPr>
        <p:txBody>
          <a:bodyPr wrap="square" lIns="0" tIns="0" rIns="0" bIns="0" rtlCol="0" anchor="ctr"/>
          <a:lstStyle/>
          <a:p>
            <a:pPr indent="0" marL="0">
              <a:buNone/>
            </a:pPr>
            <a:r>
              <a:rPr lang="ja-JP" altLang="en-US" sz="1650" b="1" dirty="0">
                <a:solidFill>
                  <a:srgbClr val="E51B0B"/>
                </a:solidFill>
                <a:latin typeface="Noto Sans CJK JP" pitchFamily="34" charset="0"/>
                <a:ea typeface="Noto Sans CJK JP" pitchFamily="34" charset="-122"/>
                <a:cs typeface="Noto Sans CJK JP" pitchFamily="34" charset="-120"/>
              </a:rPr>
              <a:t>3. 試験と引継ぎ資料</a:t>
            </a:r>
            <a:endParaRPr lang="ja-JP" sz="1650" dirty="0"/>
          </a:p>
        </p:txBody>
      </p:sp>
      <p:sp>
        <p:nvSpPr>
          <p:cNvPr id="38" name="Text 36"/>
          <p:cNvSpPr/>
          <p:nvPr/>
        </p:nvSpPr>
        <p:spPr>
          <a:xfrm>
            <a:off x="8293608" y="5266944"/>
            <a:ext cx="3246120" cy="420624"/>
          </a:xfrm>
          <a:prstGeom prst="rect">
            <a:avLst/>
          </a:prstGeom>
          <a:noFill/>
          <a:ln/>
        </p:spPr>
        <p:txBody>
          <a:bodyPr wrap="square" lIns="0" tIns="0" rIns="0" bIns="0" rtlCol="0" anchor="t"/>
          <a:lstStyle/>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単体・結合・UATの証跡、</a:t>
            </a:r>
            <a:endParaRPr lang="ja-JP" sz="1320" dirty="0"/>
          </a:p>
          <a:p>
            <a:pPr indent="0" marL="0">
              <a:buNone/>
            </a:pPr>
            <a:r>
              <a:rPr lang="ja-JP" altLang="en-US" sz="1320" dirty="0">
                <a:solidFill>
                  <a:srgbClr val="25282E"/>
                </a:solidFill>
                <a:latin typeface="Noto Sans CJK JP" pitchFamily="34" charset="0"/>
                <a:ea typeface="Noto Sans CJK JP" pitchFamily="34" charset="-122"/>
                <a:cs typeface="Noto Sans CJK JP" pitchFamily="34" charset="-120"/>
              </a:rPr>
              <a:t>GoldLayerの運用・KT資料。</a:t>
            </a:r>
            <a:endParaRPr lang="ja-JP" sz="1320" dirty="0"/>
          </a:p>
        </p:txBody>
      </p:sp>
      <p:sp>
        <p:nvSpPr>
          <p:cNvPr id="39" name="Shape 37"/>
          <p:cNvSpPr/>
          <p:nvPr/>
        </p:nvSpPr>
        <p:spPr>
          <a:xfrm>
            <a:off x="457200" y="6492240"/>
            <a:ext cx="11274552" cy="0"/>
          </a:xfrm>
          <a:prstGeom prst="line">
            <a:avLst/>
          </a:prstGeom>
          <a:noFill/>
          <a:ln w="8890">
            <a:solidFill>
              <a:srgbClr val="DFE1E4"/>
            </a:solidFill>
            <a:prstDash val="solid"/>
            <a:headEnd type="none"/>
            <a:tailEnd type="none"/>
          </a:ln>
        </p:spPr>
      </p:sp>
      <p:sp>
        <p:nvSpPr>
          <p:cNvPr id="40" name="Text 38"/>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41" name="Text 39"/>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42" name="Text 40"/>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03</a:t>
            </a:r>
            <a:endParaRPr lang="ja-JP" sz="1000" dirty="0"/>
          </a:p>
        </p:txBody>
      </p:sp>
      <p:sp>
        <p:nvSpPr>
          <p:cNvPr id="43" name="Text 41"/>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No.2、11、34〜49、50〜64／目的・価値はこれらを基にした提案</a:t>
            </a:r>
            <a:endParaRPr lang="ja-JP"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スコープ</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対象は5テーブル。Omni2Fabricの開発範囲とは分けて管理する</a:t>
            </a:r>
            <a:endParaRPr lang="ja-JP" sz="1340" dirty="0"/>
          </a:p>
        </p:txBody>
      </p:sp>
      <p:sp>
        <p:nvSpPr>
          <p:cNvPr id="6" name="Shape 4"/>
          <p:cNvSpPr/>
          <p:nvPr/>
        </p:nvSpPr>
        <p:spPr>
          <a:xfrm>
            <a:off x="475488" y="1536192"/>
            <a:ext cx="2112264" cy="283464"/>
          </a:xfrm>
          <a:prstGeom prst="rect">
            <a:avLst>
              <a:gd name="adj" fmla="val 25806"/>
            </a:avLst>
          </a:prstGeom>
          <a:solidFill>
            <a:srgbClr val="FCE7E4"/>
          </a:solidFill>
          <a:ln w="12700">
            <a:solidFill>
              <a:srgbClr val="FCE7E4">
                <a:alpha val="0"/>
              </a:srgbClr>
            </a:solidFill>
            <a:prstDash val="solid"/>
          </a:ln>
        </p:spPr>
      </p:sp>
      <p:sp>
        <p:nvSpPr>
          <p:cNvPr id="7" name="Text 5"/>
          <p:cNvSpPr/>
          <p:nvPr/>
        </p:nvSpPr>
        <p:spPr>
          <a:xfrm>
            <a:off x="548640" y="1545336"/>
            <a:ext cx="1965960" cy="265176"/>
          </a:xfrm>
          <a:prstGeom prst="rect">
            <a:avLst/>
          </a:prstGeom>
          <a:noFill/>
          <a:ln/>
        </p:spPr>
        <p:txBody>
          <a:bodyPr wrap="square" lIns="0" tIns="0" rIns="0" bIns="0" rtlCol="0" anchor="ctr"/>
          <a:lstStyle/>
          <a:p>
            <a:pPr algn="ct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Product</a:t>
            </a:r>
            <a:endParaRPr lang="ja-JP" sz="1240" dirty="0"/>
          </a:p>
        </p:txBody>
      </p:sp>
      <p:sp>
        <p:nvSpPr>
          <p:cNvPr id="8" name="Shape 6"/>
          <p:cNvSpPr/>
          <p:nvPr/>
        </p:nvSpPr>
        <p:spPr>
          <a:xfrm>
            <a:off x="2752344" y="1536192"/>
            <a:ext cx="2112264" cy="283464"/>
          </a:xfrm>
          <a:prstGeom prst="rect">
            <a:avLst>
              <a:gd name="adj" fmla="val 25806"/>
            </a:avLst>
          </a:prstGeom>
          <a:solidFill>
            <a:srgbClr val="FCE7E4"/>
          </a:solidFill>
          <a:ln w="12700">
            <a:solidFill>
              <a:srgbClr val="FCE7E4">
                <a:alpha val="0"/>
              </a:srgbClr>
            </a:solidFill>
            <a:prstDash val="solid"/>
          </a:ln>
        </p:spPr>
      </p:sp>
      <p:sp>
        <p:nvSpPr>
          <p:cNvPr id="9" name="Text 7"/>
          <p:cNvSpPr/>
          <p:nvPr/>
        </p:nvSpPr>
        <p:spPr>
          <a:xfrm>
            <a:off x="2825496" y="1545336"/>
            <a:ext cx="1965960" cy="265176"/>
          </a:xfrm>
          <a:prstGeom prst="rect">
            <a:avLst/>
          </a:prstGeom>
          <a:noFill/>
          <a:ln/>
        </p:spPr>
        <p:txBody>
          <a:bodyPr wrap="square" lIns="0" tIns="0" rIns="0" bIns="0" rtlCol="0" anchor="ctr"/>
          <a:lstStyle/>
          <a:p>
            <a:pPr algn="ct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Contact</a:t>
            </a:r>
            <a:endParaRPr lang="ja-JP" sz="1240" dirty="0"/>
          </a:p>
        </p:txBody>
      </p:sp>
      <p:sp>
        <p:nvSpPr>
          <p:cNvPr id="10" name="Shape 8"/>
          <p:cNvSpPr/>
          <p:nvPr/>
        </p:nvSpPr>
        <p:spPr>
          <a:xfrm>
            <a:off x="5029200" y="1536192"/>
            <a:ext cx="2112264" cy="283464"/>
          </a:xfrm>
          <a:prstGeom prst="rect">
            <a:avLst>
              <a:gd name="adj" fmla="val 25806"/>
            </a:avLst>
          </a:prstGeom>
          <a:solidFill>
            <a:srgbClr val="FCE7E4"/>
          </a:solidFill>
          <a:ln w="12700">
            <a:solidFill>
              <a:srgbClr val="FCE7E4">
                <a:alpha val="0"/>
              </a:srgbClr>
            </a:solidFill>
            <a:prstDash val="solid"/>
          </a:ln>
        </p:spPr>
      </p:sp>
      <p:sp>
        <p:nvSpPr>
          <p:cNvPr id="11" name="Text 9"/>
          <p:cNvSpPr/>
          <p:nvPr/>
        </p:nvSpPr>
        <p:spPr>
          <a:xfrm>
            <a:off x="5102352" y="1545336"/>
            <a:ext cx="1965960" cy="265176"/>
          </a:xfrm>
          <a:prstGeom prst="rect">
            <a:avLst/>
          </a:prstGeom>
          <a:noFill/>
          <a:ln/>
        </p:spPr>
        <p:txBody>
          <a:bodyPr wrap="square" lIns="0" tIns="0" rIns="0" bIns="0" rtlCol="0" anchor="ctr"/>
          <a:lstStyle/>
          <a:p>
            <a:pPr algn="ct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Account</a:t>
            </a:r>
            <a:endParaRPr lang="ja-JP" sz="1240" dirty="0"/>
          </a:p>
        </p:txBody>
      </p:sp>
      <p:sp>
        <p:nvSpPr>
          <p:cNvPr id="12" name="Shape 10"/>
          <p:cNvSpPr/>
          <p:nvPr/>
        </p:nvSpPr>
        <p:spPr>
          <a:xfrm>
            <a:off x="7306056" y="1536192"/>
            <a:ext cx="2112264" cy="283464"/>
          </a:xfrm>
          <a:prstGeom prst="rect">
            <a:avLst>
              <a:gd name="adj" fmla="val 25806"/>
            </a:avLst>
          </a:prstGeom>
          <a:solidFill>
            <a:srgbClr val="FCE7E4"/>
          </a:solidFill>
          <a:ln w="12700">
            <a:solidFill>
              <a:srgbClr val="FCE7E4">
                <a:alpha val="0"/>
              </a:srgbClr>
            </a:solidFill>
            <a:prstDash val="solid"/>
          </a:ln>
        </p:spPr>
      </p:sp>
      <p:sp>
        <p:nvSpPr>
          <p:cNvPr id="13" name="Text 11"/>
          <p:cNvSpPr/>
          <p:nvPr/>
        </p:nvSpPr>
        <p:spPr>
          <a:xfrm>
            <a:off x="7379208" y="1545336"/>
            <a:ext cx="1965960" cy="265176"/>
          </a:xfrm>
          <a:prstGeom prst="rect">
            <a:avLst/>
          </a:prstGeom>
          <a:noFill/>
          <a:ln/>
        </p:spPr>
        <p:txBody>
          <a:bodyPr wrap="square" lIns="0" tIns="0" rIns="0" bIns="0" rtlCol="0" anchor="ctr"/>
          <a:lstStyle/>
          <a:p>
            <a:pPr algn="ct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AccountContact</a:t>
            </a:r>
            <a:endParaRPr lang="ja-JP" sz="1240" dirty="0"/>
          </a:p>
        </p:txBody>
      </p:sp>
      <p:sp>
        <p:nvSpPr>
          <p:cNvPr id="14" name="Shape 12"/>
          <p:cNvSpPr/>
          <p:nvPr/>
        </p:nvSpPr>
        <p:spPr>
          <a:xfrm>
            <a:off x="9582912" y="1536192"/>
            <a:ext cx="2112264" cy="283464"/>
          </a:xfrm>
          <a:prstGeom prst="rect">
            <a:avLst>
              <a:gd name="adj" fmla="val 25806"/>
            </a:avLst>
          </a:prstGeom>
          <a:solidFill>
            <a:srgbClr val="FCE7E4"/>
          </a:solidFill>
          <a:ln w="12700">
            <a:solidFill>
              <a:srgbClr val="FCE7E4">
                <a:alpha val="0"/>
              </a:srgbClr>
            </a:solidFill>
            <a:prstDash val="solid"/>
          </a:ln>
        </p:spPr>
      </p:sp>
      <p:sp>
        <p:nvSpPr>
          <p:cNvPr id="15" name="Text 13"/>
          <p:cNvSpPr/>
          <p:nvPr/>
        </p:nvSpPr>
        <p:spPr>
          <a:xfrm>
            <a:off x="9656064" y="1545336"/>
            <a:ext cx="1965960" cy="265176"/>
          </a:xfrm>
          <a:prstGeom prst="rect">
            <a:avLst/>
          </a:prstGeom>
          <a:noFill/>
          <a:ln/>
        </p:spPr>
        <p:txBody>
          <a:bodyPr wrap="square" lIns="0" tIns="0" rIns="0" bIns="0" rtlCol="0" anchor="ctr"/>
          <a:lstStyle/>
          <a:p>
            <a:pPr algn="ct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SalesRepHospital</a:t>
            </a:r>
            <a:endParaRPr lang="ja-JP" sz="1240" dirty="0"/>
          </a:p>
        </p:txBody>
      </p:sp>
      <p:sp>
        <p:nvSpPr>
          <p:cNvPr id="16" name="Shape 14"/>
          <p:cNvSpPr/>
          <p:nvPr/>
        </p:nvSpPr>
        <p:spPr>
          <a:xfrm>
            <a:off x="475488" y="2039112"/>
            <a:ext cx="5486400" cy="3127248"/>
          </a:xfrm>
          <a:prstGeom prst="rect">
            <a:avLst>
              <a:gd name="adj" fmla="val 2339"/>
            </a:avLst>
          </a:prstGeom>
          <a:solidFill>
            <a:srgbClr val="F4F4F3"/>
          </a:solidFill>
          <a:ln w="12700">
            <a:solidFill>
              <a:srgbClr val="F4F4F3">
                <a:alpha val="0"/>
              </a:srgbClr>
            </a:solidFill>
            <a:prstDash val="solid"/>
          </a:ln>
        </p:spPr>
      </p:sp>
      <p:sp>
        <p:nvSpPr>
          <p:cNvPr id="17" name="Shape 15"/>
          <p:cNvSpPr/>
          <p:nvPr/>
        </p:nvSpPr>
        <p:spPr>
          <a:xfrm>
            <a:off x="475488" y="2039112"/>
            <a:ext cx="5486400" cy="411480"/>
          </a:xfrm>
          <a:prstGeom prst="rect">
            <a:avLst>
              <a:gd name="adj" fmla="val 17778"/>
            </a:avLst>
          </a:prstGeom>
          <a:solidFill>
            <a:srgbClr val="E51B0B"/>
          </a:solidFill>
          <a:ln w="12700">
            <a:solidFill>
              <a:srgbClr val="E51B0B">
                <a:alpha val="0"/>
              </a:srgbClr>
            </a:solidFill>
            <a:prstDash val="solid"/>
          </a:ln>
        </p:spPr>
      </p:sp>
      <p:sp>
        <p:nvSpPr>
          <p:cNvPr id="18" name="Text 16"/>
          <p:cNvSpPr/>
          <p:nvPr/>
        </p:nvSpPr>
        <p:spPr>
          <a:xfrm>
            <a:off x="621792" y="2057400"/>
            <a:ext cx="5193792"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対象範囲</a:t>
            </a:r>
            <a:endParaRPr lang="ja-JP" sz="1700" dirty="0"/>
          </a:p>
        </p:txBody>
      </p:sp>
      <p:sp>
        <p:nvSpPr>
          <p:cNvPr id="19" name="Shape 17"/>
          <p:cNvSpPr/>
          <p:nvPr/>
        </p:nvSpPr>
        <p:spPr>
          <a:xfrm>
            <a:off x="694944" y="2770632"/>
            <a:ext cx="54864" cy="54864"/>
          </a:xfrm>
          <a:prstGeom prst="rect">
            <a:avLst>
              <a:gd name="adj" fmla="val 133333"/>
            </a:avLst>
          </a:prstGeom>
          <a:solidFill>
            <a:srgbClr val="E51B0B"/>
          </a:solidFill>
          <a:ln w="12700">
            <a:solidFill>
              <a:srgbClr val="E51B0B">
                <a:alpha val="0"/>
              </a:srgbClr>
            </a:solidFill>
            <a:prstDash val="solid"/>
          </a:ln>
        </p:spPr>
      </p:sp>
      <p:sp>
        <p:nvSpPr>
          <p:cNvPr id="20" name="Text 18"/>
          <p:cNvSpPr/>
          <p:nvPr/>
        </p:nvSpPr>
        <p:spPr>
          <a:xfrm>
            <a:off x="859536" y="2660904"/>
            <a:ext cx="4846320" cy="658368"/>
          </a:xfrm>
          <a:prstGeom prst="rect">
            <a:avLst/>
          </a:prstGeom>
          <a:noFill/>
          <a:ln/>
        </p:spPr>
        <p:txBody>
          <a:bodyPr wrap="square" lIns="0" tIns="0" rIns="0" bIns="0" rtlCol="0" anchor="t"/>
          <a:lstStyle/>
          <a:p>
            <a:pPr indent="0" marL="0">
              <a:buNone/>
            </a:pPr>
            <a:r>
              <a:rPr lang="ja-JP" altLang="en-US" sz="1500" dirty="0">
                <a:solidFill>
                  <a:srgbClr val="25282E"/>
                </a:solidFill>
                <a:latin typeface="Noto Sans CJK JP" pitchFamily="34" charset="0"/>
                <a:ea typeface="Noto Sans CJK JP" pitchFamily="34" charset="-122"/>
                <a:cs typeface="Noto Sans CJK JP" pitchFamily="34" charset="-120"/>
              </a:rPr>
              <a:t>5テーブルの仕様確認・基本／詳細設計</a:t>
            </a:r>
            <a:endParaRPr lang="ja-JP" sz="1500" dirty="0"/>
          </a:p>
        </p:txBody>
      </p:sp>
      <p:sp>
        <p:nvSpPr>
          <p:cNvPr id="21" name="Shape 19"/>
          <p:cNvSpPr/>
          <p:nvPr/>
        </p:nvSpPr>
        <p:spPr>
          <a:xfrm>
            <a:off x="694944" y="3218688"/>
            <a:ext cx="54864" cy="54864"/>
          </a:xfrm>
          <a:prstGeom prst="rect">
            <a:avLst>
              <a:gd name="adj" fmla="val 133333"/>
            </a:avLst>
          </a:prstGeom>
          <a:solidFill>
            <a:srgbClr val="E51B0B"/>
          </a:solidFill>
          <a:ln w="12700">
            <a:solidFill>
              <a:srgbClr val="E51B0B">
                <a:alpha val="0"/>
              </a:srgbClr>
            </a:solidFill>
            <a:prstDash val="solid"/>
          </a:ln>
        </p:spPr>
      </p:sp>
      <p:sp>
        <p:nvSpPr>
          <p:cNvPr id="22" name="Text 20"/>
          <p:cNvSpPr/>
          <p:nvPr/>
        </p:nvSpPr>
        <p:spPr>
          <a:xfrm>
            <a:off x="859536" y="3108960"/>
            <a:ext cx="4846320" cy="658368"/>
          </a:xfrm>
          <a:prstGeom prst="rect">
            <a:avLst/>
          </a:prstGeom>
          <a:noFill/>
          <a:ln/>
        </p:spPr>
        <p:txBody>
          <a:bodyPr wrap="square" lIns="0" tIns="0" rIns="0" bIns="0" rtlCol="0" anchor="t"/>
          <a:lstStyle/>
          <a:p>
            <a:pPr indent="0" marL="0">
              <a:buNone/>
            </a:pPr>
            <a:r>
              <a:rPr lang="ja-JP" altLang="en-US" sz="1500" dirty="0">
                <a:solidFill>
                  <a:srgbClr val="25282E"/>
                </a:solidFill>
                <a:latin typeface="Noto Sans CJK JP" pitchFamily="34" charset="0"/>
                <a:ea typeface="Noto Sans CJK JP" pitchFamily="34" charset="-122"/>
                <a:cs typeface="Noto Sans CJK JP" pitchFamily="34" charset="-120"/>
              </a:rPr>
              <a:t>既存Bronze／Silverの追加・処理変更</a:t>
            </a:r>
            <a:endParaRPr lang="ja-JP" sz="1500" dirty="0"/>
          </a:p>
        </p:txBody>
      </p:sp>
      <p:sp>
        <p:nvSpPr>
          <p:cNvPr id="23" name="Shape 21"/>
          <p:cNvSpPr/>
          <p:nvPr/>
        </p:nvSpPr>
        <p:spPr>
          <a:xfrm>
            <a:off x="694944" y="3666744"/>
            <a:ext cx="54864" cy="54864"/>
          </a:xfrm>
          <a:prstGeom prst="rect">
            <a:avLst>
              <a:gd name="adj" fmla="val 133333"/>
            </a:avLst>
          </a:prstGeom>
          <a:solidFill>
            <a:srgbClr val="E51B0B"/>
          </a:solidFill>
          <a:ln w="12700">
            <a:solidFill>
              <a:srgbClr val="E51B0B">
                <a:alpha val="0"/>
              </a:srgbClr>
            </a:solidFill>
            <a:prstDash val="solid"/>
          </a:ln>
        </p:spPr>
      </p:sp>
      <p:sp>
        <p:nvSpPr>
          <p:cNvPr id="24" name="Text 22"/>
          <p:cNvSpPr/>
          <p:nvPr/>
        </p:nvSpPr>
        <p:spPr>
          <a:xfrm>
            <a:off x="859536" y="3557016"/>
            <a:ext cx="4846320" cy="658368"/>
          </a:xfrm>
          <a:prstGeom prst="rect">
            <a:avLst/>
          </a:prstGeom>
          <a:noFill/>
          <a:ln/>
        </p:spPr>
        <p:txBody>
          <a:bodyPr wrap="square" lIns="0" tIns="0" rIns="0" bIns="0" rtlCol="0" anchor="t"/>
          <a:lstStyle/>
          <a:p>
            <a:pPr indent="0" marL="0">
              <a:buNone/>
            </a:pPr>
            <a:r>
              <a:rPr lang="ja-JP" altLang="en-US" sz="1500" dirty="0">
                <a:solidFill>
                  <a:srgbClr val="25282E"/>
                </a:solidFill>
                <a:latin typeface="Noto Sans CJK JP" pitchFamily="34" charset="0"/>
                <a:ea typeface="Noto Sans CJK JP" pitchFamily="34" charset="-122"/>
                <a:cs typeface="Noto Sans CJK JP" pitchFamily="34" charset="-120"/>
              </a:rPr>
              <a:t>Gold：取得・加工・Function／View・共通処理</a:t>
            </a:r>
            <a:endParaRPr lang="ja-JP" sz="1500" dirty="0"/>
          </a:p>
        </p:txBody>
      </p:sp>
      <p:sp>
        <p:nvSpPr>
          <p:cNvPr id="25" name="Shape 23"/>
          <p:cNvSpPr/>
          <p:nvPr/>
        </p:nvSpPr>
        <p:spPr>
          <a:xfrm>
            <a:off x="694944" y="4114800"/>
            <a:ext cx="54864" cy="54864"/>
          </a:xfrm>
          <a:prstGeom prst="rect">
            <a:avLst>
              <a:gd name="adj" fmla="val 133333"/>
            </a:avLst>
          </a:prstGeom>
          <a:solidFill>
            <a:srgbClr val="E51B0B"/>
          </a:solidFill>
          <a:ln w="12700">
            <a:solidFill>
              <a:srgbClr val="E51B0B">
                <a:alpha val="0"/>
              </a:srgbClr>
            </a:solidFill>
            <a:prstDash val="solid"/>
          </a:ln>
        </p:spPr>
      </p:sp>
      <p:sp>
        <p:nvSpPr>
          <p:cNvPr id="26" name="Text 24"/>
          <p:cNvSpPr/>
          <p:nvPr/>
        </p:nvSpPr>
        <p:spPr>
          <a:xfrm>
            <a:off x="859536" y="4005072"/>
            <a:ext cx="4846320" cy="658368"/>
          </a:xfrm>
          <a:prstGeom prst="rect">
            <a:avLst/>
          </a:prstGeom>
          <a:noFill/>
          <a:ln/>
        </p:spPr>
        <p:txBody>
          <a:bodyPr wrap="square" lIns="0" tIns="0" rIns="0" bIns="0" rtlCol="0" anchor="t"/>
          <a:lstStyle/>
          <a:p>
            <a:pPr indent="0" marL="0">
              <a:buNone/>
            </a:pPr>
            <a:r>
              <a:rPr lang="ja-JP" altLang="en-US" sz="1500" dirty="0">
                <a:solidFill>
                  <a:srgbClr val="25282E"/>
                </a:solidFill>
                <a:latin typeface="Noto Sans CJK JP" pitchFamily="34" charset="0"/>
                <a:ea typeface="Noto Sans CJK JP" pitchFamily="34" charset="-122"/>
                <a:cs typeface="Noto Sans CJK JP" pitchFamily="34" charset="-120"/>
              </a:rPr>
              <a:t>Output：stg／tgt・Watermark・Dataverse連携</a:t>
            </a:r>
            <a:endParaRPr lang="ja-JP" sz="1500" dirty="0"/>
          </a:p>
        </p:txBody>
      </p:sp>
      <p:sp>
        <p:nvSpPr>
          <p:cNvPr id="27" name="Shape 25"/>
          <p:cNvSpPr/>
          <p:nvPr/>
        </p:nvSpPr>
        <p:spPr>
          <a:xfrm>
            <a:off x="694944" y="4562856"/>
            <a:ext cx="54864" cy="54864"/>
          </a:xfrm>
          <a:prstGeom prst="rect">
            <a:avLst>
              <a:gd name="adj" fmla="val 133333"/>
            </a:avLst>
          </a:prstGeom>
          <a:solidFill>
            <a:srgbClr val="E51B0B"/>
          </a:solidFill>
          <a:ln w="12700">
            <a:solidFill>
              <a:srgbClr val="E51B0B">
                <a:alpha val="0"/>
              </a:srgbClr>
            </a:solidFill>
            <a:prstDash val="solid"/>
          </a:ln>
        </p:spPr>
      </p:sp>
      <p:sp>
        <p:nvSpPr>
          <p:cNvPr id="28" name="Text 26"/>
          <p:cNvSpPr/>
          <p:nvPr/>
        </p:nvSpPr>
        <p:spPr>
          <a:xfrm>
            <a:off x="859536" y="4453128"/>
            <a:ext cx="4846320" cy="658368"/>
          </a:xfrm>
          <a:prstGeom prst="rect">
            <a:avLst/>
          </a:prstGeom>
          <a:noFill/>
          <a:ln/>
        </p:spPr>
        <p:txBody>
          <a:bodyPr wrap="square" lIns="0" tIns="0" rIns="0" bIns="0" rtlCol="0" anchor="t"/>
          <a:lstStyle/>
          <a:p>
            <a:pPr indent="0" marL="0">
              <a:buNone/>
            </a:pPr>
            <a:r>
              <a:rPr lang="ja-JP" altLang="en-US" sz="1500" dirty="0">
                <a:solidFill>
                  <a:srgbClr val="25282E"/>
                </a:solidFill>
                <a:latin typeface="Noto Sans CJK JP" pitchFamily="34" charset="0"/>
                <a:ea typeface="Noto Sans CJK JP" pitchFamily="34" charset="-122"/>
                <a:cs typeface="Noto Sans CJK JP" pitchFamily="34" charset="-120"/>
              </a:rPr>
              <a:t>単体／結合テスト・UAT・GoldLayerのKT</a:t>
            </a:r>
            <a:endParaRPr lang="ja-JP" sz="1500" dirty="0"/>
          </a:p>
        </p:txBody>
      </p:sp>
      <p:sp>
        <p:nvSpPr>
          <p:cNvPr id="29" name="Shape 27"/>
          <p:cNvSpPr/>
          <p:nvPr/>
        </p:nvSpPr>
        <p:spPr>
          <a:xfrm>
            <a:off x="6190488" y="2039112"/>
            <a:ext cx="5522976" cy="3127248"/>
          </a:xfrm>
          <a:prstGeom prst="rect">
            <a:avLst>
              <a:gd name="adj" fmla="val 2339"/>
            </a:avLst>
          </a:prstGeom>
          <a:solidFill>
            <a:srgbClr val="F4F4F3"/>
          </a:solidFill>
          <a:ln w="12700">
            <a:solidFill>
              <a:srgbClr val="F4F4F3">
                <a:alpha val="0"/>
              </a:srgbClr>
            </a:solidFill>
            <a:prstDash val="solid"/>
          </a:ln>
        </p:spPr>
      </p:sp>
      <p:sp>
        <p:nvSpPr>
          <p:cNvPr id="30" name="Shape 28"/>
          <p:cNvSpPr/>
          <p:nvPr/>
        </p:nvSpPr>
        <p:spPr>
          <a:xfrm>
            <a:off x="6190488" y="2039112"/>
            <a:ext cx="5522976" cy="411480"/>
          </a:xfrm>
          <a:prstGeom prst="rect">
            <a:avLst>
              <a:gd name="adj" fmla="val 17778"/>
            </a:avLst>
          </a:prstGeom>
          <a:solidFill>
            <a:srgbClr val="E51B0B"/>
          </a:solidFill>
          <a:ln w="12700">
            <a:solidFill>
              <a:srgbClr val="E51B0B">
                <a:alpha val="0"/>
              </a:srgbClr>
            </a:solidFill>
            <a:prstDash val="solid"/>
          </a:ln>
        </p:spPr>
      </p:sp>
      <p:sp>
        <p:nvSpPr>
          <p:cNvPr id="31" name="Text 29"/>
          <p:cNvSpPr/>
          <p:nvPr/>
        </p:nvSpPr>
        <p:spPr>
          <a:xfrm>
            <a:off x="6336792" y="2057400"/>
            <a:ext cx="5230368"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対象外・追加判断が必要な範囲</a:t>
            </a:r>
            <a:endParaRPr lang="ja-JP" sz="1700" dirty="0"/>
          </a:p>
        </p:txBody>
      </p:sp>
      <p:sp>
        <p:nvSpPr>
          <p:cNvPr id="32" name="Text 30"/>
          <p:cNvSpPr/>
          <p:nvPr/>
        </p:nvSpPr>
        <p:spPr>
          <a:xfrm>
            <a:off x="6400800" y="2660904"/>
            <a:ext cx="5029200" cy="301752"/>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対象外（元資料で明示）</a:t>
            </a:r>
            <a:endParaRPr lang="ja-JP" sz="1600" dirty="0"/>
          </a:p>
        </p:txBody>
      </p:sp>
      <p:sp>
        <p:nvSpPr>
          <p:cNvPr id="33" name="Text 31"/>
          <p:cNvSpPr/>
          <p:nvPr/>
        </p:nvSpPr>
        <p:spPr>
          <a:xfrm>
            <a:off x="6400800" y="3035808"/>
            <a:ext cx="5029200" cy="320040"/>
          </a:xfrm>
          <a:prstGeom prst="rect">
            <a:avLst/>
          </a:prstGeom>
          <a:noFill/>
          <a:ln/>
        </p:spPr>
        <p:txBody>
          <a:bodyPr wrap="square" lIns="0" tIns="0" rIns="0" bIns="0" rtlCol="0" anchor="ctr"/>
          <a:lstStyle/>
          <a:p>
            <a:pPr indent="0" marL="0">
              <a:buNone/>
            </a:pPr>
            <a:r>
              <a:rPr lang="ja-JP" altLang="en-US" sz="2000" b="1" dirty="0">
                <a:solidFill>
                  <a:srgbClr val="25282E"/>
                </a:solidFill>
                <a:latin typeface="Arial" pitchFamily="34" charset="0"/>
                <a:ea typeface="Arial" pitchFamily="34" charset="-122"/>
                <a:cs typeface="Arial" pitchFamily="34" charset="-120"/>
              </a:rPr>
              <a:t>HospitalSalesAmount</a:t>
            </a:r>
            <a:endParaRPr lang="ja-JP" sz="2000" dirty="0"/>
          </a:p>
        </p:txBody>
      </p:sp>
      <p:sp>
        <p:nvSpPr>
          <p:cNvPr id="34" name="Text 32"/>
          <p:cNvSpPr/>
          <p:nvPr/>
        </p:nvSpPr>
        <p:spPr>
          <a:xfrm>
            <a:off x="6400800" y="3602736"/>
            <a:ext cx="5029200" cy="292608"/>
          </a:xfrm>
          <a:prstGeom prst="rect">
            <a:avLst/>
          </a:prstGeom>
          <a:noFill/>
          <a:ln/>
        </p:spPr>
        <p:txBody>
          <a:bodyPr wrap="square" lIns="0" tIns="0" rIns="0" bIns="0" rtlCol="0" anchor="ctr"/>
          <a:lstStyle/>
          <a:p>
            <a:pPr indent="0" marL="0">
              <a:buNone/>
            </a:pPr>
            <a:r>
              <a:rPr lang="ja-JP" altLang="en-US" sz="1500" b="1" dirty="0">
                <a:solidFill>
                  <a:srgbClr val="25282E"/>
                </a:solidFill>
                <a:latin typeface="Noto Sans CJK JP" pitchFamily="34" charset="0"/>
                <a:ea typeface="Noto Sans CJK JP" pitchFamily="34" charset="-122"/>
                <a:cs typeface="Noto Sans CJK JP" pitchFamily="34" charset="-120"/>
              </a:rPr>
              <a:t>現行WBSに未計上：別途スコープ承認</a:t>
            </a:r>
            <a:endParaRPr lang="ja-JP" sz="1500" dirty="0"/>
          </a:p>
        </p:txBody>
      </p:sp>
      <p:sp>
        <p:nvSpPr>
          <p:cNvPr id="35" name="Text 33"/>
          <p:cNvSpPr/>
          <p:nvPr/>
        </p:nvSpPr>
        <p:spPr>
          <a:xfrm>
            <a:off x="6400800" y="4023360"/>
            <a:ext cx="5010912" cy="868680"/>
          </a:xfrm>
          <a:prstGeom prst="rect">
            <a:avLst/>
          </a:prstGeom>
          <a:noFill/>
          <a:ln/>
        </p:spPr>
        <p:txBody>
          <a:bodyPr wrap="square" lIns="0" tIns="0" rIns="0" bIns="0" rtlCol="0" anchor="t"/>
          <a:lstStyle/>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本番移行・Go-Live・切替後の保守</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Power BI／Semantic Modelの新規開発</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Dataiku基盤廃止・上流システムの機能改修</a:t>
            </a:r>
            <a:endParaRPr lang="ja-JP" sz="1440" dirty="0"/>
          </a:p>
        </p:txBody>
      </p:sp>
      <p:sp>
        <p:nvSpPr>
          <p:cNvPr id="36" name="Shape 34"/>
          <p:cNvSpPr/>
          <p:nvPr/>
        </p:nvSpPr>
        <p:spPr>
          <a:xfrm>
            <a:off x="475488" y="5449824"/>
            <a:ext cx="11228832" cy="557784"/>
          </a:xfrm>
          <a:prstGeom prst="rect">
            <a:avLst>
              <a:gd name="adj" fmla="val 13115"/>
            </a:avLst>
          </a:prstGeom>
          <a:solidFill>
            <a:srgbClr val="FCE7E4"/>
          </a:solidFill>
          <a:ln w="12700">
            <a:solidFill>
              <a:srgbClr val="FCE7E4">
                <a:alpha val="0"/>
              </a:srgbClr>
            </a:solidFill>
            <a:prstDash val="solid"/>
          </a:ln>
        </p:spPr>
      </p:sp>
      <p:sp>
        <p:nvSpPr>
          <p:cNvPr id="37" name="Text 35"/>
          <p:cNvSpPr/>
          <p:nvPr/>
        </p:nvSpPr>
        <p:spPr>
          <a:xfrm>
            <a:off x="676656" y="5577840"/>
            <a:ext cx="960120" cy="265176"/>
          </a:xfrm>
          <a:prstGeom prst="rect">
            <a:avLst/>
          </a:prstGeom>
          <a:noFill/>
          <a:ln/>
        </p:spPr>
        <p:txBody>
          <a:bodyPr wrap="square" lIns="0" tIns="0" rIns="0" bIns="0" rtlCol="0" anchor="ctr"/>
          <a:lstStyle/>
          <a:p>
            <a:pPr indent="0" marL="0">
              <a:buNone/>
            </a:pPr>
            <a:r>
              <a:rPr lang="ja-JP" altLang="en-US" sz="1500" b="1" dirty="0">
                <a:solidFill>
                  <a:srgbClr val="E51B0B"/>
                </a:solidFill>
                <a:latin typeface="Noto Sans CJK JP" pitchFamily="34" charset="0"/>
                <a:ea typeface="Noto Sans CJK JP" pitchFamily="34" charset="-122"/>
                <a:cs typeface="Noto Sans CJK JP" pitchFamily="34" charset="-120"/>
              </a:rPr>
              <a:t>要判断</a:t>
            </a:r>
            <a:endParaRPr lang="ja-JP" sz="1500" dirty="0"/>
          </a:p>
        </p:txBody>
      </p:sp>
      <p:sp>
        <p:nvSpPr>
          <p:cNvPr id="38" name="Text 36"/>
          <p:cNvSpPr/>
          <p:nvPr/>
        </p:nvSpPr>
        <p:spPr>
          <a:xfrm>
            <a:off x="1828800" y="5568696"/>
            <a:ext cx="9500616" cy="274320"/>
          </a:xfrm>
          <a:prstGeom prst="rect">
            <a:avLst/>
          </a:prstGeom>
          <a:noFill/>
          <a:ln/>
        </p:spPr>
        <p:txBody>
          <a:bodyPr wrap="square" lIns="0" tIns="0" rIns="0" bIns="0" rtlCol="0" anchor="ctr"/>
          <a:lstStyle/>
          <a:p>
            <a:pPr indent="0" marL="0">
              <a:buNone/>
            </a:pPr>
            <a:r>
              <a:rPr lang="ja-JP" altLang="en-US" sz="1600" dirty="0">
                <a:solidFill>
                  <a:srgbClr val="25282E"/>
                </a:solidFill>
                <a:latin typeface="Noto Sans CJK JP" pitchFamily="34" charset="0"/>
                <a:ea typeface="Noto Sans CJK JP" pitchFamily="34" charset="-122"/>
                <a:cs typeface="Noto Sans CJK JP" pitchFamily="34" charset="-120"/>
              </a:rPr>
              <a:t>DPS対応の必要／不要、追加要件の扱い、本番リリースの責任範囲</a:t>
            </a:r>
            <a:endParaRPr lang="ja-JP" sz="1600" dirty="0"/>
          </a:p>
        </p:txBody>
      </p:sp>
      <p:sp>
        <p:nvSpPr>
          <p:cNvPr id="39" name="Shape 37"/>
          <p:cNvSpPr/>
          <p:nvPr/>
        </p:nvSpPr>
        <p:spPr>
          <a:xfrm>
            <a:off x="457200" y="6492240"/>
            <a:ext cx="11274552" cy="0"/>
          </a:xfrm>
          <a:prstGeom prst="line">
            <a:avLst/>
          </a:prstGeom>
          <a:noFill/>
          <a:ln w="8890">
            <a:solidFill>
              <a:srgbClr val="DFE1E4"/>
            </a:solidFill>
            <a:prstDash val="solid"/>
            <a:headEnd type="none"/>
            <a:tailEnd type="none"/>
          </a:ln>
        </p:spPr>
      </p:sp>
      <p:sp>
        <p:nvSpPr>
          <p:cNvPr id="40" name="Text 38"/>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41" name="Text 39"/>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42" name="Text 40"/>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04</a:t>
            </a:r>
            <a:endParaRPr lang="ja-JP" sz="1000" dirty="0"/>
          </a:p>
        </p:txBody>
      </p:sp>
      <p:sp>
        <p:nvSpPr>
          <p:cNvPr id="43" name="Text 41"/>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No.2、10、19〜64／WBS「確認事項」C04・C18</a:t>
            </a:r>
            <a:endParaRPr lang="ja-JP"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プロジェクト体制（役割案）</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責任者・担当者・承認ルートを確定する。Omni側の氏名は転記しない</a:t>
            </a:r>
            <a:endParaRPr lang="ja-JP" sz="1340" dirty="0"/>
          </a:p>
        </p:txBody>
      </p:sp>
      <p:sp>
        <p:nvSpPr>
          <p:cNvPr id="6" name="Shape 4"/>
          <p:cNvSpPr/>
          <p:nvPr/>
        </p:nvSpPr>
        <p:spPr>
          <a:xfrm>
            <a:off x="475488" y="1517904"/>
            <a:ext cx="11228832" cy="420624"/>
          </a:xfrm>
          <a:prstGeom prst="rect">
            <a:avLst>
              <a:gd name="adj" fmla="val 17391"/>
            </a:avLst>
          </a:prstGeom>
          <a:solidFill>
            <a:srgbClr val="E51B0B"/>
          </a:solidFill>
          <a:ln w="12700">
            <a:solidFill>
              <a:srgbClr val="E51B0B">
                <a:alpha val="0"/>
              </a:srgbClr>
            </a:solidFill>
            <a:prstDash val="solid"/>
          </a:ln>
        </p:spPr>
      </p:sp>
      <p:sp>
        <p:nvSpPr>
          <p:cNvPr id="7" name="Text 5"/>
          <p:cNvSpPr/>
          <p:nvPr/>
        </p:nvSpPr>
        <p:spPr>
          <a:xfrm>
            <a:off x="685800" y="1581912"/>
            <a:ext cx="10789920" cy="256032"/>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Noto Sans CJK JP" pitchFamily="34" charset="0"/>
                <a:ea typeface="Noto Sans CJK JP" pitchFamily="34" charset="-122"/>
                <a:cs typeface="Noto Sans CJK JP" pitchFamily="34" charset="-120"/>
              </a:rPr>
              <a:t>プロジェクト意思決定・承認</a:t>
            </a:r>
            <a:endParaRPr lang="ja-JP" sz="1800" dirty="0"/>
          </a:p>
        </p:txBody>
      </p:sp>
      <p:sp>
        <p:nvSpPr>
          <p:cNvPr id="8" name="Shape 6"/>
          <p:cNvSpPr/>
          <p:nvPr/>
        </p:nvSpPr>
        <p:spPr>
          <a:xfrm>
            <a:off x="1124712" y="2148840"/>
            <a:ext cx="4041648" cy="704088"/>
          </a:xfrm>
          <a:prstGeom prst="rect">
            <a:avLst>
              <a:gd name="adj" fmla="val 10390"/>
            </a:avLst>
          </a:prstGeom>
          <a:solidFill>
            <a:srgbClr val="FCE7E4"/>
          </a:solidFill>
          <a:ln w="12700">
            <a:solidFill>
              <a:srgbClr val="FCE7E4">
                <a:alpha val="0"/>
              </a:srgbClr>
            </a:solidFill>
            <a:prstDash val="solid"/>
          </a:ln>
        </p:spPr>
      </p:sp>
      <p:sp>
        <p:nvSpPr>
          <p:cNvPr id="9" name="Text 7"/>
          <p:cNvSpPr/>
          <p:nvPr/>
        </p:nvSpPr>
        <p:spPr>
          <a:xfrm>
            <a:off x="1325880" y="2231136"/>
            <a:ext cx="3630168" cy="283464"/>
          </a:xfrm>
          <a:prstGeom prst="rect">
            <a:avLst/>
          </a:prstGeom>
          <a:noFill/>
          <a:ln/>
        </p:spPr>
        <p:txBody>
          <a:bodyPr wrap="square" lIns="0" tIns="0" rIns="0" bIns="0" rtlCol="0" anchor="ctr"/>
          <a:lstStyle/>
          <a:p>
            <a:pPr algn="ctr" indent="0" marL="0">
              <a:buNone/>
            </a:pPr>
            <a:r>
              <a:rPr lang="ja-JP" altLang="en-US" sz="1800" b="1" dirty="0">
                <a:solidFill>
                  <a:srgbClr val="25282E"/>
                </a:solidFill>
                <a:latin typeface="Noto Sans CJK JP" pitchFamily="34" charset="0"/>
                <a:ea typeface="Noto Sans CJK JP" pitchFamily="34" charset="-122"/>
                <a:cs typeface="Noto Sans CJK JP" pitchFamily="34" charset="-120"/>
              </a:rPr>
              <a:t>業務責任者 ／ スポンサー</a:t>
            </a:r>
            <a:endParaRPr lang="ja-JP" sz="1800" dirty="0"/>
          </a:p>
        </p:txBody>
      </p:sp>
      <p:sp>
        <p:nvSpPr>
          <p:cNvPr id="10" name="Text 8"/>
          <p:cNvSpPr/>
          <p:nvPr/>
        </p:nvSpPr>
        <p:spPr>
          <a:xfrm>
            <a:off x="1325880" y="2587752"/>
            <a:ext cx="3630168" cy="173736"/>
          </a:xfrm>
          <a:prstGeom prst="rect">
            <a:avLst/>
          </a:prstGeom>
          <a:noFill/>
          <a:ln/>
        </p:spPr>
        <p:txBody>
          <a:bodyPr wrap="square" lIns="0" tIns="0" rIns="0" bIns="0" rtlCol="0" anchor="ctr"/>
          <a:lstStyle/>
          <a:p>
            <a:pPr algn="ctr" indent="0" marL="0">
              <a:buNone/>
            </a:pPr>
            <a:r>
              <a:rPr lang="ja-JP" altLang="en-US" sz="1200" dirty="0">
                <a:solidFill>
                  <a:srgbClr val="60656D"/>
                </a:solidFill>
                <a:latin typeface="Noto Sans CJK JP" pitchFamily="34" charset="0"/>
                <a:ea typeface="Noto Sans CJK JP" pitchFamily="34" charset="-122"/>
                <a:cs typeface="Noto Sans CJK JP" pitchFamily="34" charset="-120"/>
              </a:rPr>
              <a:t>要確定</a:t>
            </a:r>
            <a:endParaRPr lang="ja-JP" sz="1200" dirty="0"/>
          </a:p>
        </p:txBody>
      </p:sp>
      <p:sp>
        <p:nvSpPr>
          <p:cNvPr id="11" name="Shape 9"/>
          <p:cNvSpPr/>
          <p:nvPr/>
        </p:nvSpPr>
        <p:spPr>
          <a:xfrm>
            <a:off x="7004304" y="2148840"/>
            <a:ext cx="4041648" cy="704088"/>
          </a:xfrm>
          <a:prstGeom prst="rect">
            <a:avLst>
              <a:gd name="adj" fmla="val 10390"/>
            </a:avLst>
          </a:prstGeom>
          <a:solidFill>
            <a:srgbClr val="FCE7E4"/>
          </a:solidFill>
          <a:ln w="12700">
            <a:solidFill>
              <a:srgbClr val="FCE7E4">
                <a:alpha val="0"/>
              </a:srgbClr>
            </a:solidFill>
            <a:prstDash val="solid"/>
          </a:ln>
        </p:spPr>
      </p:sp>
      <p:sp>
        <p:nvSpPr>
          <p:cNvPr id="12" name="Text 10"/>
          <p:cNvSpPr/>
          <p:nvPr/>
        </p:nvSpPr>
        <p:spPr>
          <a:xfrm>
            <a:off x="7205472" y="2231136"/>
            <a:ext cx="3630168" cy="283464"/>
          </a:xfrm>
          <a:prstGeom prst="rect">
            <a:avLst/>
          </a:prstGeom>
          <a:noFill/>
          <a:ln/>
        </p:spPr>
        <p:txBody>
          <a:bodyPr wrap="square" lIns="0" tIns="0" rIns="0" bIns="0" rtlCol="0" anchor="ctr"/>
          <a:lstStyle/>
          <a:p>
            <a:pPr algn="ctr" indent="0" marL="0">
              <a:buNone/>
            </a:pPr>
            <a:r>
              <a:rPr lang="ja-JP" altLang="en-US" sz="1800" b="1" dirty="0">
                <a:solidFill>
                  <a:srgbClr val="25282E"/>
                </a:solidFill>
                <a:latin typeface="Noto Sans CJK JP" pitchFamily="34" charset="0"/>
                <a:ea typeface="Noto Sans CJK JP" pitchFamily="34" charset="-122"/>
                <a:cs typeface="Noto Sans CJK JP" pitchFamily="34" charset="-120"/>
              </a:rPr>
              <a:t>IT責任者 ／ スポンサー</a:t>
            </a:r>
            <a:endParaRPr lang="ja-JP" sz="1800" dirty="0"/>
          </a:p>
        </p:txBody>
      </p:sp>
      <p:sp>
        <p:nvSpPr>
          <p:cNvPr id="13" name="Text 11"/>
          <p:cNvSpPr/>
          <p:nvPr/>
        </p:nvSpPr>
        <p:spPr>
          <a:xfrm>
            <a:off x="7205472" y="2587752"/>
            <a:ext cx="3630168" cy="173736"/>
          </a:xfrm>
          <a:prstGeom prst="rect">
            <a:avLst/>
          </a:prstGeom>
          <a:noFill/>
          <a:ln/>
        </p:spPr>
        <p:txBody>
          <a:bodyPr wrap="square" lIns="0" tIns="0" rIns="0" bIns="0" rtlCol="0" anchor="ctr"/>
          <a:lstStyle/>
          <a:p>
            <a:pPr algn="ctr" indent="0" marL="0">
              <a:buNone/>
            </a:pPr>
            <a:r>
              <a:rPr lang="ja-JP" altLang="en-US" sz="1200" dirty="0">
                <a:solidFill>
                  <a:srgbClr val="60656D"/>
                </a:solidFill>
                <a:latin typeface="Noto Sans CJK JP" pitchFamily="34" charset="0"/>
                <a:ea typeface="Noto Sans CJK JP" pitchFamily="34" charset="-122"/>
                <a:cs typeface="Noto Sans CJK JP" pitchFamily="34" charset="-120"/>
              </a:rPr>
              <a:t>要確定</a:t>
            </a:r>
            <a:endParaRPr lang="ja-JP" sz="1200" dirty="0"/>
          </a:p>
        </p:txBody>
      </p:sp>
      <p:sp>
        <p:nvSpPr>
          <p:cNvPr id="14" name="Shape 12"/>
          <p:cNvSpPr/>
          <p:nvPr/>
        </p:nvSpPr>
        <p:spPr>
          <a:xfrm>
            <a:off x="3145536" y="2852928"/>
            <a:ext cx="0" cy="173736"/>
          </a:xfrm>
          <a:prstGeom prst="line">
            <a:avLst/>
          </a:prstGeom>
          <a:noFill/>
          <a:ln w="12700">
            <a:solidFill>
              <a:srgbClr val="60656D"/>
            </a:solidFill>
            <a:prstDash val="solid"/>
            <a:headEnd type="none"/>
            <a:tailEnd type="none"/>
          </a:ln>
        </p:spPr>
      </p:sp>
      <p:sp>
        <p:nvSpPr>
          <p:cNvPr id="15" name="Shape 13"/>
          <p:cNvSpPr/>
          <p:nvPr/>
        </p:nvSpPr>
        <p:spPr>
          <a:xfrm>
            <a:off x="9025128" y="2852928"/>
            <a:ext cx="0" cy="173736"/>
          </a:xfrm>
          <a:prstGeom prst="line">
            <a:avLst/>
          </a:prstGeom>
          <a:noFill/>
          <a:ln w="12700">
            <a:solidFill>
              <a:srgbClr val="60656D"/>
            </a:solidFill>
            <a:prstDash val="solid"/>
            <a:headEnd type="none"/>
            <a:tailEnd type="none"/>
          </a:ln>
        </p:spPr>
      </p:sp>
      <p:sp>
        <p:nvSpPr>
          <p:cNvPr id="16" name="Shape 14"/>
          <p:cNvSpPr/>
          <p:nvPr/>
        </p:nvSpPr>
        <p:spPr>
          <a:xfrm>
            <a:off x="3145536" y="3026664"/>
            <a:ext cx="5879592" cy="0"/>
          </a:xfrm>
          <a:prstGeom prst="line">
            <a:avLst/>
          </a:prstGeom>
          <a:noFill/>
          <a:ln w="12700">
            <a:solidFill>
              <a:srgbClr val="60656D"/>
            </a:solidFill>
            <a:prstDash val="solid"/>
            <a:headEnd type="none"/>
            <a:tailEnd type="none"/>
          </a:ln>
        </p:spPr>
      </p:sp>
      <p:sp>
        <p:nvSpPr>
          <p:cNvPr id="17" name="Shape 15"/>
          <p:cNvSpPr/>
          <p:nvPr/>
        </p:nvSpPr>
        <p:spPr>
          <a:xfrm>
            <a:off x="6080760" y="3026664"/>
            <a:ext cx="0" cy="155448"/>
          </a:xfrm>
          <a:prstGeom prst="line">
            <a:avLst/>
          </a:prstGeom>
          <a:noFill/>
          <a:ln w="12700">
            <a:solidFill>
              <a:srgbClr val="60656D"/>
            </a:solidFill>
            <a:prstDash val="solid"/>
            <a:headEnd type="none"/>
            <a:tailEnd type="none"/>
          </a:ln>
        </p:spPr>
      </p:sp>
      <p:sp>
        <p:nvSpPr>
          <p:cNvPr id="18" name="Shape 16"/>
          <p:cNvSpPr/>
          <p:nvPr/>
        </p:nvSpPr>
        <p:spPr>
          <a:xfrm>
            <a:off x="3474720" y="3191256"/>
            <a:ext cx="5230368" cy="594360"/>
          </a:xfrm>
          <a:prstGeom prst="rect">
            <a:avLst>
              <a:gd name="adj" fmla="val 12308"/>
            </a:avLst>
          </a:prstGeom>
          <a:solidFill>
            <a:srgbClr val="25282E"/>
          </a:solidFill>
          <a:ln w="12700">
            <a:solidFill>
              <a:srgbClr val="25282E">
                <a:alpha val="0"/>
              </a:srgbClr>
            </a:solidFill>
            <a:prstDash val="solid"/>
          </a:ln>
        </p:spPr>
      </p:sp>
      <p:sp>
        <p:nvSpPr>
          <p:cNvPr id="19" name="Text 17"/>
          <p:cNvSpPr/>
          <p:nvPr/>
        </p:nvSpPr>
        <p:spPr>
          <a:xfrm>
            <a:off x="3657600" y="3346704"/>
            <a:ext cx="4846320" cy="265176"/>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Noto Sans CJK JP" pitchFamily="34" charset="0"/>
                <a:ea typeface="Noto Sans CJK JP" pitchFamily="34" charset="-122"/>
                <a:cs typeface="Noto Sans CJK JP" pitchFamily="34" charset="-120"/>
              </a:rPr>
              <a:t>PM ／ プロジェクト推進（要確定）</a:t>
            </a:r>
            <a:endParaRPr lang="ja-JP" sz="1800" dirty="0"/>
          </a:p>
        </p:txBody>
      </p:sp>
      <p:sp>
        <p:nvSpPr>
          <p:cNvPr id="20" name="Shape 18"/>
          <p:cNvSpPr/>
          <p:nvPr/>
        </p:nvSpPr>
        <p:spPr>
          <a:xfrm>
            <a:off x="6080760" y="3785616"/>
            <a:ext cx="0" cy="173736"/>
          </a:xfrm>
          <a:prstGeom prst="line">
            <a:avLst/>
          </a:prstGeom>
          <a:noFill/>
          <a:ln w="12700">
            <a:solidFill>
              <a:srgbClr val="60656D"/>
            </a:solidFill>
            <a:prstDash val="solid"/>
            <a:headEnd type="none"/>
            <a:tailEnd type="none"/>
          </a:ln>
        </p:spPr>
      </p:sp>
      <p:sp>
        <p:nvSpPr>
          <p:cNvPr id="21" name="Shape 19"/>
          <p:cNvSpPr/>
          <p:nvPr/>
        </p:nvSpPr>
        <p:spPr>
          <a:xfrm>
            <a:off x="1847088" y="3959352"/>
            <a:ext cx="8485632" cy="0"/>
          </a:xfrm>
          <a:prstGeom prst="line">
            <a:avLst/>
          </a:prstGeom>
          <a:noFill/>
          <a:ln w="12700">
            <a:solidFill>
              <a:srgbClr val="60656D"/>
            </a:solidFill>
            <a:prstDash val="solid"/>
            <a:headEnd type="none"/>
            <a:tailEnd type="none"/>
          </a:ln>
        </p:spPr>
      </p:sp>
      <p:sp>
        <p:nvSpPr>
          <p:cNvPr id="22" name="Shape 20"/>
          <p:cNvSpPr/>
          <p:nvPr/>
        </p:nvSpPr>
        <p:spPr>
          <a:xfrm>
            <a:off x="1810512" y="3959352"/>
            <a:ext cx="0" cy="182880"/>
          </a:xfrm>
          <a:prstGeom prst="line">
            <a:avLst/>
          </a:prstGeom>
          <a:noFill/>
          <a:ln w="12700">
            <a:solidFill>
              <a:srgbClr val="60656D"/>
            </a:solidFill>
            <a:prstDash val="solid"/>
            <a:headEnd type="none"/>
            <a:tailEnd type="none"/>
          </a:ln>
        </p:spPr>
      </p:sp>
      <p:sp>
        <p:nvSpPr>
          <p:cNvPr id="23" name="Shape 21"/>
          <p:cNvSpPr/>
          <p:nvPr/>
        </p:nvSpPr>
        <p:spPr>
          <a:xfrm>
            <a:off x="475488" y="4151376"/>
            <a:ext cx="2642616" cy="1463040"/>
          </a:xfrm>
          <a:prstGeom prst="rect">
            <a:avLst>
              <a:gd name="adj" fmla="val 5000"/>
            </a:avLst>
          </a:prstGeom>
          <a:solidFill>
            <a:srgbClr val="F4F4F3"/>
          </a:solidFill>
          <a:ln w="12700">
            <a:solidFill>
              <a:srgbClr val="F4F4F3">
                <a:alpha val="0"/>
              </a:srgbClr>
            </a:solidFill>
            <a:prstDash val="solid"/>
          </a:ln>
        </p:spPr>
      </p:sp>
      <p:sp>
        <p:nvSpPr>
          <p:cNvPr id="24" name="Text 22"/>
          <p:cNvSpPr/>
          <p:nvPr/>
        </p:nvSpPr>
        <p:spPr>
          <a:xfrm>
            <a:off x="585216" y="4306824"/>
            <a:ext cx="2423160" cy="301752"/>
          </a:xfrm>
          <a:prstGeom prst="rect">
            <a:avLst/>
          </a:prstGeom>
          <a:noFill/>
          <a:ln/>
        </p:spPr>
        <p:txBody>
          <a:bodyPr wrap="square" lIns="0" tIns="0" rIns="0" bIns="0" rtlCol="0" anchor="ctr"/>
          <a:lstStyle/>
          <a:p>
            <a:pPr algn="ctr" indent="0" marL="0">
              <a:buNone/>
            </a:pPr>
            <a:r>
              <a:rPr lang="ja-JP" altLang="en-US" sz="1550" b="1" dirty="0">
                <a:solidFill>
                  <a:srgbClr val="E51B0B"/>
                </a:solidFill>
                <a:latin typeface="Noto Sans CJK JP" pitchFamily="34" charset="0"/>
                <a:ea typeface="Noto Sans CJK JP" pitchFamily="34" charset="-122"/>
                <a:cs typeface="Noto Sans CJK JP" pitchFamily="34" charset="-120"/>
              </a:rPr>
              <a:t>業務・データオーナー</a:t>
            </a:r>
            <a:endParaRPr lang="ja-JP" sz="1550" dirty="0"/>
          </a:p>
        </p:txBody>
      </p:sp>
      <p:sp>
        <p:nvSpPr>
          <p:cNvPr id="25" name="Text 23"/>
          <p:cNvSpPr/>
          <p:nvPr/>
        </p:nvSpPr>
        <p:spPr>
          <a:xfrm>
            <a:off x="649224" y="4773168"/>
            <a:ext cx="2295144" cy="667512"/>
          </a:xfrm>
          <a:prstGeom prst="rect">
            <a:avLst/>
          </a:prstGeom>
          <a:noFill/>
          <a:ln/>
        </p:spPr>
        <p:txBody>
          <a:bodyPr wrap="square" lIns="0" tIns="0" rIns="0" bIns="0" rtlCol="0" anchor="t"/>
          <a:lstStyle/>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仕様・項目・SLAの合意</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照合基準・UAT実施</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業務受入の承認</a:t>
            </a:r>
            <a:endParaRPr lang="ja-JP" sz="1330" dirty="0"/>
          </a:p>
        </p:txBody>
      </p:sp>
      <p:sp>
        <p:nvSpPr>
          <p:cNvPr id="26" name="Shape 24"/>
          <p:cNvSpPr/>
          <p:nvPr/>
        </p:nvSpPr>
        <p:spPr>
          <a:xfrm>
            <a:off x="4672584" y="3959352"/>
            <a:ext cx="0" cy="182880"/>
          </a:xfrm>
          <a:prstGeom prst="line">
            <a:avLst/>
          </a:prstGeom>
          <a:noFill/>
          <a:ln w="12700">
            <a:solidFill>
              <a:srgbClr val="60656D"/>
            </a:solidFill>
            <a:prstDash val="solid"/>
            <a:headEnd type="none"/>
            <a:tailEnd type="none"/>
          </a:ln>
        </p:spPr>
      </p:sp>
      <p:sp>
        <p:nvSpPr>
          <p:cNvPr id="27" name="Shape 25"/>
          <p:cNvSpPr/>
          <p:nvPr/>
        </p:nvSpPr>
        <p:spPr>
          <a:xfrm>
            <a:off x="3337560" y="4151376"/>
            <a:ext cx="2642616" cy="1463040"/>
          </a:xfrm>
          <a:prstGeom prst="rect">
            <a:avLst>
              <a:gd name="adj" fmla="val 5000"/>
            </a:avLst>
          </a:prstGeom>
          <a:solidFill>
            <a:srgbClr val="F4F4F3"/>
          </a:solidFill>
          <a:ln w="12700">
            <a:solidFill>
              <a:srgbClr val="F4F4F3">
                <a:alpha val="0"/>
              </a:srgbClr>
            </a:solidFill>
            <a:prstDash val="solid"/>
          </a:ln>
        </p:spPr>
      </p:sp>
      <p:sp>
        <p:nvSpPr>
          <p:cNvPr id="28" name="Text 26"/>
          <p:cNvSpPr/>
          <p:nvPr/>
        </p:nvSpPr>
        <p:spPr>
          <a:xfrm>
            <a:off x="3447288" y="4306824"/>
            <a:ext cx="2423160" cy="301752"/>
          </a:xfrm>
          <a:prstGeom prst="rect">
            <a:avLst/>
          </a:prstGeom>
          <a:noFill/>
          <a:ln/>
        </p:spPr>
        <p:txBody>
          <a:bodyPr wrap="square" lIns="0" tIns="0" rIns="0" bIns="0" rtlCol="0" anchor="ctr"/>
          <a:lstStyle/>
          <a:p>
            <a:pPr algn="ctr" indent="0" marL="0">
              <a:buNone/>
            </a:pPr>
            <a:r>
              <a:rPr lang="ja-JP" altLang="en-US" sz="1550" b="1" dirty="0">
                <a:solidFill>
                  <a:srgbClr val="E51B0B"/>
                </a:solidFill>
                <a:latin typeface="Noto Sans CJK JP" pitchFamily="34" charset="0"/>
                <a:ea typeface="Noto Sans CJK JP" pitchFamily="34" charset="-122"/>
                <a:cs typeface="Noto Sans CJK JP" pitchFamily="34" charset="-120"/>
              </a:rPr>
              <a:t>設計・開発・品質</a:t>
            </a:r>
            <a:endParaRPr lang="ja-JP" sz="1550" dirty="0"/>
          </a:p>
        </p:txBody>
      </p:sp>
      <p:sp>
        <p:nvSpPr>
          <p:cNvPr id="29" name="Text 27"/>
          <p:cNvSpPr/>
          <p:nvPr/>
        </p:nvSpPr>
        <p:spPr>
          <a:xfrm>
            <a:off x="3511296" y="4773168"/>
            <a:ext cx="2295144" cy="667512"/>
          </a:xfrm>
          <a:prstGeom prst="rect">
            <a:avLst/>
          </a:prstGeom>
          <a:noFill/>
          <a:ln/>
        </p:spPr>
        <p:txBody>
          <a:bodyPr wrap="square" lIns="0" tIns="0" rIns="0" bIns="0" rtlCol="0" anchor="t"/>
          <a:lstStyle/>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構成・共通方式の設計</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Notebook／Pipeline開発</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単体・結合テスト</a:t>
            </a:r>
            <a:endParaRPr lang="ja-JP" sz="1330" dirty="0"/>
          </a:p>
        </p:txBody>
      </p:sp>
      <p:sp>
        <p:nvSpPr>
          <p:cNvPr id="30" name="Shape 28"/>
          <p:cNvSpPr/>
          <p:nvPr/>
        </p:nvSpPr>
        <p:spPr>
          <a:xfrm>
            <a:off x="7534656" y="3959352"/>
            <a:ext cx="0" cy="182880"/>
          </a:xfrm>
          <a:prstGeom prst="line">
            <a:avLst/>
          </a:prstGeom>
          <a:noFill/>
          <a:ln w="12700">
            <a:solidFill>
              <a:srgbClr val="60656D"/>
            </a:solidFill>
            <a:prstDash val="solid"/>
            <a:headEnd type="none"/>
            <a:tailEnd type="none"/>
          </a:ln>
        </p:spPr>
      </p:sp>
      <p:sp>
        <p:nvSpPr>
          <p:cNvPr id="31" name="Shape 29"/>
          <p:cNvSpPr/>
          <p:nvPr/>
        </p:nvSpPr>
        <p:spPr>
          <a:xfrm>
            <a:off x="6199632" y="4151376"/>
            <a:ext cx="2642616" cy="1463040"/>
          </a:xfrm>
          <a:prstGeom prst="rect">
            <a:avLst>
              <a:gd name="adj" fmla="val 5000"/>
            </a:avLst>
          </a:prstGeom>
          <a:solidFill>
            <a:srgbClr val="F4F4F3"/>
          </a:solidFill>
          <a:ln w="12700">
            <a:solidFill>
              <a:srgbClr val="F4F4F3">
                <a:alpha val="0"/>
              </a:srgbClr>
            </a:solidFill>
            <a:prstDash val="solid"/>
          </a:ln>
        </p:spPr>
      </p:sp>
      <p:sp>
        <p:nvSpPr>
          <p:cNvPr id="32" name="Text 30"/>
          <p:cNvSpPr/>
          <p:nvPr/>
        </p:nvSpPr>
        <p:spPr>
          <a:xfrm>
            <a:off x="6309360" y="4306824"/>
            <a:ext cx="2423160" cy="301752"/>
          </a:xfrm>
          <a:prstGeom prst="rect">
            <a:avLst/>
          </a:prstGeom>
          <a:noFill/>
          <a:ln/>
        </p:spPr>
        <p:txBody>
          <a:bodyPr wrap="square" lIns="0" tIns="0" rIns="0" bIns="0" rtlCol="0" anchor="ctr"/>
          <a:lstStyle/>
          <a:p>
            <a:pPr algn="ctr" indent="0" marL="0">
              <a:buNone/>
            </a:pPr>
            <a:r>
              <a:rPr lang="ja-JP" altLang="en-US" sz="1550" b="1" dirty="0">
                <a:solidFill>
                  <a:srgbClr val="E51B0B"/>
                </a:solidFill>
                <a:latin typeface="Noto Sans CJK JP" pitchFamily="34" charset="0"/>
                <a:ea typeface="Noto Sans CJK JP" pitchFamily="34" charset="-122"/>
                <a:cs typeface="Noto Sans CJK JP" pitchFamily="34" charset="-120"/>
              </a:rPr>
              <a:t>基盤・連携先管理</a:t>
            </a:r>
            <a:endParaRPr lang="ja-JP" sz="1550" dirty="0"/>
          </a:p>
        </p:txBody>
      </p:sp>
      <p:sp>
        <p:nvSpPr>
          <p:cNvPr id="33" name="Text 31"/>
          <p:cNvSpPr/>
          <p:nvPr/>
        </p:nvSpPr>
        <p:spPr>
          <a:xfrm>
            <a:off x="6373368" y="4773168"/>
            <a:ext cx="2295144" cy="667512"/>
          </a:xfrm>
          <a:prstGeom prst="rect">
            <a:avLst/>
          </a:prstGeom>
          <a:noFill/>
          <a:ln/>
        </p:spPr>
        <p:txBody>
          <a:bodyPr wrap="square" lIns="0" tIns="0" rIns="0" bIns="0" rtlCol="0" anchor="t"/>
          <a:lstStyle/>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DEV／QA／PROD・権限</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既存基盤の変更管理</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Dataverse接続許可</a:t>
            </a:r>
            <a:endParaRPr lang="ja-JP" sz="1330" dirty="0"/>
          </a:p>
        </p:txBody>
      </p:sp>
      <p:sp>
        <p:nvSpPr>
          <p:cNvPr id="34" name="Shape 32"/>
          <p:cNvSpPr/>
          <p:nvPr/>
        </p:nvSpPr>
        <p:spPr>
          <a:xfrm>
            <a:off x="10396728" y="3959352"/>
            <a:ext cx="0" cy="182880"/>
          </a:xfrm>
          <a:prstGeom prst="line">
            <a:avLst/>
          </a:prstGeom>
          <a:noFill/>
          <a:ln w="12700">
            <a:solidFill>
              <a:srgbClr val="60656D"/>
            </a:solidFill>
            <a:prstDash val="solid"/>
            <a:headEnd type="none"/>
            <a:tailEnd type="none"/>
          </a:ln>
        </p:spPr>
      </p:sp>
      <p:sp>
        <p:nvSpPr>
          <p:cNvPr id="35" name="Shape 33"/>
          <p:cNvSpPr/>
          <p:nvPr/>
        </p:nvSpPr>
        <p:spPr>
          <a:xfrm>
            <a:off x="9061704" y="4151376"/>
            <a:ext cx="2642616" cy="1463040"/>
          </a:xfrm>
          <a:prstGeom prst="rect">
            <a:avLst>
              <a:gd name="adj" fmla="val 5000"/>
            </a:avLst>
          </a:prstGeom>
          <a:solidFill>
            <a:srgbClr val="F4F4F3"/>
          </a:solidFill>
          <a:ln w="12700">
            <a:solidFill>
              <a:srgbClr val="F4F4F3">
                <a:alpha val="0"/>
              </a:srgbClr>
            </a:solidFill>
            <a:prstDash val="solid"/>
          </a:ln>
        </p:spPr>
      </p:sp>
      <p:sp>
        <p:nvSpPr>
          <p:cNvPr id="36" name="Text 34"/>
          <p:cNvSpPr/>
          <p:nvPr/>
        </p:nvSpPr>
        <p:spPr>
          <a:xfrm>
            <a:off x="9171432" y="4306824"/>
            <a:ext cx="2423160" cy="301752"/>
          </a:xfrm>
          <a:prstGeom prst="rect">
            <a:avLst/>
          </a:prstGeom>
          <a:noFill/>
          <a:ln/>
        </p:spPr>
        <p:txBody>
          <a:bodyPr wrap="square" lIns="0" tIns="0" rIns="0" bIns="0" rtlCol="0" anchor="ctr"/>
          <a:lstStyle/>
          <a:p>
            <a:pPr algn="ctr" indent="0" marL="0">
              <a:buNone/>
            </a:pPr>
            <a:r>
              <a:rPr lang="ja-JP" altLang="en-US" sz="1550" b="1" dirty="0">
                <a:solidFill>
                  <a:srgbClr val="E51B0B"/>
                </a:solidFill>
                <a:latin typeface="Noto Sans CJK JP" pitchFamily="34" charset="0"/>
                <a:ea typeface="Noto Sans CJK JP" pitchFamily="34" charset="-122"/>
                <a:cs typeface="Noto Sans CJK JP" pitchFamily="34" charset="-120"/>
              </a:rPr>
              <a:t>Datalake運用チーム</a:t>
            </a:r>
            <a:endParaRPr lang="ja-JP" sz="1550" dirty="0"/>
          </a:p>
        </p:txBody>
      </p:sp>
      <p:sp>
        <p:nvSpPr>
          <p:cNvPr id="37" name="Text 35"/>
          <p:cNvSpPr/>
          <p:nvPr/>
        </p:nvSpPr>
        <p:spPr>
          <a:xfrm>
            <a:off x="9235440" y="4773168"/>
            <a:ext cx="2295144" cy="667512"/>
          </a:xfrm>
          <a:prstGeom prst="rect">
            <a:avLst/>
          </a:prstGeom>
          <a:noFill/>
          <a:ln/>
        </p:spPr>
        <p:txBody>
          <a:bodyPr wrap="square" lIns="0" tIns="0" rIns="0" bIns="0" rtlCol="0" anchor="t"/>
          <a:lstStyle/>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運用設計・監視・復旧</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GoldLayerのKT受講</a:t>
            </a:r>
            <a:endParaRPr lang="ja-JP" sz="1330" dirty="0"/>
          </a:p>
          <a:p>
            <a:pPr indent="0" marL="0">
              <a:buNone/>
            </a:pPr>
            <a:r>
              <a:rPr lang="ja-JP" altLang="en-US" sz="1330" dirty="0">
                <a:solidFill>
                  <a:srgbClr val="25282E"/>
                </a:solidFill>
                <a:latin typeface="Noto Sans CJK JP" pitchFamily="34" charset="0"/>
                <a:ea typeface="Noto Sans CJK JP" pitchFamily="34" charset="-122"/>
                <a:cs typeface="Noto Sans CJK JP" pitchFamily="34" charset="-120"/>
              </a:rPr>
              <a:t>運用引継ぎ確認</a:t>
            </a:r>
            <a:endParaRPr lang="ja-JP" sz="1330" dirty="0"/>
          </a:p>
        </p:txBody>
      </p:sp>
      <p:sp>
        <p:nvSpPr>
          <p:cNvPr id="38" name="Text 36"/>
          <p:cNvSpPr/>
          <p:nvPr/>
        </p:nvSpPr>
        <p:spPr>
          <a:xfrm>
            <a:off x="502920" y="5852160"/>
            <a:ext cx="11201400" cy="283464"/>
          </a:xfrm>
          <a:prstGeom prst="rect">
            <a:avLst/>
          </a:prstGeom>
          <a:noFill/>
          <a:ln/>
        </p:spPr>
        <p:txBody>
          <a:bodyPr wrap="square" lIns="0" tIns="0" rIns="0" bIns="0" rtlCol="0" anchor="ctr"/>
          <a:lstStyle/>
          <a:p>
            <a:pPr indent="0" marL="0">
              <a:buNone/>
            </a:pPr>
            <a:r>
              <a:rPr lang="ja-JP" altLang="en-US" sz="1160" dirty="0">
                <a:solidFill>
                  <a:srgbClr val="60656D"/>
                </a:solidFill>
                <a:latin typeface="Noto Sans CJK JP" pitchFamily="34" charset="0"/>
                <a:ea typeface="Noto Sans CJK JP" pitchFamily="34" charset="-122"/>
                <a:cs typeface="Noto Sans CJK JP" pitchFamily="34" charset="-120"/>
              </a:rPr>
              <a:t>元資料の確認先：李さん＝SQL Function／共通Notebook。楊さん参加予定・クレアさん申請中（いずれも再確認）。</a:t>
            </a:r>
            <a:endParaRPr lang="ja-JP" sz="1160" dirty="0"/>
          </a:p>
        </p:txBody>
      </p:sp>
      <p:sp>
        <p:nvSpPr>
          <p:cNvPr id="39" name="Shape 37"/>
          <p:cNvSpPr/>
          <p:nvPr/>
        </p:nvSpPr>
        <p:spPr>
          <a:xfrm>
            <a:off x="457200" y="6492240"/>
            <a:ext cx="11274552" cy="0"/>
          </a:xfrm>
          <a:prstGeom prst="line">
            <a:avLst/>
          </a:prstGeom>
          <a:noFill/>
          <a:ln w="8890">
            <a:solidFill>
              <a:srgbClr val="DFE1E4"/>
            </a:solidFill>
            <a:prstDash val="solid"/>
            <a:headEnd type="none"/>
            <a:tailEnd type="none"/>
          </a:ln>
        </p:spPr>
      </p:sp>
      <p:sp>
        <p:nvSpPr>
          <p:cNvPr id="40" name="Text 38"/>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41" name="Text 39"/>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42" name="Text 40"/>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05</a:t>
            </a:r>
            <a:endParaRPr lang="ja-JP" sz="1000" dirty="0"/>
          </a:p>
        </p:txBody>
      </p:sp>
      <p:sp>
        <p:nvSpPr>
          <p:cNvPr id="43" name="Text 41"/>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No.13、43、47、64／正式な役割・参加状況は未確定</a:t>
            </a:r>
            <a:endParaRPr lang="ja-JP"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スケジュール（WBS案）</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2026/10/19 ～ 2027/03/15  ｜  101タスク  ｜  3/15はKT完了の仮日程であり、本番稼働日ではない</a:t>
            </a:r>
            <a:endParaRPr lang="ja-JP" sz="1340" dirty="0"/>
          </a:p>
        </p:txBody>
      </p:sp>
      <p:sp>
        <p:nvSpPr>
          <p:cNvPr id="6" name="Text 4"/>
          <p:cNvSpPr/>
          <p:nvPr/>
        </p:nvSpPr>
        <p:spPr>
          <a:xfrm>
            <a:off x="493776" y="1499616"/>
            <a:ext cx="1920240" cy="310896"/>
          </a:xfrm>
          <a:prstGeom prst="rect">
            <a:avLst/>
          </a:prstGeom>
          <a:noFill/>
          <a:ln/>
        </p:spPr>
        <p:txBody>
          <a:bodyPr wrap="square" lIns="0" tIns="0" rIns="0" bIns="0" rtlCol="0" anchor="ctr"/>
          <a:lstStyle/>
          <a:p>
            <a:pPr indent="0" marL="0">
              <a:buNone/>
            </a:pPr>
            <a:r>
              <a:rPr lang="ja-JP" altLang="en-US" sz="1350" b="1" dirty="0">
                <a:solidFill>
                  <a:srgbClr val="25282E"/>
                </a:solidFill>
                <a:latin typeface="Noto Sans CJK JP" pitchFamily="34" charset="0"/>
                <a:ea typeface="Noto Sans CJK JP" pitchFamily="34" charset="-122"/>
                <a:cs typeface="Noto Sans CJK JP" pitchFamily="34" charset="-120"/>
              </a:rPr>
              <a:t>工程／件数</a:t>
            </a:r>
            <a:endParaRPr lang="ja-JP" sz="1350" dirty="0"/>
          </a:p>
        </p:txBody>
      </p:sp>
      <p:sp>
        <p:nvSpPr>
          <p:cNvPr id="7" name="Text 5"/>
          <p:cNvSpPr/>
          <p:nvPr/>
        </p:nvSpPr>
        <p:spPr>
          <a:xfrm>
            <a:off x="2386584" y="1499616"/>
            <a:ext cx="1673352" cy="310896"/>
          </a:xfrm>
          <a:prstGeom prst="rect">
            <a:avLst/>
          </a:prstGeom>
          <a:noFill/>
          <a:ln/>
        </p:spPr>
        <p:txBody>
          <a:bodyPr wrap="square" lIns="0" tIns="0" rIns="0" bIns="0" rtlCol="0" anchor="ctr"/>
          <a:lstStyle/>
          <a:p>
            <a:pPr indent="0" marL="0">
              <a:buNone/>
            </a:pPr>
            <a:r>
              <a:rPr lang="ja-JP" altLang="en-US" sz="1350" b="1" dirty="0">
                <a:solidFill>
                  <a:srgbClr val="25282E"/>
                </a:solidFill>
                <a:latin typeface="Noto Sans CJK JP" pitchFamily="34" charset="0"/>
                <a:ea typeface="Noto Sans CJK JP" pitchFamily="34" charset="-122"/>
                <a:cs typeface="Noto Sans CJK JP" pitchFamily="34" charset="-120"/>
              </a:rPr>
              <a:t>予定期間（仮）</a:t>
            </a:r>
            <a:endParaRPr lang="ja-JP" sz="1350" dirty="0"/>
          </a:p>
        </p:txBody>
      </p:sp>
      <p:sp>
        <p:nvSpPr>
          <p:cNvPr id="8" name="Shape 6"/>
          <p:cNvSpPr/>
          <p:nvPr/>
        </p:nvSpPr>
        <p:spPr>
          <a:xfrm>
            <a:off x="4160520" y="1472184"/>
            <a:ext cx="1283375" cy="420624"/>
          </a:xfrm>
          <a:prstGeom prst="rect">
            <a:avLst>
              <a:gd name="adj" fmla="val 17391"/>
            </a:avLst>
          </a:prstGeom>
          <a:solidFill>
            <a:srgbClr val="FCE7E4"/>
          </a:solidFill>
          <a:ln w="12700">
            <a:solidFill>
              <a:srgbClr val="FCE7E4">
                <a:alpha val="0"/>
              </a:srgbClr>
            </a:solidFill>
            <a:prstDash val="solid"/>
          </a:ln>
        </p:spPr>
      </p:sp>
      <p:sp>
        <p:nvSpPr>
          <p:cNvPr id="9" name="Text 7"/>
          <p:cNvSpPr/>
          <p:nvPr/>
        </p:nvSpPr>
        <p:spPr>
          <a:xfrm>
            <a:off x="4197096" y="1545336"/>
            <a:ext cx="1210223"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2026年10月</a:t>
            </a:r>
            <a:endParaRPr lang="ja-JP" sz="1220" dirty="0"/>
          </a:p>
        </p:txBody>
      </p:sp>
      <p:sp>
        <p:nvSpPr>
          <p:cNvPr id="10" name="Shape 8"/>
          <p:cNvSpPr/>
          <p:nvPr/>
        </p:nvSpPr>
        <p:spPr>
          <a:xfrm>
            <a:off x="4160520" y="1929384"/>
            <a:ext cx="0" cy="3310128"/>
          </a:xfrm>
          <a:prstGeom prst="line">
            <a:avLst/>
          </a:prstGeom>
          <a:noFill/>
          <a:ln w="8890">
            <a:solidFill>
              <a:srgbClr val="DFE1E4"/>
            </a:solidFill>
            <a:prstDash val="solid"/>
            <a:headEnd type="none"/>
            <a:tailEnd type="none"/>
          </a:ln>
        </p:spPr>
      </p:sp>
      <p:sp>
        <p:nvSpPr>
          <p:cNvPr id="11" name="Shape 9"/>
          <p:cNvSpPr/>
          <p:nvPr/>
        </p:nvSpPr>
        <p:spPr>
          <a:xfrm>
            <a:off x="5443895" y="1472184"/>
            <a:ext cx="1241976" cy="420624"/>
          </a:xfrm>
          <a:prstGeom prst="rect">
            <a:avLst>
              <a:gd name="adj" fmla="val 17391"/>
            </a:avLst>
          </a:prstGeom>
          <a:solidFill>
            <a:srgbClr val="F4F4F3"/>
          </a:solidFill>
          <a:ln w="12700">
            <a:solidFill>
              <a:srgbClr val="F4F4F3">
                <a:alpha val="0"/>
              </a:srgbClr>
            </a:solidFill>
            <a:prstDash val="solid"/>
          </a:ln>
        </p:spPr>
      </p:sp>
      <p:sp>
        <p:nvSpPr>
          <p:cNvPr id="12" name="Text 10"/>
          <p:cNvSpPr/>
          <p:nvPr/>
        </p:nvSpPr>
        <p:spPr>
          <a:xfrm>
            <a:off x="5480471" y="1545336"/>
            <a:ext cx="1168824"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11月</a:t>
            </a:r>
            <a:endParaRPr lang="ja-JP" sz="1220" dirty="0"/>
          </a:p>
        </p:txBody>
      </p:sp>
      <p:sp>
        <p:nvSpPr>
          <p:cNvPr id="13" name="Shape 11"/>
          <p:cNvSpPr/>
          <p:nvPr/>
        </p:nvSpPr>
        <p:spPr>
          <a:xfrm>
            <a:off x="5443895" y="1929384"/>
            <a:ext cx="0" cy="3310128"/>
          </a:xfrm>
          <a:prstGeom prst="line">
            <a:avLst/>
          </a:prstGeom>
          <a:noFill/>
          <a:ln w="8890">
            <a:solidFill>
              <a:srgbClr val="DFE1E4"/>
            </a:solidFill>
            <a:prstDash val="solid"/>
            <a:headEnd type="none"/>
            <a:tailEnd type="none"/>
          </a:ln>
        </p:spPr>
      </p:sp>
      <p:sp>
        <p:nvSpPr>
          <p:cNvPr id="14" name="Shape 12"/>
          <p:cNvSpPr/>
          <p:nvPr/>
        </p:nvSpPr>
        <p:spPr>
          <a:xfrm>
            <a:off x="6685872" y="1472184"/>
            <a:ext cx="1283375" cy="420624"/>
          </a:xfrm>
          <a:prstGeom prst="rect">
            <a:avLst>
              <a:gd name="adj" fmla="val 17391"/>
            </a:avLst>
          </a:prstGeom>
          <a:solidFill>
            <a:srgbClr val="FCE7E4"/>
          </a:solidFill>
          <a:ln w="12700">
            <a:solidFill>
              <a:srgbClr val="FCE7E4">
                <a:alpha val="0"/>
              </a:srgbClr>
            </a:solidFill>
            <a:prstDash val="solid"/>
          </a:ln>
        </p:spPr>
      </p:sp>
      <p:sp>
        <p:nvSpPr>
          <p:cNvPr id="15" name="Text 13"/>
          <p:cNvSpPr/>
          <p:nvPr/>
        </p:nvSpPr>
        <p:spPr>
          <a:xfrm>
            <a:off x="6722448" y="1545336"/>
            <a:ext cx="1210223"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12月</a:t>
            </a:r>
            <a:endParaRPr lang="ja-JP" sz="1220" dirty="0"/>
          </a:p>
        </p:txBody>
      </p:sp>
      <p:sp>
        <p:nvSpPr>
          <p:cNvPr id="16" name="Shape 14"/>
          <p:cNvSpPr/>
          <p:nvPr/>
        </p:nvSpPr>
        <p:spPr>
          <a:xfrm>
            <a:off x="6685872" y="1929384"/>
            <a:ext cx="0" cy="3310128"/>
          </a:xfrm>
          <a:prstGeom prst="line">
            <a:avLst/>
          </a:prstGeom>
          <a:noFill/>
          <a:ln w="8890">
            <a:solidFill>
              <a:srgbClr val="DFE1E4"/>
            </a:solidFill>
            <a:prstDash val="solid"/>
            <a:headEnd type="none"/>
            <a:tailEnd type="none"/>
          </a:ln>
        </p:spPr>
      </p:sp>
      <p:sp>
        <p:nvSpPr>
          <p:cNvPr id="17" name="Shape 15"/>
          <p:cNvSpPr/>
          <p:nvPr/>
        </p:nvSpPr>
        <p:spPr>
          <a:xfrm>
            <a:off x="7969247" y="1472184"/>
            <a:ext cx="1283375" cy="420624"/>
          </a:xfrm>
          <a:prstGeom prst="rect">
            <a:avLst>
              <a:gd name="adj" fmla="val 17391"/>
            </a:avLst>
          </a:prstGeom>
          <a:solidFill>
            <a:srgbClr val="F4F4F3"/>
          </a:solidFill>
          <a:ln w="12700">
            <a:solidFill>
              <a:srgbClr val="F4F4F3">
                <a:alpha val="0"/>
              </a:srgbClr>
            </a:solidFill>
            <a:prstDash val="solid"/>
          </a:ln>
        </p:spPr>
      </p:sp>
      <p:sp>
        <p:nvSpPr>
          <p:cNvPr id="18" name="Text 16"/>
          <p:cNvSpPr/>
          <p:nvPr/>
        </p:nvSpPr>
        <p:spPr>
          <a:xfrm>
            <a:off x="8005823" y="1545336"/>
            <a:ext cx="1210223"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2027年1月</a:t>
            </a:r>
            <a:endParaRPr lang="ja-JP" sz="1220" dirty="0"/>
          </a:p>
        </p:txBody>
      </p:sp>
      <p:sp>
        <p:nvSpPr>
          <p:cNvPr id="19" name="Shape 17"/>
          <p:cNvSpPr/>
          <p:nvPr/>
        </p:nvSpPr>
        <p:spPr>
          <a:xfrm>
            <a:off x="7969247" y="1929384"/>
            <a:ext cx="0" cy="3310128"/>
          </a:xfrm>
          <a:prstGeom prst="line">
            <a:avLst/>
          </a:prstGeom>
          <a:noFill/>
          <a:ln w="8890">
            <a:solidFill>
              <a:srgbClr val="DFE1E4"/>
            </a:solidFill>
            <a:prstDash val="solid"/>
            <a:headEnd type="none"/>
            <a:tailEnd type="none"/>
          </a:ln>
        </p:spPr>
      </p:sp>
      <p:sp>
        <p:nvSpPr>
          <p:cNvPr id="20" name="Shape 18"/>
          <p:cNvSpPr/>
          <p:nvPr/>
        </p:nvSpPr>
        <p:spPr>
          <a:xfrm>
            <a:off x="9252623" y="1472184"/>
            <a:ext cx="1159178" cy="420624"/>
          </a:xfrm>
          <a:prstGeom prst="rect">
            <a:avLst>
              <a:gd name="adj" fmla="val 17391"/>
            </a:avLst>
          </a:prstGeom>
          <a:solidFill>
            <a:srgbClr val="FCE7E4"/>
          </a:solidFill>
          <a:ln w="12700">
            <a:solidFill>
              <a:srgbClr val="FCE7E4">
                <a:alpha val="0"/>
              </a:srgbClr>
            </a:solidFill>
            <a:prstDash val="solid"/>
          </a:ln>
        </p:spPr>
      </p:sp>
      <p:sp>
        <p:nvSpPr>
          <p:cNvPr id="21" name="Text 19"/>
          <p:cNvSpPr/>
          <p:nvPr/>
        </p:nvSpPr>
        <p:spPr>
          <a:xfrm>
            <a:off x="9289199" y="1545336"/>
            <a:ext cx="1086026"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2月</a:t>
            </a:r>
            <a:endParaRPr lang="ja-JP" sz="1220" dirty="0"/>
          </a:p>
        </p:txBody>
      </p:sp>
      <p:sp>
        <p:nvSpPr>
          <p:cNvPr id="22" name="Shape 20"/>
          <p:cNvSpPr/>
          <p:nvPr/>
        </p:nvSpPr>
        <p:spPr>
          <a:xfrm>
            <a:off x="9252623" y="1929384"/>
            <a:ext cx="0" cy="3310128"/>
          </a:xfrm>
          <a:prstGeom prst="line">
            <a:avLst/>
          </a:prstGeom>
          <a:noFill/>
          <a:ln w="8890">
            <a:solidFill>
              <a:srgbClr val="DFE1E4"/>
            </a:solidFill>
            <a:prstDash val="solid"/>
            <a:headEnd type="none"/>
            <a:tailEnd type="none"/>
          </a:ln>
        </p:spPr>
      </p:sp>
      <p:sp>
        <p:nvSpPr>
          <p:cNvPr id="23" name="Shape 21"/>
          <p:cNvSpPr/>
          <p:nvPr/>
        </p:nvSpPr>
        <p:spPr>
          <a:xfrm>
            <a:off x="10411801" y="1472184"/>
            <a:ext cx="1283375" cy="420624"/>
          </a:xfrm>
          <a:prstGeom prst="rect">
            <a:avLst>
              <a:gd name="adj" fmla="val 17391"/>
            </a:avLst>
          </a:prstGeom>
          <a:solidFill>
            <a:srgbClr val="F4F4F3"/>
          </a:solidFill>
          <a:ln w="12700">
            <a:solidFill>
              <a:srgbClr val="F4F4F3">
                <a:alpha val="0"/>
              </a:srgbClr>
            </a:solidFill>
            <a:prstDash val="solid"/>
          </a:ln>
        </p:spPr>
      </p:sp>
      <p:sp>
        <p:nvSpPr>
          <p:cNvPr id="24" name="Text 22"/>
          <p:cNvSpPr/>
          <p:nvPr/>
        </p:nvSpPr>
        <p:spPr>
          <a:xfrm>
            <a:off x="10448377" y="1545336"/>
            <a:ext cx="1210223" cy="228600"/>
          </a:xfrm>
          <a:prstGeom prst="rect">
            <a:avLst/>
          </a:prstGeom>
          <a:noFill/>
          <a:ln/>
        </p:spPr>
        <p:txBody>
          <a:bodyPr wrap="square" lIns="0" tIns="0" rIns="0" bIns="0" rtlCol="0" anchor="ctr"/>
          <a:lstStyle/>
          <a:p>
            <a:pPr algn="ctr" indent="0" marL="0">
              <a:buNone/>
            </a:pPr>
            <a:r>
              <a:rPr lang="ja-JP" altLang="en-US" sz="1220" b="1" dirty="0">
                <a:solidFill>
                  <a:srgbClr val="25282E"/>
                </a:solidFill>
                <a:latin typeface="Noto Sans CJK JP" pitchFamily="34" charset="0"/>
                <a:ea typeface="Noto Sans CJK JP" pitchFamily="34" charset="-122"/>
                <a:cs typeface="Noto Sans CJK JP" pitchFamily="34" charset="-120"/>
              </a:rPr>
              <a:t>3月</a:t>
            </a:r>
            <a:endParaRPr lang="ja-JP" sz="1220" dirty="0"/>
          </a:p>
        </p:txBody>
      </p:sp>
      <p:sp>
        <p:nvSpPr>
          <p:cNvPr id="25" name="Shape 23"/>
          <p:cNvSpPr/>
          <p:nvPr/>
        </p:nvSpPr>
        <p:spPr>
          <a:xfrm>
            <a:off x="10411801" y="1929384"/>
            <a:ext cx="0" cy="3310128"/>
          </a:xfrm>
          <a:prstGeom prst="line">
            <a:avLst/>
          </a:prstGeom>
          <a:noFill/>
          <a:ln w="8890">
            <a:solidFill>
              <a:srgbClr val="DFE1E4"/>
            </a:solidFill>
            <a:prstDash val="solid"/>
            <a:headEnd type="none"/>
            <a:tailEnd type="none"/>
          </a:ln>
        </p:spPr>
      </p:sp>
      <p:sp>
        <p:nvSpPr>
          <p:cNvPr id="26" name="Shape 24"/>
          <p:cNvSpPr/>
          <p:nvPr/>
        </p:nvSpPr>
        <p:spPr>
          <a:xfrm>
            <a:off x="475488" y="2368296"/>
            <a:ext cx="11228832" cy="0"/>
          </a:xfrm>
          <a:prstGeom prst="line">
            <a:avLst/>
          </a:prstGeom>
          <a:noFill/>
          <a:ln w="6350">
            <a:solidFill>
              <a:srgbClr val="DFE1E4"/>
            </a:solidFill>
            <a:prstDash val="solid"/>
            <a:headEnd type="none"/>
            <a:tailEnd type="none"/>
          </a:ln>
        </p:spPr>
      </p:sp>
      <p:sp>
        <p:nvSpPr>
          <p:cNvPr id="27" name="Text 25"/>
          <p:cNvSpPr/>
          <p:nvPr/>
        </p:nvSpPr>
        <p:spPr>
          <a:xfrm>
            <a:off x="521208" y="1993392"/>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準備</a:t>
            </a:r>
            <a:endParaRPr lang="ja-JP" sz="1480" dirty="0"/>
          </a:p>
        </p:txBody>
      </p:sp>
      <p:sp>
        <p:nvSpPr>
          <p:cNvPr id="28" name="Text 26"/>
          <p:cNvSpPr/>
          <p:nvPr/>
        </p:nvSpPr>
        <p:spPr>
          <a:xfrm>
            <a:off x="1865376" y="1993392"/>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12件</a:t>
            </a:r>
            <a:endParaRPr lang="ja-JP" sz="1130" dirty="0"/>
          </a:p>
        </p:txBody>
      </p:sp>
      <p:sp>
        <p:nvSpPr>
          <p:cNvPr id="29" name="Text 27"/>
          <p:cNvSpPr/>
          <p:nvPr/>
        </p:nvSpPr>
        <p:spPr>
          <a:xfrm>
            <a:off x="2459736" y="1993392"/>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10/19 ～ 11/02</a:t>
            </a:r>
            <a:endParaRPr lang="ja-JP" sz="1260" dirty="0"/>
          </a:p>
        </p:txBody>
      </p:sp>
      <p:sp>
        <p:nvSpPr>
          <p:cNvPr id="30" name="Shape 28"/>
          <p:cNvSpPr/>
          <p:nvPr/>
        </p:nvSpPr>
        <p:spPr>
          <a:xfrm>
            <a:off x="4905706" y="2048256"/>
            <a:ext cx="620737" cy="201168"/>
          </a:xfrm>
          <a:prstGeom prst="rect">
            <a:avLst>
              <a:gd name="adj" fmla="val 36364"/>
            </a:avLst>
          </a:prstGeom>
          <a:solidFill>
            <a:srgbClr val="F8D1CC"/>
          </a:solidFill>
          <a:ln w="12700">
            <a:solidFill>
              <a:srgbClr val="F8D1CC">
                <a:alpha val="0"/>
              </a:srgbClr>
            </a:solidFill>
            <a:prstDash val="solid"/>
          </a:ln>
        </p:spPr>
      </p:sp>
      <p:sp>
        <p:nvSpPr>
          <p:cNvPr id="31" name="Shape 29"/>
          <p:cNvSpPr/>
          <p:nvPr/>
        </p:nvSpPr>
        <p:spPr>
          <a:xfrm>
            <a:off x="475488" y="2775204"/>
            <a:ext cx="11228832" cy="0"/>
          </a:xfrm>
          <a:prstGeom prst="line">
            <a:avLst/>
          </a:prstGeom>
          <a:noFill/>
          <a:ln w="6350">
            <a:solidFill>
              <a:srgbClr val="DFE1E4"/>
            </a:solidFill>
            <a:prstDash val="solid"/>
            <a:headEnd type="none"/>
            <a:tailEnd type="none"/>
          </a:ln>
        </p:spPr>
      </p:sp>
      <p:sp>
        <p:nvSpPr>
          <p:cNvPr id="32" name="Text 30"/>
          <p:cNvSpPr/>
          <p:nvPr/>
        </p:nvSpPr>
        <p:spPr>
          <a:xfrm>
            <a:off x="521208" y="2400300"/>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要件・設計</a:t>
            </a:r>
            <a:endParaRPr lang="ja-JP" sz="1480" dirty="0"/>
          </a:p>
        </p:txBody>
      </p:sp>
      <p:sp>
        <p:nvSpPr>
          <p:cNvPr id="33" name="Text 31"/>
          <p:cNvSpPr/>
          <p:nvPr/>
        </p:nvSpPr>
        <p:spPr>
          <a:xfrm>
            <a:off x="1865376" y="2400300"/>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17件</a:t>
            </a:r>
            <a:endParaRPr lang="ja-JP" sz="1130" dirty="0"/>
          </a:p>
        </p:txBody>
      </p:sp>
      <p:sp>
        <p:nvSpPr>
          <p:cNvPr id="34" name="Text 32"/>
          <p:cNvSpPr/>
          <p:nvPr/>
        </p:nvSpPr>
        <p:spPr>
          <a:xfrm>
            <a:off x="2459736" y="2400300"/>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11/03 ～ 12/07</a:t>
            </a:r>
            <a:endParaRPr lang="ja-JP" sz="1260" dirty="0"/>
          </a:p>
        </p:txBody>
      </p:sp>
      <p:sp>
        <p:nvSpPr>
          <p:cNvPr id="35" name="Shape 33"/>
          <p:cNvSpPr/>
          <p:nvPr/>
        </p:nvSpPr>
        <p:spPr>
          <a:xfrm>
            <a:off x="5526694" y="2455164"/>
            <a:ext cx="1448721" cy="201168"/>
          </a:xfrm>
          <a:prstGeom prst="rect">
            <a:avLst>
              <a:gd name="adj" fmla="val 36364"/>
            </a:avLst>
          </a:prstGeom>
          <a:solidFill>
            <a:srgbClr val="F8D1CC"/>
          </a:solidFill>
          <a:ln w="12700">
            <a:solidFill>
              <a:srgbClr val="F8D1CC">
                <a:alpha val="0"/>
              </a:srgbClr>
            </a:solidFill>
            <a:prstDash val="solid"/>
          </a:ln>
        </p:spPr>
      </p:sp>
      <p:sp>
        <p:nvSpPr>
          <p:cNvPr id="36" name="Shape 34"/>
          <p:cNvSpPr/>
          <p:nvPr/>
        </p:nvSpPr>
        <p:spPr>
          <a:xfrm>
            <a:off x="475488" y="3182112"/>
            <a:ext cx="11228832" cy="0"/>
          </a:xfrm>
          <a:prstGeom prst="line">
            <a:avLst/>
          </a:prstGeom>
          <a:noFill/>
          <a:ln w="6350">
            <a:solidFill>
              <a:srgbClr val="DFE1E4"/>
            </a:solidFill>
            <a:prstDash val="solid"/>
            <a:headEnd type="none"/>
            <a:tailEnd type="none"/>
          </a:ln>
        </p:spPr>
      </p:sp>
      <p:sp>
        <p:nvSpPr>
          <p:cNvPr id="37" name="Text 35"/>
          <p:cNvSpPr/>
          <p:nvPr/>
        </p:nvSpPr>
        <p:spPr>
          <a:xfrm>
            <a:off x="521208" y="2807208"/>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事前検証</a:t>
            </a:r>
            <a:endParaRPr lang="ja-JP" sz="1480" dirty="0"/>
          </a:p>
        </p:txBody>
      </p:sp>
      <p:sp>
        <p:nvSpPr>
          <p:cNvPr id="38" name="Text 36"/>
          <p:cNvSpPr/>
          <p:nvPr/>
        </p:nvSpPr>
        <p:spPr>
          <a:xfrm>
            <a:off x="1865376" y="2807208"/>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7件</a:t>
            </a:r>
            <a:endParaRPr lang="ja-JP" sz="1130" dirty="0"/>
          </a:p>
        </p:txBody>
      </p:sp>
      <p:sp>
        <p:nvSpPr>
          <p:cNvPr id="39" name="Text 37"/>
          <p:cNvSpPr/>
          <p:nvPr/>
        </p:nvSpPr>
        <p:spPr>
          <a:xfrm>
            <a:off x="2459736" y="2807208"/>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11/12 ～ 11/19</a:t>
            </a:r>
            <a:endParaRPr lang="ja-JP" sz="1260" dirty="0"/>
          </a:p>
        </p:txBody>
      </p:sp>
      <p:sp>
        <p:nvSpPr>
          <p:cNvPr id="40" name="Shape 38"/>
          <p:cNvSpPr/>
          <p:nvPr/>
        </p:nvSpPr>
        <p:spPr>
          <a:xfrm>
            <a:off x="5899287" y="2862072"/>
            <a:ext cx="330942" cy="201168"/>
          </a:xfrm>
          <a:prstGeom prst="rect">
            <a:avLst>
              <a:gd name="adj" fmla="val 36364"/>
            </a:avLst>
          </a:prstGeom>
          <a:solidFill>
            <a:srgbClr val="E51B0B"/>
          </a:solidFill>
          <a:ln w="12700">
            <a:solidFill>
              <a:srgbClr val="E51B0B">
                <a:alpha val="0"/>
              </a:srgbClr>
            </a:solidFill>
            <a:prstDash val="solid"/>
          </a:ln>
        </p:spPr>
      </p:sp>
      <p:sp>
        <p:nvSpPr>
          <p:cNvPr id="41" name="Shape 39"/>
          <p:cNvSpPr/>
          <p:nvPr/>
        </p:nvSpPr>
        <p:spPr>
          <a:xfrm>
            <a:off x="475488" y="3589020"/>
            <a:ext cx="11228832" cy="0"/>
          </a:xfrm>
          <a:prstGeom prst="line">
            <a:avLst/>
          </a:prstGeom>
          <a:noFill/>
          <a:ln w="6350">
            <a:solidFill>
              <a:srgbClr val="DFE1E4"/>
            </a:solidFill>
            <a:prstDash val="solid"/>
            <a:headEnd type="none"/>
            <a:tailEnd type="none"/>
          </a:ln>
        </p:spPr>
      </p:sp>
      <p:sp>
        <p:nvSpPr>
          <p:cNvPr id="42" name="Text 40"/>
          <p:cNvSpPr/>
          <p:nvPr/>
        </p:nvSpPr>
        <p:spPr>
          <a:xfrm>
            <a:off x="521208" y="3214116"/>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開発</a:t>
            </a:r>
            <a:endParaRPr lang="ja-JP" sz="1480" dirty="0"/>
          </a:p>
        </p:txBody>
      </p:sp>
      <p:sp>
        <p:nvSpPr>
          <p:cNvPr id="43" name="Text 41"/>
          <p:cNvSpPr/>
          <p:nvPr/>
        </p:nvSpPr>
        <p:spPr>
          <a:xfrm>
            <a:off x="1865376" y="3214116"/>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32件</a:t>
            </a:r>
            <a:endParaRPr lang="ja-JP" sz="1130" dirty="0"/>
          </a:p>
        </p:txBody>
      </p:sp>
      <p:sp>
        <p:nvSpPr>
          <p:cNvPr id="44" name="Text 42"/>
          <p:cNvSpPr/>
          <p:nvPr/>
        </p:nvSpPr>
        <p:spPr>
          <a:xfrm>
            <a:off x="2459736" y="3214116"/>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11/16 ～ 01/22</a:t>
            </a:r>
            <a:endParaRPr lang="ja-JP" sz="1260" dirty="0"/>
          </a:p>
        </p:txBody>
      </p:sp>
      <p:sp>
        <p:nvSpPr>
          <p:cNvPr id="45" name="Shape 43"/>
          <p:cNvSpPr/>
          <p:nvPr/>
        </p:nvSpPr>
        <p:spPr>
          <a:xfrm>
            <a:off x="6064884" y="3268980"/>
            <a:ext cx="2814895" cy="201168"/>
          </a:xfrm>
          <a:prstGeom prst="rect">
            <a:avLst>
              <a:gd name="adj" fmla="val 36364"/>
            </a:avLst>
          </a:prstGeom>
          <a:solidFill>
            <a:srgbClr val="E51B0B"/>
          </a:solidFill>
          <a:ln w="12700">
            <a:solidFill>
              <a:srgbClr val="E51B0B">
                <a:alpha val="0"/>
              </a:srgbClr>
            </a:solidFill>
            <a:prstDash val="solid"/>
          </a:ln>
        </p:spPr>
      </p:sp>
      <p:sp>
        <p:nvSpPr>
          <p:cNvPr id="46" name="Shape 44"/>
          <p:cNvSpPr/>
          <p:nvPr/>
        </p:nvSpPr>
        <p:spPr>
          <a:xfrm>
            <a:off x="475488" y="3995928"/>
            <a:ext cx="11228832" cy="0"/>
          </a:xfrm>
          <a:prstGeom prst="line">
            <a:avLst/>
          </a:prstGeom>
          <a:noFill/>
          <a:ln w="6350">
            <a:solidFill>
              <a:srgbClr val="DFE1E4"/>
            </a:solidFill>
            <a:prstDash val="solid"/>
            <a:headEnd type="none"/>
            <a:tailEnd type="none"/>
          </a:ln>
        </p:spPr>
      </p:sp>
      <p:sp>
        <p:nvSpPr>
          <p:cNvPr id="47" name="Text 45"/>
          <p:cNvSpPr/>
          <p:nvPr/>
        </p:nvSpPr>
        <p:spPr>
          <a:xfrm>
            <a:off x="521208" y="3621024"/>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単体テスト</a:t>
            </a:r>
            <a:endParaRPr lang="ja-JP" sz="1480" dirty="0"/>
          </a:p>
        </p:txBody>
      </p:sp>
      <p:sp>
        <p:nvSpPr>
          <p:cNvPr id="48" name="Text 46"/>
          <p:cNvSpPr/>
          <p:nvPr/>
        </p:nvSpPr>
        <p:spPr>
          <a:xfrm>
            <a:off x="1865376" y="3621024"/>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14件</a:t>
            </a:r>
            <a:endParaRPr lang="ja-JP" sz="1130" dirty="0"/>
          </a:p>
        </p:txBody>
      </p:sp>
      <p:sp>
        <p:nvSpPr>
          <p:cNvPr id="49" name="Text 47"/>
          <p:cNvSpPr/>
          <p:nvPr/>
        </p:nvSpPr>
        <p:spPr>
          <a:xfrm>
            <a:off x="2459736" y="3621024"/>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12/08 ～ 01/20</a:t>
            </a:r>
            <a:endParaRPr lang="ja-JP" sz="1260" dirty="0"/>
          </a:p>
        </p:txBody>
      </p:sp>
      <p:sp>
        <p:nvSpPr>
          <p:cNvPr id="50" name="Shape 48"/>
          <p:cNvSpPr/>
          <p:nvPr/>
        </p:nvSpPr>
        <p:spPr>
          <a:xfrm>
            <a:off x="6975666" y="3675888"/>
            <a:ext cx="1821314" cy="201168"/>
          </a:xfrm>
          <a:prstGeom prst="rect">
            <a:avLst>
              <a:gd name="adj" fmla="val 36364"/>
            </a:avLst>
          </a:prstGeom>
          <a:solidFill>
            <a:srgbClr val="60656D"/>
          </a:solidFill>
          <a:ln w="12700">
            <a:solidFill>
              <a:srgbClr val="60656D">
                <a:alpha val="0"/>
              </a:srgbClr>
            </a:solidFill>
            <a:prstDash val="solid"/>
          </a:ln>
        </p:spPr>
      </p:sp>
      <p:sp>
        <p:nvSpPr>
          <p:cNvPr id="51" name="Shape 49"/>
          <p:cNvSpPr/>
          <p:nvPr/>
        </p:nvSpPr>
        <p:spPr>
          <a:xfrm>
            <a:off x="475488" y="4402836"/>
            <a:ext cx="11228832" cy="0"/>
          </a:xfrm>
          <a:prstGeom prst="line">
            <a:avLst/>
          </a:prstGeom>
          <a:noFill/>
          <a:ln w="6350">
            <a:solidFill>
              <a:srgbClr val="DFE1E4"/>
            </a:solidFill>
            <a:prstDash val="solid"/>
            <a:headEnd type="none"/>
            <a:tailEnd type="none"/>
          </a:ln>
        </p:spPr>
      </p:sp>
      <p:sp>
        <p:nvSpPr>
          <p:cNvPr id="52" name="Text 50"/>
          <p:cNvSpPr/>
          <p:nvPr/>
        </p:nvSpPr>
        <p:spPr>
          <a:xfrm>
            <a:off x="521208" y="4027932"/>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結合テスト</a:t>
            </a:r>
            <a:endParaRPr lang="ja-JP" sz="1480" dirty="0"/>
          </a:p>
        </p:txBody>
      </p:sp>
      <p:sp>
        <p:nvSpPr>
          <p:cNvPr id="53" name="Text 51"/>
          <p:cNvSpPr/>
          <p:nvPr/>
        </p:nvSpPr>
        <p:spPr>
          <a:xfrm>
            <a:off x="1865376" y="4027932"/>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9件</a:t>
            </a:r>
            <a:endParaRPr lang="ja-JP" sz="1130" dirty="0"/>
          </a:p>
        </p:txBody>
      </p:sp>
      <p:sp>
        <p:nvSpPr>
          <p:cNvPr id="54" name="Text 52"/>
          <p:cNvSpPr/>
          <p:nvPr/>
        </p:nvSpPr>
        <p:spPr>
          <a:xfrm>
            <a:off x="2459736" y="4027932"/>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01/25 ～ 02/23</a:t>
            </a:r>
            <a:endParaRPr lang="ja-JP" sz="1260" dirty="0"/>
          </a:p>
        </p:txBody>
      </p:sp>
      <p:sp>
        <p:nvSpPr>
          <p:cNvPr id="55" name="Shape 53"/>
          <p:cNvSpPr/>
          <p:nvPr/>
        </p:nvSpPr>
        <p:spPr>
          <a:xfrm>
            <a:off x="8962828" y="4082796"/>
            <a:ext cx="1241725" cy="201168"/>
          </a:xfrm>
          <a:prstGeom prst="rect">
            <a:avLst>
              <a:gd name="adj" fmla="val 36364"/>
            </a:avLst>
          </a:prstGeom>
          <a:solidFill>
            <a:srgbClr val="60656D"/>
          </a:solidFill>
          <a:ln w="12700">
            <a:solidFill>
              <a:srgbClr val="60656D">
                <a:alpha val="0"/>
              </a:srgbClr>
            </a:solidFill>
            <a:prstDash val="solid"/>
          </a:ln>
        </p:spPr>
      </p:sp>
      <p:sp>
        <p:nvSpPr>
          <p:cNvPr id="56" name="Shape 54"/>
          <p:cNvSpPr/>
          <p:nvPr/>
        </p:nvSpPr>
        <p:spPr>
          <a:xfrm>
            <a:off x="475488" y="4809744"/>
            <a:ext cx="11228832" cy="0"/>
          </a:xfrm>
          <a:prstGeom prst="line">
            <a:avLst/>
          </a:prstGeom>
          <a:noFill/>
          <a:ln w="6350">
            <a:solidFill>
              <a:srgbClr val="DFE1E4"/>
            </a:solidFill>
            <a:prstDash val="solid"/>
            <a:headEnd type="none"/>
            <a:tailEnd type="none"/>
          </a:ln>
        </p:spPr>
      </p:sp>
      <p:sp>
        <p:nvSpPr>
          <p:cNvPr id="57" name="Text 55"/>
          <p:cNvSpPr/>
          <p:nvPr/>
        </p:nvSpPr>
        <p:spPr>
          <a:xfrm>
            <a:off x="521208" y="4434840"/>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UAT</a:t>
            </a:r>
            <a:endParaRPr lang="ja-JP" sz="1480" dirty="0"/>
          </a:p>
        </p:txBody>
      </p:sp>
      <p:sp>
        <p:nvSpPr>
          <p:cNvPr id="58" name="Text 56"/>
          <p:cNvSpPr/>
          <p:nvPr/>
        </p:nvSpPr>
        <p:spPr>
          <a:xfrm>
            <a:off x="1865376" y="4434840"/>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7件</a:t>
            </a:r>
            <a:endParaRPr lang="ja-JP" sz="1130" dirty="0"/>
          </a:p>
        </p:txBody>
      </p:sp>
      <p:sp>
        <p:nvSpPr>
          <p:cNvPr id="59" name="Text 57"/>
          <p:cNvSpPr/>
          <p:nvPr/>
        </p:nvSpPr>
        <p:spPr>
          <a:xfrm>
            <a:off x="2459736" y="4434840"/>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02/09 ～ 03/10</a:t>
            </a:r>
            <a:endParaRPr lang="ja-JP" sz="1260" dirty="0"/>
          </a:p>
        </p:txBody>
      </p:sp>
      <p:sp>
        <p:nvSpPr>
          <p:cNvPr id="60" name="Shape 58"/>
          <p:cNvSpPr/>
          <p:nvPr/>
        </p:nvSpPr>
        <p:spPr>
          <a:xfrm>
            <a:off x="9583816" y="4489704"/>
            <a:ext cx="109728" cy="201168"/>
          </a:xfrm>
          <a:prstGeom prst="rect">
            <a:avLst>
              <a:gd name="adj" fmla="val 66667"/>
            </a:avLst>
          </a:prstGeom>
          <a:solidFill>
            <a:srgbClr val="F8D1CC"/>
          </a:solidFill>
          <a:ln w="12700">
            <a:solidFill>
              <a:srgbClr val="F8D1CC">
                <a:alpha val="0"/>
              </a:srgbClr>
            </a:solidFill>
            <a:prstDash val="solid"/>
          </a:ln>
        </p:spPr>
      </p:sp>
      <p:sp>
        <p:nvSpPr>
          <p:cNvPr id="61" name="Shape 59"/>
          <p:cNvSpPr/>
          <p:nvPr/>
        </p:nvSpPr>
        <p:spPr>
          <a:xfrm>
            <a:off x="10204804" y="4489704"/>
            <a:ext cx="620737" cy="201168"/>
          </a:xfrm>
          <a:prstGeom prst="rect">
            <a:avLst>
              <a:gd name="adj" fmla="val 36364"/>
            </a:avLst>
          </a:prstGeom>
          <a:solidFill>
            <a:srgbClr val="E51B0B"/>
          </a:solidFill>
          <a:ln w="12700">
            <a:solidFill>
              <a:srgbClr val="E51B0B">
                <a:alpha val="0"/>
              </a:srgbClr>
            </a:solidFill>
            <a:prstDash val="solid"/>
          </a:ln>
        </p:spPr>
      </p:sp>
      <p:sp>
        <p:nvSpPr>
          <p:cNvPr id="62" name="Shape 60"/>
          <p:cNvSpPr/>
          <p:nvPr/>
        </p:nvSpPr>
        <p:spPr>
          <a:xfrm>
            <a:off x="475488" y="5216652"/>
            <a:ext cx="11228832" cy="0"/>
          </a:xfrm>
          <a:prstGeom prst="line">
            <a:avLst/>
          </a:prstGeom>
          <a:noFill/>
          <a:ln w="6350">
            <a:solidFill>
              <a:srgbClr val="DFE1E4"/>
            </a:solidFill>
            <a:prstDash val="solid"/>
            <a:headEnd type="none"/>
            <a:tailEnd type="none"/>
          </a:ln>
        </p:spPr>
      </p:sp>
      <p:sp>
        <p:nvSpPr>
          <p:cNvPr id="63" name="Text 61"/>
          <p:cNvSpPr/>
          <p:nvPr/>
        </p:nvSpPr>
        <p:spPr>
          <a:xfrm>
            <a:off x="521208" y="4841748"/>
            <a:ext cx="1426464" cy="310896"/>
          </a:xfrm>
          <a:prstGeom prst="rect">
            <a:avLst/>
          </a:prstGeom>
          <a:noFill/>
          <a:ln/>
        </p:spPr>
        <p:txBody>
          <a:bodyPr wrap="square" lIns="0" tIns="0" rIns="0" bIns="0" rtlCol="0" anchor="ctr"/>
          <a:lstStyle/>
          <a:p>
            <a:pPr indent="0" marL="0">
              <a:buNone/>
            </a:pPr>
            <a:r>
              <a:rPr lang="ja-JP" altLang="en-US" sz="1480" b="1" dirty="0">
                <a:solidFill>
                  <a:srgbClr val="25282E"/>
                </a:solidFill>
                <a:latin typeface="Noto Sans CJK JP" pitchFamily="34" charset="0"/>
                <a:ea typeface="Noto Sans CJK JP" pitchFamily="34" charset="-122"/>
                <a:cs typeface="Noto Sans CJK JP" pitchFamily="34" charset="-120"/>
              </a:rPr>
              <a:t>KT（引継ぎ）</a:t>
            </a:r>
            <a:endParaRPr lang="ja-JP" sz="1480" dirty="0"/>
          </a:p>
        </p:txBody>
      </p:sp>
      <p:sp>
        <p:nvSpPr>
          <p:cNvPr id="64" name="Text 62"/>
          <p:cNvSpPr/>
          <p:nvPr/>
        </p:nvSpPr>
        <p:spPr>
          <a:xfrm>
            <a:off x="1865376" y="4841748"/>
            <a:ext cx="475488" cy="310896"/>
          </a:xfrm>
          <a:prstGeom prst="rect">
            <a:avLst/>
          </a:prstGeom>
          <a:noFill/>
          <a:ln/>
        </p:spPr>
        <p:txBody>
          <a:bodyPr wrap="square" lIns="0" tIns="0" rIns="0" bIns="0" rtlCol="0" anchor="ctr"/>
          <a:lstStyle/>
          <a:p>
            <a:pPr algn="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3件</a:t>
            </a:r>
            <a:endParaRPr lang="ja-JP" sz="1130" dirty="0"/>
          </a:p>
        </p:txBody>
      </p:sp>
      <p:sp>
        <p:nvSpPr>
          <p:cNvPr id="65" name="Text 63"/>
          <p:cNvSpPr/>
          <p:nvPr/>
        </p:nvSpPr>
        <p:spPr>
          <a:xfrm>
            <a:off x="2459736" y="4841748"/>
            <a:ext cx="1536192" cy="310896"/>
          </a:xfrm>
          <a:prstGeom prst="rect">
            <a:avLst/>
          </a:prstGeom>
          <a:noFill/>
          <a:ln/>
        </p:spPr>
        <p:txBody>
          <a:bodyPr wrap="square" lIns="0" tIns="0" rIns="0" bIns="0" rtlCol="0" anchor="ctr"/>
          <a:lstStyle/>
          <a:p>
            <a:pPr indent="0" marL="0">
              <a:buNone/>
            </a:pPr>
            <a:r>
              <a:rPr lang="ja-JP" altLang="en-US" sz="1260" dirty="0">
                <a:solidFill>
                  <a:srgbClr val="25282E"/>
                </a:solidFill>
                <a:latin typeface="Arial" pitchFamily="34" charset="0"/>
                <a:ea typeface="Arial" pitchFamily="34" charset="-122"/>
                <a:cs typeface="Arial" pitchFamily="34" charset="-120"/>
              </a:rPr>
              <a:t>01/21 ～ 03/15</a:t>
            </a:r>
            <a:endParaRPr lang="ja-JP" sz="1260" dirty="0"/>
          </a:p>
        </p:txBody>
      </p:sp>
      <p:sp>
        <p:nvSpPr>
          <p:cNvPr id="66" name="Shape 64"/>
          <p:cNvSpPr/>
          <p:nvPr/>
        </p:nvSpPr>
        <p:spPr>
          <a:xfrm>
            <a:off x="8797231" y="4896612"/>
            <a:ext cx="206745" cy="201168"/>
          </a:xfrm>
          <a:prstGeom prst="rect">
            <a:avLst>
              <a:gd name="adj" fmla="val 36364"/>
            </a:avLst>
          </a:prstGeom>
          <a:solidFill>
            <a:srgbClr val="F8D1CC"/>
          </a:solidFill>
          <a:ln w="12700">
            <a:solidFill>
              <a:srgbClr val="F8D1CC">
                <a:alpha val="0"/>
              </a:srgbClr>
            </a:solidFill>
            <a:prstDash val="solid"/>
          </a:ln>
        </p:spPr>
      </p:sp>
      <p:sp>
        <p:nvSpPr>
          <p:cNvPr id="67" name="Shape 65"/>
          <p:cNvSpPr/>
          <p:nvPr/>
        </p:nvSpPr>
        <p:spPr>
          <a:xfrm>
            <a:off x="10825793" y="4896612"/>
            <a:ext cx="206745" cy="201168"/>
          </a:xfrm>
          <a:prstGeom prst="rect">
            <a:avLst>
              <a:gd name="adj" fmla="val 36364"/>
            </a:avLst>
          </a:prstGeom>
          <a:solidFill>
            <a:srgbClr val="E51B0B"/>
          </a:solidFill>
          <a:ln w="12700">
            <a:solidFill>
              <a:srgbClr val="E51B0B">
                <a:alpha val="0"/>
              </a:srgbClr>
            </a:solidFill>
            <a:prstDash val="solid"/>
          </a:ln>
        </p:spPr>
      </p:sp>
      <p:sp>
        <p:nvSpPr>
          <p:cNvPr id="68" name="Shape 66"/>
          <p:cNvSpPr/>
          <p:nvPr/>
        </p:nvSpPr>
        <p:spPr>
          <a:xfrm>
            <a:off x="475488" y="5495544"/>
            <a:ext cx="11228832" cy="539496"/>
          </a:xfrm>
          <a:prstGeom prst="rect">
            <a:avLst>
              <a:gd name="adj" fmla="val 13559"/>
            </a:avLst>
          </a:prstGeom>
          <a:solidFill>
            <a:srgbClr val="FCE7E4"/>
          </a:solidFill>
          <a:ln w="12700">
            <a:solidFill>
              <a:srgbClr val="FCE7E4">
                <a:alpha val="0"/>
              </a:srgbClr>
            </a:solidFill>
            <a:prstDash val="solid"/>
          </a:ln>
        </p:spPr>
      </p:sp>
      <p:sp>
        <p:nvSpPr>
          <p:cNvPr id="69" name="Text 67"/>
          <p:cNvSpPr/>
          <p:nvPr/>
        </p:nvSpPr>
        <p:spPr>
          <a:xfrm>
            <a:off x="649224" y="5623560"/>
            <a:ext cx="923544" cy="256032"/>
          </a:xfrm>
          <a:prstGeom prst="rect">
            <a:avLst/>
          </a:prstGeom>
          <a:noFill/>
          <a:ln/>
        </p:spPr>
        <p:txBody>
          <a:bodyPr wrap="square" lIns="0" tIns="0" rIns="0" bIns="0" rtlCol="0" anchor="ctr"/>
          <a:lstStyle/>
          <a:p>
            <a:pPr indent="0" marL="0">
              <a:buNone/>
            </a:pPr>
            <a:r>
              <a:rPr lang="ja-JP" altLang="en-US" sz="1300" b="1" dirty="0">
                <a:solidFill>
                  <a:srgbClr val="E51B0B"/>
                </a:solidFill>
                <a:latin typeface="Noto Sans CJK JP" pitchFamily="34" charset="0"/>
                <a:ea typeface="Noto Sans CJK JP" pitchFamily="34" charset="-122"/>
                <a:cs typeface="Noto Sans CJK JP" pitchFamily="34" charset="-120"/>
              </a:rPr>
              <a:t>主要判定</a:t>
            </a:r>
            <a:endParaRPr lang="ja-JP" sz="1300" dirty="0"/>
          </a:p>
        </p:txBody>
      </p:sp>
      <p:sp>
        <p:nvSpPr>
          <p:cNvPr id="70" name="Text 68"/>
          <p:cNvSpPr/>
          <p:nvPr/>
        </p:nvSpPr>
        <p:spPr>
          <a:xfrm>
            <a:off x="1709928" y="5623560"/>
            <a:ext cx="9710928" cy="256032"/>
          </a:xfrm>
          <a:prstGeom prst="rect">
            <a:avLst/>
          </a:prstGeom>
          <a:noFill/>
          <a:ln/>
        </p:spPr>
        <p:txBody>
          <a:bodyPr wrap="square" lIns="0" tIns="0" rIns="0" bIns="0" rtlCol="0" anchor="ctr"/>
          <a:lstStyle/>
          <a:p>
            <a:pPr indent="0" marL="0">
              <a:buNone/>
            </a:pPr>
            <a:r>
              <a:rPr lang="ja-JP" altLang="en-US" sz="1280" b="1" dirty="0">
                <a:solidFill>
                  <a:srgbClr val="25282E"/>
                </a:solidFill>
                <a:latin typeface="Noto Sans CJK JP" pitchFamily="34" charset="0"/>
                <a:ea typeface="Noto Sans CJK JP" pitchFamily="34" charset="-122"/>
                <a:cs typeface="Noto Sans CJK JP" pitchFamily="34" charset="-120"/>
              </a:rPr>
              <a:t>11/19 先行検証   →   12/07 詳細設計   →   02/23 UAT移行   →   03/10 受入   →   03/15 KT完了</a:t>
            </a:r>
            <a:endParaRPr lang="ja-JP" sz="1280" dirty="0"/>
          </a:p>
        </p:txBody>
      </p:sp>
      <p:sp>
        <p:nvSpPr>
          <p:cNvPr id="71" name="Text 69"/>
          <p:cNvSpPr/>
          <p:nvPr/>
        </p:nvSpPr>
        <p:spPr>
          <a:xfrm>
            <a:off x="493776" y="5312664"/>
            <a:ext cx="11155680" cy="164592"/>
          </a:xfrm>
          <a:prstGeom prst="rect">
            <a:avLst/>
          </a:prstGeom>
          <a:noFill/>
          <a:ln/>
        </p:spPr>
        <p:txBody>
          <a:bodyPr wrap="square" lIns="0" tIns="0" rIns="0" bIns="0" rtlCol="0" anchor="ctr"/>
          <a:lstStyle/>
          <a:p>
            <a:pPr indent="0" marL="0">
              <a:buNone/>
            </a:pPr>
            <a:r>
              <a:rPr lang="ja-JP" altLang="en-US" sz="970" dirty="0">
                <a:solidFill>
                  <a:srgbClr val="60656D"/>
                </a:solidFill>
                <a:latin typeface="Noto Sans CJK JP" pitchFamily="34" charset="0"/>
                <a:ea typeface="Noto Sans CJK JP" pitchFamily="34" charset="-122"/>
                <a:cs typeface="Noto Sans CJK JP" pitchFamily="34" charset="-120"/>
              </a:rPr>
              <a:t>UATは2/9〜10に準備・2/24から実施。KTは1月に資料準備、3/11〜15に実施・完了確認。</a:t>
            </a:r>
            <a:endParaRPr lang="ja-JP" sz="970" dirty="0"/>
          </a:p>
        </p:txBody>
      </p:sp>
      <p:sp>
        <p:nvSpPr>
          <p:cNvPr id="72" name="Shape 70"/>
          <p:cNvSpPr/>
          <p:nvPr/>
        </p:nvSpPr>
        <p:spPr>
          <a:xfrm>
            <a:off x="457200" y="6492240"/>
            <a:ext cx="11274552" cy="0"/>
          </a:xfrm>
          <a:prstGeom prst="line">
            <a:avLst/>
          </a:prstGeom>
          <a:noFill/>
          <a:ln w="8890">
            <a:solidFill>
              <a:srgbClr val="DFE1E4"/>
            </a:solidFill>
            <a:prstDash val="solid"/>
            <a:headEnd type="none"/>
            <a:tailEnd type="none"/>
          </a:ln>
        </p:spPr>
      </p:sp>
      <p:sp>
        <p:nvSpPr>
          <p:cNvPr id="73" name="Text 71"/>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74" name="Text 72"/>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75" name="Text 73"/>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06</a:t>
            </a:r>
            <a:endParaRPr lang="ja-JP" sz="1000" dirty="0"/>
          </a:p>
        </p:txBody>
      </p:sp>
      <p:sp>
        <p:nvSpPr>
          <p:cNvPr id="76" name="Text 74"/>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出典：WBS「サマリー」「作業計画」／土日のみ除外。祝日・年末年始未登録、要員平準化前。正式日程は再見積り・承認後に確定。</a:t>
            </a:r>
            <a:endParaRPr lang="ja-JP" sz="8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アーキテクチャ（構成案）</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既存のJapan Data Platformを活用し、Gold・Output・Dataverseの責務を分ける</a:t>
            </a:r>
            <a:endParaRPr lang="ja-JP" sz="1340" dirty="0"/>
          </a:p>
        </p:txBody>
      </p:sp>
      <p:sp>
        <p:nvSpPr>
          <p:cNvPr id="6" name="Shape 4"/>
          <p:cNvSpPr/>
          <p:nvPr/>
        </p:nvSpPr>
        <p:spPr>
          <a:xfrm>
            <a:off x="475488" y="1481328"/>
            <a:ext cx="1792224" cy="283464"/>
          </a:xfrm>
          <a:prstGeom prst="rect">
            <a:avLst>
              <a:gd name="adj" fmla="val 25806"/>
            </a:avLst>
          </a:prstGeom>
          <a:solidFill>
            <a:srgbClr val="25282E"/>
          </a:solidFill>
          <a:ln w="12700">
            <a:solidFill>
              <a:srgbClr val="25282E">
                <a:alpha val="0"/>
              </a:srgbClr>
            </a:solidFill>
            <a:prstDash val="solid"/>
          </a:ln>
        </p:spPr>
      </p:sp>
      <p:sp>
        <p:nvSpPr>
          <p:cNvPr id="7" name="Text 5"/>
          <p:cNvSpPr/>
          <p:nvPr/>
        </p:nvSpPr>
        <p:spPr>
          <a:xfrm>
            <a:off x="548640" y="1490472"/>
            <a:ext cx="1645920" cy="265176"/>
          </a:xfrm>
          <a:prstGeom prst="rect">
            <a:avLst/>
          </a:prstGeom>
          <a:noFill/>
          <a:ln/>
        </p:spPr>
        <p:txBody>
          <a:bodyPr wrap="square" lIns="0" tIns="0" rIns="0" bIns="0" rtlCol="0" anchor="ctr"/>
          <a:lstStyle/>
          <a:p>
            <a:pPr algn="ctr" indent="0" marL="0">
              <a:buNone/>
            </a:pPr>
            <a:r>
              <a:rPr lang="ja-JP" altLang="en-US" sz="1150" b="1" dirty="0">
                <a:solidFill>
                  <a:srgbClr val="FFFFFF"/>
                </a:solidFill>
                <a:latin typeface="Noto Sans CJK JP" pitchFamily="34" charset="0"/>
                <a:ea typeface="Noto Sans CJK JP" pitchFamily="34" charset="-122"/>
                <a:cs typeface="Noto Sans CJK JP" pitchFamily="34" charset="-120"/>
              </a:rPr>
              <a:t>現行の確認範囲</a:t>
            </a:r>
            <a:endParaRPr lang="ja-JP" sz="1150" dirty="0"/>
          </a:p>
        </p:txBody>
      </p:sp>
      <p:sp>
        <p:nvSpPr>
          <p:cNvPr id="8" name="Shape 6"/>
          <p:cNvSpPr/>
          <p:nvPr/>
        </p:nvSpPr>
        <p:spPr>
          <a:xfrm>
            <a:off x="2459736" y="1453896"/>
            <a:ext cx="2926080" cy="420624"/>
          </a:xfrm>
          <a:prstGeom prst="rect">
            <a:avLst>
              <a:gd name="adj" fmla="val 17391"/>
            </a:avLst>
          </a:prstGeom>
          <a:solidFill>
            <a:srgbClr val="F4F4F3"/>
          </a:solidFill>
          <a:ln w="12700">
            <a:solidFill>
              <a:srgbClr val="F4F4F3">
                <a:alpha val="0"/>
              </a:srgbClr>
            </a:solidFill>
            <a:prstDash val="solid"/>
          </a:ln>
        </p:spPr>
      </p:sp>
      <p:sp>
        <p:nvSpPr>
          <p:cNvPr id="9" name="Text 7"/>
          <p:cNvSpPr/>
          <p:nvPr/>
        </p:nvSpPr>
        <p:spPr>
          <a:xfrm>
            <a:off x="2606040" y="1545336"/>
            <a:ext cx="2624328" cy="228600"/>
          </a:xfrm>
          <a:prstGeom prst="rect">
            <a:avLst/>
          </a:prstGeom>
          <a:noFill/>
          <a:ln/>
        </p:spPr>
        <p:txBody>
          <a:bodyPr wrap="square" lIns="0" tIns="0" rIns="0" bIns="0" rtlCol="0" anchor="ctr"/>
          <a:lstStyle/>
          <a:p>
            <a:pPr algn="ctr" indent="0" marL="0">
              <a:buNone/>
            </a:pPr>
            <a:r>
              <a:rPr lang="ja-JP" altLang="en-US" sz="1500" b="1" dirty="0">
                <a:solidFill>
                  <a:srgbClr val="25282E"/>
                </a:solidFill>
                <a:latin typeface="Noto Sans CJK JP" pitchFamily="34" charset="0"/>
                <a:ea typeface="Noto Sans CJK JP" pitchFamily="34" charset="-122"/>
                <a:cs typeface="Noto Sans CJK JP" pitchFamily="34" charset="-120"/>
              </a:rPr>
              <a:t>Dataiku加工処理</a:t>
            </a:r>
            <a:endParaRPr lang="ja-JP" sz="1500" dirty="0"/>
          </a:p>
        </p:txBody>
      </p:sp>
      <p:sp>
        <p:nvSpPr>
          <p:cNvPr id="10" name="Shape 8"/>
          <p:cNvSpPr/>
          <p:nvPr/>
        </p:nvSpPr>
        <p:spPr>
          <a:xfrm>
            <a:off x="5468112" y="1664208"/>
            <a:ext cx="502920" cy="0"/>
          </a:xfrm>
          <a:prstGeom prst="line">
            <a:avLst/>
          </a:prstGeom>
          <a:noFill/>
          <a:ln w="16510">
            <a:solidFill>
              <a:srgbClr val="60656D"/>
            </a:solidFill>
            <a:prstDash val="solid"/>
            <a:headEnd type="none"/>
            <a:tailEnd type="triangle"/>
          </a:ln>
        </p:spPr>
      </p:sp>
      <p:sp>
        <p:nvSpPr>
          <p:cNvPr id="11" name="Shape 9"/>
          <p:cNvSpPr/>
          <p:nvPr/>
        </p:nvSpPr>
        <p:spPr>
          <a:xfrm>
            <a:off x="6071616" y="1453896"/>
            <a:ext cx="4645152" cy="420624"/>
          </a:xfrm>
          <a:prstGeom prst="rect">
            <a:avLst>
              <a:gd name="adj" fmla="val 17391"/>
            </a:avLst>
          </a:prstGeom>
          <a:solidFill>
            <a:srgbClr val="F4F4F3"/>
          </a:solidFill>
          <a:ln w="12700">
            <a:solidFill>
              <a:srgbClr val="F4F4F3">
                <a:alpha val="0"/>
              </a:srgbClr>
            </a:solidFill>
            <a:prstDash val="solid"/>
          </a:ln>
        </p:spPr>
      </p:sp>
      <p:sp>
        <p:nvSpPr>
          <p:cNvPr id="12" name="Text 10"/>
          <p:cNvSpPr/>
          <p:nvPr/>
        </p:nvSpPr>
        <p:spPr>
          <a:xfrm>
            <a:off x="6217920" y="1554480"/>
            <a:ext cx="4352544" cy="210312"/>
          </a:xfrm>
          <a:prstGeom prst="rect">
            <a:avLst/>
          </a:prstGeom>
          <a:noFill/>
          <a:ln/>
        </p:spPr>
        <p:txBody>
          <a:bodyPr wrap="square" lIns="0" tIns="0" rIns="0" bIns="0" rtlCol="0" anchor="ctr"/>
          <a:lstStyle/>
          <a:p>
            <a:pPr algn="ctr" indent="0" marL="0">
              <a:buNone/>
            </a:pPr>
            <a:r>
              <a:rPr lang="ja-JP" altLang="en-US" sz="1360" dirty="0">
                <a:solidFill>
                  <a:srgbClr val="25282E"/>
                </a:solidFill>
                <a:latin typeface="Noto Sans CJK JP" pitchFamily="34" charset="0"/>
                <a:ea typeface="Noto Sans CJK JP" pitchFamily="34" charset="-122"/>
                <a:cs typeface="Noto Sans CJK JP" pitchFamily="34" charset="-120"/>
              </a:rPr>
              <a:t>現行6テーブル（うち5テーブルを移行）</a:t>
            </a:r>
            <a:endParaRPr lang="ja-JP" sz="1360" dirty="0"/>
          </a:p>
        </p:txBody>
      </p:sp>
      <p:sp>
        <p:nvSpPr>
          <p:cNvPr id="13" name="Text 11"/>
          <p:cNvSpPr/>
          <p:nvPr/>
        </p:nvSpPr>
        <p:spPr>
          <a:xfrm>
            <a:off x="512064" y="1956816"/>
            <a:ext cx="10972800" cy="219456"/>
          </a:xfrm>
          <a:prstGeom prst="rect">
            <a:avLst/>
          </a:prstGeom>
          <a:noFill/>
          <a:ln/>
        </p:spPr>
        <p:txBody>
          <a:bodyPr wrap="square" lIns="0" tIns="0" rIns="0" bIns="0" rtlCol="0" anchor="ctr"/>
          <a:lstStyle/>
          <a:p>
            <a:pPr indent="0" marL="0">
              <a:buNone/>
            </a:pPr>
            <a:r>
              <a:rPr lang="ja-JP" altLang="en-US" sz="1080" dirty="0">
                <a:solidFill>
                  <a:srgbClr val="60656D"/>
                </a:solidFill>
                <a:latin typeface="Noto Sans CJK JP" pitchFamily="34" charset="0"/>
                <a:ea typeface="Noto Sans CJK JP" pitchFamily="34" charset="-122"/>
                <a:cs typeface="Noto Sans CJK JP" pitchFamily="34" charset="-120"/>
              </a:rPr>
              <a:t>接続の詳細・現行出力経路はAs-Is資料で確認</a:t>
            </a:r>
            <a:endParaRPr lang="ja-JP" sz="1080" dirty="0"/>
          </a:p>
        </p:txBody>
      </p:sp>
      <p:sp>
        <p:nvSpPr>
          <p:cNvPr id="14" name="Shape 12"/>
          <p:cNvSpPr/>
          <p:nvPr/>
        </p:nvSpPr>
        <p:spPr>
          <a:xfrm>
            <a:off x="475488" y="2487168"/>
            <a:ext cx="1837944" cy="3172968"/>
          </a:xfrm>
          <a:prstGeom prst="rect">
            <a:avLst>
              <a:gd name="adj" fmla="val 3980"/>
            </a:avLst>
          </a:prstGeom>
          <a:solidFill>
            <a:srgbClr val="F4F4F3"/>
          </a:solidFill>
          <a:ln w="12700">
            <a:solidFill>
              <a:srgbClr val="F4F4F3">
                <a:alpha val="0"/>
              </a:srgbClr>
            </a:solidFill>
            <a:prstDash val="solid"/>
          </a:ln>
        </p:spPr>
      </p:sp>
      <p:sp>
        <p:nvSpPr>
          <p:cNvPr id="15" name="Text 13"/>
          <p:cNvSpPr/>
          <p:nvPr/>
        </p:nvSpPr>
        <p:spPr>
          <a:xfrm>
            <a:off x="640080" y="2679192"/>
            <a:ext cx="1508760" cy="301752"/>
          </a:xfrm>
          <a:prstGeom prst="rect">
            <a:avLst/>
          </a:prstGeom>
          <a:noFill/>
          <a:ln/>
        </p:spPr>
        <p:txBody>
          <a:bodyPr wrap="square" lIns="0" tIns="0" rIns="0" bIns="0" rtlCol="0" anchor="ctr"/>
          <a:lstStyle/>
          <a:p>
            <a:pPr indent="0" marL="0">
              <a:buNone/>
            </a:pPr>
            <a:r>
              <a:rPr lang="ja-JP" altLang="en-US" sz="1800" b="1" dirty="0">
                <a:solidFill>
                  <a:srgbClr val="25282E"/>
                </a:solidFill>
                <a:latin typeface="Noto Sans CJK JP" pitchFamily="34" charset="0"/>
                <a:ea typeface="Noto Sans CJK JP" pitchFamily="34" charset="-122"/>
                <a:cs typeface="Noto Sans CJK JP" pitchFamily="34" charset="-120"/>
              </a:rPr>
              <a:t>入力データ</a:t>
            </a:r>
            <a:endParaRPr lang="ja-JP" sz="1800" dirty="0"/>
          </a:p>
        </p:txBody>
      </p:sp>
      <p:sp>
        <p:nvSpPr>
          <p:cNvPr id="16" name="Shape 14"/>
          <p:cNvSpPr/>
          <p:nvPr/>
        </p:nvSpPr>
        <p:spPr>
          <a:xfrm>
            <a:off x="667512" y="3236976"/>
            <a:ext cx="1435608" cy="411480"/>
          </a:xfrm>
          <a:prstGeom prst="rect">
            <a:avLst>
              <a:gd name="adj" fmla="val 17778"/>
            </a:avLst>
          </a:prstGeom>
          <a:solidFill>
            <a:srgbClr val="FFFFFF"/>
          </a:solidFill>
          <a:ln w="10160">
            <a:solidFill>
              <a:srgbClr val="DFE1E4"/>
            </a:solidFill>
            <a:prstDash val="solid"/>
          </a:ln>
        </p:spPr>
      </p:sp>
      <p:sp>
        <p:nvSpPr>
          <p:cNvPr id="17" name="Text 15"/>
          <p:cNvSpPr/>
          <p:nvPr/>
        </p:nvSpPr>
        <p:spPr>
          <a:xfrm>
            <a:off x="758952" y="3337560"/>
            <a:ext cx="1243584" cy="201168"/>
          </a:xfrm>
          <a:prstGeom prst="rect">
            <a:avLst/>
          </a:prstGeom>
          <a:noFill/>
          <a:ln/>
        </p:spPr>
        <p:txBody>
          <a:bodyPr wrap="square" lIns="0" tIns="0" rIns="0" bIns="0" rtlCol="0" anchor="ctr"/>
          <a:lstStyle/>
          <a:p>
            <a:pPr algn="ctr" indent="0" marL="0">
              <a:buNone/>
            </a:pPr>
            <a:r>
              <a:rPr lang="ja-JP" altLang="en-US" sz="1380" b="1" dirty="0">
                <a:solidFill>
                  <a:srgbClr val="25282E"/>
                </a:solidFill>
                <a:latin typeface="Arial" pitchFamily="34" charset="0"/>
                <a:ea typeface="Arial" pitchFamily="34" charset="-122"/>
                <a:cs typeface="Arial" pitchFamily="34" charset="-120"/>
              </a:rPr>
              <a:t>OneForce</a:t>
            </a:r>
            <a:endParaRPr lang="ja-JP" sz="1380" dirty="0"/>
          </a:p>
        </p:txBody>
      </p:sp>
      <p:sp>
        <p:nvSpPr>
          <p:cNvPr id="18" name="Shape 16"/>
          <p:cNvSpPr/>
          <p:nvPr/>
        </p:nvSpPr>
        <p:spPr>
          <a:xfrm>
            <a:off x="667512" y="3831336"/>
            <a:ext cx="1435608" cy="411480"/>
          </a:xfrm>
          <a:prstGeom prst="rect">
            <a:avLst>
              <a:gd name="adj" fmla="val 17778"/>
            </a:avLst>
          </a:prstGeom>
          <a:solidFill>
            <a:srgbClr val="FFFFFF"/>
          </a:solidFill>
          <a:ln w="10160">
            <a:solidFill>
              <a:srgbClr val="DFE1E4"/>
            </a:solidFill>
            <a:prstDash val="solid"/>
          </a:ln>
        </p:spPr>
      </p:sp>
      <p:sp>
        <p:nvSpPr>
          <p:cNvPr id="19" name="Text 17"/>
          <p:cNvSpPr/>
          <p:nvPr/>
        </p:nvSpPr>
        <p:spPr>
          <a:xfrm>
            <a:off x="758952" y="3931920"/>
            <a:ext cx="1243584" cy="201168"/>
          </a:xfrm>
          <a:prstGeom prst="rect">
            <a:avLst/>
          </a:prstGeom>
          <a:noFill/>
          <a:ln/>
        </p:spPr>
        <p:txBody>
          <a:bodyPr wrap="square" lIns="0" tIns="0" rIns="0" bIns="0" rtlCol="0" anchor="ctr"/>
          <a:lstStyle/>
          <a:p>
            <a:pPr algn="ctr" indent="0" marL="0">
              <a:buNone/>
            </a:pPr>
            <a:r>
              <a:rPr lang="ja-JP" altLang="en-US" sz="1380" b="1" dirty="0">
                <a:solidFill>
                  <a:srgbClr val="25282E"/>
                </a:solidFill>
                <a:latin typeface="Arial" pitchFamily="34" charset="0"/>
                <a:ea typeface="Arial" pitchFamily="34" charset="-122"/>
                <a:cs typeface="Arial" pitchFamily="34" charset="-120"/>
              </a:rPr>
              <a:t>Redshift</a:t>
            </a:r>
            <a:endParaRPr lang="ja-JP" sz="1380" dirty="0"/>
          </a:p>
        </p:txBody>
      </p:sp>
      <p:sp>
        <p:nvSpPr>
          <p:cNvPr id="20" name="Shape 18"/>
          <p:cNvSpPr/>
          <p:nvPr/>
        </p:nvSpPr>
        <p:spPr>
          <a:xfrm>
            <a:off x="667512" y="4425696"/>
            <a:ext cx="1435608" cy="411480"/>
          </a:xfrm>
          <a:prstGeom prst="rect">
            <a:avLst>
              <a:gd name="adj" fmla="val 17778"/>
            </a:avLst>
          </a:prstGeom>
          <a:solidFill>
            <a:srgbClr val="FFFFFF"/>
          </a:solidFill>
          <a:ln w="10160">
            <a:solidFill>
              <a:srgbClr val="DFE1E4"/>
            </a:solidFill>
            <a:prstDash val="solid"/>
          </a:ln>
        </p:spPr>
      </p:sp>
      <p:sp>
        <p:nvSpPr>
          <p:cNvPr id="21" name="Text 19"/>
          <p:cNvSpPr/>
          <p:nvPr/>
        </p:nvSpPr>
        <p:spPr>
          <a:xfrm>
            <a:off x="758952" y="4526280"/>
            <a:ext cx="1243584" cy="201168"/>
          </a:xfrm>
          <a:prstGeom prst="rect">
            <a:avLst/>
          </a:prstGeom>
          <a:noFill/>
          <a:ln/>
        </p:spPr>
        <p:txBody>
          <a:bodyPr wrap="square" lIns="0" tIns="0" rIns="0" bIns="0" rtlCol="0" anchor="ctr"/>
          <a:lstStyle/>
          <a:p>
            <a:pPr algn="ctr" indent="0" marL="0">
              <a:buNone/>
            </a:pPr>
            <a:r>
              <a:rPr lang="ja-JP" altLang="en-US" sz="1380" b="1" dirty="0">
                <a:solidFill>
                  <a:srgbClr val="25282E"/>
                </a:solidFill>
                <a:latin typeface="Arial" pitchFamily="34" charset="0"/>
                <a:ea typeface="Arial" pitchFamily="34" charset="-122"/>
                <a:cs typeface="Arial" pitchFamily="34" charset="-120"/>
              </a:rPr>
              <a:t>SharePoint</a:t>
            </a:r>
            <a:endParaRPr lang="ja-JP" sz="1380" dirty="0"/>
          </a:p>
        </p:txBody>
      </p:sp>
      <p:sp>
        <p:nvSpPr>
          <p:cNvPr id="22" name="Shape 20"/>
          <p:cNvSpPr/>
          <p:nvPr/>
        </p:nvSpPr>
        <p:spPr>
          <a:xfrm>
            <a:off x="2606040" y="2487168"/>
            <a:ext cx="2221992" cy="3172968"/>
          </a:xfrm>
          <a:prstGeom prst="rect">
            <a:avLst>
              <a:gd name="adj" fmla="val 3292"/>
            </a:avLst>
          </a:prstGeom>
          <a:solidFill>
            <a:srgbClr val="F4F4F3"/>
          </a:solidFill>
          <a:ln w="12700">
            <a:solidFill>
              <a:srgbClr val="F4F4F3">
                <a:alpha val="0"/>
              </a:srgbClr>
            </a:solidFill>
            <a:prstDash val="solid"/>
          </a:ln>
        </p:spPr>
      </p:sp>
      <p:sp>
        <p:nvSpPr>
          <p:cNvPr id="23" name="Text 21"/>
          <p:cNvSpPr/>
          <p:nvPr/>
        </p:nvSpPr>
        <p:spPr>
          <a:xfrm>
            <a:off x="2743200" y="2660904"/>
            <a:ext cx="1920240" cy="283464"/>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既存ワークスペース</a:t>
            </a:r>
            <a:endParaRPr lang="ja-JP" sz="1400" dirty="0"/>
          </a:p>
        </p:txBody>
      </p:sp>
      <p:sp>
        <p:nvSpPr>
          <p:cNvPr id="24" name="Text 22"/>
          <p:cNvSpPr/>
          <p:nvPr/>
        </p:nvSpPr>
        <p:spPr>
          <a:xfrm>
            <a:off x="2743200" y="2990088"/>
            <a:ext cx="1920240" cy="182880"/>
          </a:xfrm>
          <a:prstGeom prst="rect">
            <a:avLst/>
          </a:prstGeom>
          <a:noFill/>
          <a:ln/>
        </p:spPr>
        <p:txBody>
          <a:bodyPr wrap="square" lIns="0" tIns="0" rIns="0" bIns="0" rtlCol="0" anchor="ctr"/>
          <a:lstStyle/>
          <a:p>
            <a:pPr indent="0" marL="0">
              <a:buNone/>
            </a:pPr>
            <a:r>
              <a:rPr lang="ja-JP" altLang="en-US" sz="1070" dirty="0">
                <a:solidFill>
                  <a:srgbClr val="60656D"/>
                </a:solidFill>
                <a:latin typeface="Arial" pitchFamily="34" charset="0"/>
                <a:ea typeface="Arial" pitchFamily="34" charset="-122"/>
                <a:cs typeface="Arial" pitchFamily="34" charset="-120"/>
              </a:rPr>
              <a:t>Japan Data Platform</a:t>
            </a:r>
            <a:endParaRPr lang="ja-JP" sz="1070" dirty="0"/>
          </a:p>
        </p:txBody>
      </p:sp>
      <p:sp>
        <p:nvSpPr>
          <p:cNvPr id="25" name="Shape 23"/>
          <p:cNvSpPr/>
          <p:nvPr/>
        </p:nvSpPr>
        <p:spPr>
          <a:xfrm>
            <a:off x="2779776" y="3401568"/>
            <a:ext cx="1865376" cy="557784"/>
          </a:xfrm>
          <a:prstGeom prst="rect">
            <a:avLst>
              <a:gd name="adj" fmla="val 13115"/>
            </a:avLst>
          </a:prstGeom>
          <a:solidFill>
            <a:srgbClr val="FFFFFF"/>
          </a:solidFill>
          <a:ln w="10160">
            <a:solidFill>
              <a:srgbClr val="DFE1E4"/>
            </a:solidFill>
            <a:prstDash val="solid"/>
          </a:ln>
        </p:spPr>
      </p:sp>
      <p:sp>
        <p:nvSpPr>
          <p:cNvPr id="26" name="Text 24"/>
          <p:cNvSpPr/>
          <p:nvPr/>
        </p:nvSpPr>
        <p:spPr>
          <a:xfrm>
            <a:off x="2898648" y="3483864"/>
            <a:ext cx="1627632" cy="265176"/>
          </a:xfrm>
          <a:prstGeom prst="rect">
            <a:avLst/>
          </a:prstGeom>
          <a:noFill/>
          <a:ln/>
        </p:spPr>
        <p:txBody>
          <a:bodyPr wrap="square" lIns="0" tIns="0" rIns="0" bIns="0" rtlCol="0" anchor="ctr"/>
          <a:lstStyle/>
          <a:p>
            <a:pPr algn="ctr" indent="0" marL="0">
              <a:buNone/>
            </a:pPr>
            <a:r>
              <a:rPr lang="ja-JP" altLang="en-US" sz="1800" b="1" dirty="0">
                <a:solidFill>
                  <a:srgbClr val="25282E"/>
                </a:solidFill>
                <a:latin typeface="Arial" pitchFamily="34" charset="0"/>
                <a:ea typeface="Arial" pitchFamily="34" charset="-122"/>
                <a:cs typeface="Arial" pitchFamily="34" charset="-120"/>
              </a:rPr>
              <a:t>Bronze</a:t>
            </a:r>
            <a:endParaRPr lang="ja-JP" sz="1800" dirty="0"/>
          </a:p>
        </p:txBody>
      </p:sp>
      <p:sp>
        <p:nvSpPr>
          <p:cNvPr id="27" name="Shape 25"/>
          <p:cNvSpPr/>
          <p:nvPr/>
        </p:nvSpPr>
        <p:spPr>
          <a:xfrm>
            <a:off x="3712464" y="3977640"/>
            <a:ext cx="0" cy="237744"/>
          </a:xfrm>
          <a:prstGeom prst="line">
            <a:avLst/>
          </a:prstGeom>
          <a:noFill/>
          <a:ln w="12700">
            <a:solidFill>
              <a:srgbClr val="60656D"/>
            </a:solidFill>
            <a:prstDash val="solid"/>
            <a:headEnd type="none"/>
            <a:tailEnd type="triangle"/>
          </a:ln>
        </p:spPr>
      </p:sp>
      <p:sp>
        <p:nvSpPr>
          <p:cNvPr id="28" name="Shape 26"/>
          <p:cNvSpPr/>
          <p:nvPr/>
        </p:nvSpPr>
        <p:spPr>
          <a:xfrm>
            <a:off x="2779776" y="4279392"/>
            <a:ext cx="1865376" cy="557784"/>
          </a:xfrm>
          <a:prstGeom prst="rect">
            <a:avLst>
              <a:gd name="adj" fmla="val 13115"/>
            </a:avLst>
          </a:prstGeom>
          <a:solidFill>
            <a:srgbClr val="FFFFFF"/>
          </a:solidFill>
          <a:ln w="10160">
            <a:solidFill>
              <a:srgbClr val="DFE1E4"/>
            </a:solidFill>
            <a:prstDash val="solid"/>
          </a:ln>
        </p:spPr>
      </p:sp>
      <p:sp>
        <p:nvSpPr>
          <p:cNvPr id="29" name="Text 27"/>
          <p:cNvSpPr/>
          <p:nvPr/>
        </p:nvSpPr>
        <p:spPr>
          <a:xfrm>
            <a:off x="2898648" y="4361688"/>
            <a:ext cx="1627632" cy="265176"/>
          </a:xfrm>
          <a:prstGeom prst="rect">
            <a:avLst/>
          </a:prstGeom>
          <a:noFill/>
          <a:ln/>
        </p:spPr>
        <p:txBody>
          <a:bodyPr wrap="square" lIns="0" tIns="0" rIns="0" bIns="0" rtlCol="0" anchor="ctr"/>
          <a:lstStyle/>
          <a:p>
            <a:pPr algn="ctr" indent="0" marL="0">
              <a:buNone/>
            </a:pPr>
            <a:r>
              <a:rPr lang="ja-JP" altLang="en-US" sz="1800" b="1" dirty="0">
                <a:solidFill>
                  <a:srgbClr val="25282E"/>
                </a:solidFill>
                <a:latin typeface="Arial" pitchFamily="34" charset="0"/>
                <a:ea typeface="Arial" pitchFamily="34" charset="-122"/>
                <a:cs typeface="Arial" pitchFamily="34" charset="-120"/>
              </a:rPr>
              <a:t>Silver</a:t>
            </a:r>
            <a:endParaRPr lang="ja-JP" sz="1800" dirty="0"/>
          </a:p>
        </p:txBody>
      </p:sp>
      <p:sp>
        <p:nvSpPr>
          <p:cNvPr id="30" name="Text 28"/>
          <p:cNvSpPr/>
          <p:nvPr/>
        </p:nvSpPr>
        <p:spPr>
          <a:xfrm>
            <a:off x="2798064" y="5074920"/>
            <a:ext cx="1837944" cy="484632"/>
          </a:xfrm>
          <a:prstGeom prst="rect">
            <a:avLst/>
          </a:prstGeom>
          <a:noFill/>
          <a:ln/>
        </p:spPr>
        <p:txBody>
          <a:bodyPr wrap="square" lIns="0" tIns="0" rIns="0" bIns="0" rtlCol="0" anchor="t"/>
          <a:lstStyle/>
          <a:p>
            <a:pP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テーブル・列追加</a:t>
            </a:r>
            <a:endParaRPr lang="ja-JP" sz="1130" dirty="0"/>
          </a:p>
          <a:p>
            <a:pP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Dataflow／Notebook</a:t>
            </a:r>
            <a:endParaRPr lang="ja-JP" sz="1130" dirty="0"/>
          </a:p>
          <a:p>
            <a:pPr indent="0" marL="0">
              <a:buNone/>
            </a:pPr>
            <a:r>
              <a:rPr lang="ja-JP" altLang="en-US" sz="1130" dirty="0">
                <a:solidFill>
                  <a:srgbClr val="60656D"/>
                </a:solidFill>
                <a:latin typeface="Noto Sans CJK JP" pitchFamily="34" charset="0"/>
                <a:ea typeface="Noto Sans CJK JP" pitchFamily="34" charset="-122"/>
                <a:cs typeface="Noto Sans CJK JP" pitchFamily="34" charset="-120"/>
              </a:rPr>
              <a:t>Pipelineを変更</a:t>
            </a:r>
            <a:endParaRPr lang="ja-JP" sz="1130" dirty="0"/>
          </a:p>
        </p:txBody>
      </p:sp>
      <p:sp>
        <p:nvSpPr>
          <p:cNvPr id="31" name="Shape 29"/>
          <p:cNvSpPr/>
          <p:nvPr/>
        </p:nvSpPr>
        <p:spPr>
          <a:xfrm>
            <a:off x="5129784" y="2487168"/>
            <a:ext cx="4617720" cy="3172968"/>
          </a:xfrm>
          <a:prstGeom prst="rect">
            <a:avLst>
              <a:gd name="adj" fmla="val 2305"/>
            </a:avLst>
          </a:prstGeom>
          <a:solidFill>
            <a:srgbClr val="FCE7E4"/>
          </a:solidFill>
          <a:ln w="12700">
            <a:solidFill>
              <a:srgbClr val="FCE7E4">
                <a:alpha val="0"/>
              </a:srgbClr>
            </a:solidFill>
            <a:prstDash val="solid"/>
          </a:ln>
        </p:spPr>
      </p:sp>
      <p:sp>
        <p:nvSpPr>
          <p:cNvPr id="32" name="Text 30"/>
          <p:cNvSpPr/>
          <p:nvPr/>
        </p:nvSpPr>
        <p:spPr>
          <a:xfrm>
            <a:off x="5285232" y="2670048"/>
            <a:ext cx="4297680" cy="265176"/>
          </a:xfrm>
          <a:prstGeom prst="rect">
            <a:avLst/>
          </a:prstGeom>
          <a:noFill/>
          <a:ln/>
        </p:spPr>
        <p:txBody>
          <a:bodyPr wrap="square" lIns="0" tIns="0" rIns="0" bIns="0" rtlCol="0" anchor="ctr"/>
          <a:lstStyle/>
          <a:p>
            <a:pPr indent="0" marL="0">
              <a:buNone/>
            </a:pPr>
            <a:r>
              <a:rPr lang="ja-JP" altLang="en-US" sz="1370" b="1" dirty="0">
                <a:solidFill>
                  <a:srgbClr val="E51B0B"/>
                </a:solidFill>
                <a:latin typeface="Noto Sans CJK JP" pitchFamily="34" charset="0"/>
                <a:ea typeface="Noto Sans CJK JP" pitchFamily="34" charset="-122"/>
                <a:cs typeface="Noto Sans CJK JP" pitchFamily="34" charset="-120"/>
              </a:rPr>
              <a:t>新規ワークスペース（DEV／QA／PROD）</a:t>
            </a:r>
            <a:endParaRPr lang="ja-JP" sz="1370" dirty="0"/>
          </a:p>
        </p:txBody>
      </p:sp>
      <p:sp>
        <p:nvSpPr>
          <p:cNvPr id="33" name="Shape 31"/>
          <p:cNvSpPr/>
          <p:nvPr/>
        </p:nvSpPr>
        <p:spPr>
          <a:xfrm>
            <a:off x="5330952" y="3255264"/>
            <a:ext cx="1828800" cy="2139696"/>
          </a:xfrm>
          <a:prstGeom prst="rect">
            <a:avLst>
              <a:gd name="adj" fmla="val 4000"/>
            </a:avLst>
          </a:prstGeom>
          <a:solidFill>
            <a:srgbClr val="FFFFFF"/>
          </a:solidFill>
          <a:ln w="12700">
            <a:solidFill>
              <a:srgbClr val="FFFFFF">
                <a:alpha val="0"/>
              </a:srgbClr>
            </a:solidFill>
            <a:prstDash val="solid"/>
          </a:ln>
        </p:spPr>
      </p:sp>
      <p:sp>
        <p:nvSpPr>
          <p:cNvPr id="34" name="Text 32"/>
          <p:cNvSpPr/>
          <p:nvPr/>
        </p:nvSpPr>
        <p:spPr>
          <a:xfrm>
            <a:off x="5486400" y="3410712"/>
            <a:ext cx="1517904" cy="329184"/>
          </a:xfrm>
          <a:prstGeom prst="rect">
            <a:avLst/>
          </a:prstGeom>
          <a:noFill/>
          <a:ln/>
        </p:spPr>
        <p:txBody>
          <a:bodyPr wrap="square" lIns="0" tIns="0" rIns="0" bIns="0" rtlCol="0" anchor="ctr"/>
          <a:lstStyle/>
          <a:p>
            <a:pPr indent="0" marL="0">
              <a:buNone/>
            </a:pPr>
            <a:r>
              <a:rPr lang="ja-JP" altLang="en-US" sz="2200" b="1" dirty="0">
                <a:solidFill>
                  <a:srgbClr val="25282E"/>
                </a:solidFill>
                <a:latin typeface="Arial" pitchFamily="34" charset="0"/>
                <a:ea typeface="Arial" pitchFamily="34" charset="-122"/>
                <a:cs typeface="Arial" pitchFamily="34" charset="-120"/>
              </a:rPr>
              <a:t>Gold</a:t>
            </a:r>
            <a:endParaRPr lang="ja-JP" sz="2200" dirty="0"/>
          </a:p>
        </p:txBody>
      </p:sp>
      <p:sp>
        <p:nvSpPr>
          <p:cNvPr id="35" name="Text 33"/>
          <p:cNvSpPr/>
          <p:nvPr/>
        </p:nvSpPr>
        <p:spPr>
          <a:xfrm>
            <a:off x="5486400" y="3895344"/>
            <a:ext cx="1527048" cy="987552"/>
          </a:xfrm>
          <a:prstGeom prst="rect">
            <a:avLst/>
          </a:prstGeom>
          <a:noFill/>
          <a:ln/>
        </p:spPr>
        <p:txBody>
          <a:bodyPr wrap="square" lIns="0" tIns="0" rIns="0" bIns="0" rtlCol="0" anchor="t"/>
          <a:lstStyle/>
          <a:p>
            <a:pPr indent="0" marL="0">
              <a:buNone/>
            </a:pPr>
            <a:r>
              <a:rPr lang="ja-JP" altLang="en-US" sz="1190" dirty="0">
                <a:solidFill>
                  <a:srgbClr val="25282E"/>
                </a:solidFill>
                <a:latin typeface="Noto Sans CJK JP" pitchFamily="34" charset="0"/>
                <a:ea typeface="Noto Sans CJK JP" pitchFamily="34" charset="-122"/>
                <a:cs typeface="Noto Sans CJK JP" pitchFamily="34" charset="-120"/>
              </a:rPr>
              <a:t>GoldLakehouse</a:t>
            </a:r>
            <a:endParaRPr lang="ja-JP" sz="1190" dirty="0"/>
          </a:p>
          <a:p>
            <a:pPr indent="0" marL="0">
              <a:buNone/>
            </a:pPr>
            <a:r>
              <a:rPr lang="ja-JP" altLang="en-US" sz="1190" dirty="0">
                <a:solidFill>
                  <a:srgbClr val="25282E"/>
                </a:solidFill>
                <a:latin typeface="Noto Sans CJK JP" pitchFamily="34" charset="0"/>
                <a:ea typeface="Noto Sans CJK JP" pitchFamily="34" charset="-122"/>
                <a:cs typeface="Noto Sans CJK JP" pitchFamily="34" charset="-120"/>
              </a:rPr>
              <a:t>加工Notebook × 5（想定）</a:t>
            </a:r>
            <a:endParaRPr lang="ja-JP" sz="1190" dirty="0"/>
          </a:p>
          <a:p>
            <a:pPr indent="0" marL="0">
              <a:buNone/>
            </a:pPr>
            <a:r>
              <a:rPr lang="ja-JP" altLang="en-US" sz="1190" dirty="0">
                <a:solidFill>
                  <a:srgbClr val="25282E"/>
                </a:solidFill>
                <a:latin typeface="Noto Sans CJK JP" pitchFamily="34" charset="0"/>
                <a:ea typeface="Noto Sans CJK JP" pitchFamily="34" charset="-122"/>
                <a:cs typeface="Noto Sans CJK JP" pitchFamily="34" charset="-120"/>
              </a:rPr>
              <a:t>共通・差分Notebook</a:t>
            </a:r>
            <a:endParaRPr lang="ja-JP" sz="1190" dirty="0"/>
          </a:p>
          <a:p>
            <a:pPr indent="0" marL="0">
              <a:buNone/>
            </a:pPr>
            <a:r>
              <a:rPr lang="ja-JP" altLang="en-US" sz="1190" dirty="0">
                <a:solidFill>
                  <a:srgbClr val="25282E"/>
                </a:solidFill>
                <a:latin typeface="Noto Sans CJK JP" pitchFamily="34" charset="0"/>
                <a:ea typeface="Noto Sans CJK JP" pitchFamily="34" charset="-122"/>
                <a:cs typeface="Noto Sans CJK JP" pitchFamily="34" charset="-120"/>
              </a:rPr>
              <a:t>GoldPipeline</a:t>
            </a:r>
            <a:endParaRPr lang="ja-JP" sz="1190" dirty="0"/>
          </a:p>
        </p:txBody>
      </p:sp>
      <p:sp>
        <p:nvSpPr>
          <p:cNvPr id="36" name="Text 34"/>
          <p:cNvSpPr/>
          <p:nvPr/>
        </p:nvSpPr>
        <p:spPr>
          <a:xfrm>
            <a:off x="5486400" y="4919472"/>
            <a:ext cx="1527048" cy="393192"/>
          </a:xfrm>
          <a:prstGeom prst="rect">
            <a:avLst/>
          </a:prstGeom>
          <a:noFill/>
          <a:ln/>
        </p:spPr>
        <p:txBody>
          <a:bodyPr wrap="square" lIns="0" tIns="0" rIns="0" bIns="0" rtlCol="0" anchor="ctr"/>
          <a:lstStyle/>
          <a:p>
            <a:pPr indent="0" marL="0">
              <a:buNone/>
            </a:pPr>
            <a:r>
              <a:rPr lang="ja-JP" altLang="en-US" sz="1080" dirty="0">
                <a:solidFill>
                  <a:srgbClr val="60656D"/>
                </a:solidFill>
                <a:latin typeface="Noto Sans CJK JP" pitchFamily="34" charset="0"/>
                <a:ea typeface="Noto Sans CJK JP" pitchFamily="34" charset="-122"/>
                <a:cs typeface="Noto Sans CJK JP" pitchFamily="34" charset="-120"/>
              </a:rPr>
              <a:t>SQL Function／View</a:t>
            </a:r>
            <a:endParaRPr lang="ja-JP" sz="1080" dirty="0"/>
          </a:p>
          <a:p>
            <a:pPr indent="0" marL="0">
              <a:buNone/>
            </a:pPr>
            <a:r>
              <a:rPr lang="ja-JP" altLang="en-US" sz="1080" dirty="0">
                <a:solidFill>
                  <a:srgbClr val="60656D"/>
                </a:solidFill>
                <a:latin typeface="Noto Sans CJK JP" pitchFamily="34" charset="0"/>
                <a:ea typeface="Noto Sans CJK JP" pitchFamily="34" charset="-122"/>
                <a:cs typeface="Noto Sans CJK JP" pitchFamily="34" charset="-120"/>
              </a:rPr>
              <a:t>配置先を検証で決定</a:t>
            </a:r>
            <a:endParaRPr lang="ja-JP" sz="1080" dirty="0"/>
          </a:p>
        </p:txBody>
      </p:sp>
      <p:sp>
        <p:nvSpPr>
          <p:cNvPr id="37" name="Shape 35"/>
          <p:cNvSpPr/>
          <p:nvPr/>
        </p:nvSpPr>
        <p:spPr>
          <a:xfrm>
            <a:off x="7452360" y="3255264"/>
            <a:ext cx="2093976" cy="2139696"/>
          </a:xfrm>
          <a:prstGeom prst="rect">
            <a:avLst>
              <a:gd name="adj" fmla="val 3493"/>
            </a:avLst>
          </a:prstGeom>
          <a:solidFill>
            <a:srgbClr val="FFFFFF"/>
          </a:solidFill>
          <a:ln w="12700">
            <a:solidFill>
              <a:srgbClr val="FFFFFF">
                <a:alpha val="0"/>
              </a:srgbClr>
            </a:solidFill>
            <a:prstDash val="solid"/>
          </a:ln>
        </p:spPr>
      </p:sp>
      <p:sp>
        <p:nvSpPr>
          <p:cNvPr id="38" name="Text 36"/>
          <p:cNvSpPr/>
          <p:nvPr/>
        </p:nvSpPr>
        <p:spPr>
          <a:xfrm>
            <a:off x="7598664" y="3410712"/>
            <a:ext cx="1819656" cy="329184"/>
          </a:xfrm>
          <a:prstGeom prst="rect">
            <a:avLst/>
          </a:prstGeom>
          <a:noFill/>
          <a:ln/>
        </p:spPr>
        <p:txBody>
          <a:bodyPr wrap="square" lIns="0" tIns="0" rIns="0" bIns="0" rtlCol="0" anchor="ctr"/>
          <a:lstStyle/>
          <a:p>
            <a:pPr indent="0" marL="0">
              <a:buNone/>
            </a:pPr>
            <a:r>
              <a:rPr lang="ja-JP" altLang="en-US" sz="2200" b="1" dirty="0">
                <a:solidFill>
                  <a:srgbClr val="25282E"/>
                </a:solidFill>
                <a:latin typeface="Arial" pitchFamily="34" charset="0"/>
                <a:ea typeface="Arial" pitchFamily="34" charset="-122"/>
                <a:cs typeface="Arial" pitchFamily="34" charset="-120"/>
              </a:rPr>
              <a:t>Output</a:t>
            </a:r>
            <a:endParaRPr lang="ja-JP" sz="2200" dirty="0"/>
          </a:p>
        </p:txBody>
      </p:sp>
      <p:sp>
        <p:nvSpPr>
          <p:cNvPr id="39" name="Text 37"/>
          <p:cNvSpPr/>
          <p:nvPr/>
        </p:nvSpPr>
        <p:spPr>
          <a:xfrm>
            <a:off x="7598664" y="3895344"/>
            <a:ext cx="1810512" cy="758952"/>
          </a:xfrm>
          <a:prstGeom prst="rect">
            <a:avLst/>
          </a:prstGeom>
          <a:noFill/>
          <a:ln/>
        </p:spPr>
        <p:txBody>
          <a:bodyPr wrap="square" lIns="0" tIns="0" rIns="0" bIns="0" rtlCol="0" anchor="t"/>
          <a:lstStyle/>
          <a:p>
            <a:pPr indent="0" marL="0">
              <a:buNone/>
            </a:pPr>
            <a:r>
              <a:rPr lang="ja-JP" altLang="en-US" sz="1200" dirty="0">
                <a:solidFill>
                  <a:srgbClr val="25282E"/>
                </a:solidFill>
                <a:latin typeface="Noto Sans CJK JP" pitchFamily="34" charset="0"/>
                <a:ea typeface="Noto Sans CJK JP" pitchFamily="34" charset="-122"/>
                <a:cs typeface="Noto Sans CJK JP" pitchFamily="34" charset="-120"/>
              </a:rPr>
              <a:t>OutputLakehouse</a:t>
            </a:r>
            <a:endParaRPr lang="ja-JP" sz="1200" dirty="0"/>
          </a:p>
          <a:p>
            <a:pPr indent="0" marL="0">
              <a:buNone/>
            </a:pPr>
            <a:r>
              <a:rPr lang="ja-JP" altLang="en-US" sz="1200" dirty="0">
                <a:solidFill>
                  <a:srgbClr val="25282E"/>
                </a:solidFill>
                <a:latin typeface="Noto Sans CJK JP" pitchFamily="34" charset="0"/>
                <a:ea typeface="Noto Sans CJK JP" pitchFamily="34" charset="-122"/>
                <a:cs typeface="Noto Sans CJK JP" pitchFamily="34" charset="-120"/>
              </a:rPr>
              <a:t>stg／tgt × 5組（想定）</a:t>
            </a:r>
            <a:endParaRPr lang="ja-JP" sz="1200" dirty="0"/>
          </a:p>
          <a:p>
            <a:pPr indent="0" marL="0">
              <a:buNone/>
            </a:pPr>
            <a:r>
              <a:rPr lang="ja-JP" altLang="en-US" sz="1200" dirty="0">
                <a:solidFill>
                  <a:srgbClr val="25282E"/>
                </a:solidFill>
                <a:latin typeface="Noto Sans CJK JP" pitchFamily="34" charset="0"/>
                <a:ea typeface="Noto Sans CJK JP" pitchFamily="34" charset="-122"/>
                <a:cs typeface="Noto Sans CJK JP" pitchFamily="34" charset="-120"/>
              </a:rPr>
              <a:t>Watermark</a:t>
            </a:r>
            <a:endParaRPr lang="ja-JP" sz="1200" dirty="0"/>
          </a:p>
        </p:txBody>
      </p:sp>
      <p:sp>
        <p:nvSpPr>
          <p:cNvPr id="40" name="Shape 38"/>
          <p:cNvSpPr/>
          <p:nvPr/>
        </p:nvSpPr>
        <p:spPr>
          <a:xfrm>
            <a:off x="7589520" y="4837176"/>
            <a:ext cx="1792224" cy="283464"/>
          </a:xfrm>
          <a:prstGeom prst="rect">
            <a:avLst>
              <a:gd name="adj" fmla="val 25806"/>
            </a:avLst>
          </a:prstGeom>
          <a:solidFill>
            <a:srgbClr val="E51B0B"/>
          </a:solidFill>
          <a:ln w="12700">
            <a:solidFill>
              <a:srgbClr val="E51B0B">
                <a:alpha val="0"/>
              </a:srgbClr>
            </a:solidFill>
            <a:prstDash val="solid"/>
          </a:ln>
        </p:spPr>
      </p:sp>
      <p:sp>
        <p:nvSpPr>
          <p:cNvPr id="41" name="Text 39"/>
          <p:cNvSpPr/>
          <p:nvPr/>
        </p:nvSpPr>
        <p:spPr>
          <a:xfrm>
            <a:off x="7662672" y="4846320"/>
            <a:ext cx="1645920" cy="265176"/>
          </a:xfrm>
          <a:prstGeom prst="rect">
            <a:avLst/>
          </a:prstGeom>
          <a:noFill/>
          <a:ln/>
        </p:spPr>
        <p:txBody>
          <a:bodyPr wrap="square" lIns="0" tIns="0" rIns="0" bIns="0" rtlCol="0" anchor="ctr"/>
          <a:lstStyle/>
          <a:p>
            <a:pPr algn="ctr" indent="0" marL="0">
              <a:buNone/>
            </a:pPr>
            <a:r>
              <a:rPr lang="ja-JP" altLang="en-US" sz="1150" b="1" dirty="0">
                <a:solidFill>
                  <a:srgbClr val="FFFFFF"/>
                </a:solidFill>
                <a:latin typeface="Noto Sans CJK JP" pitchFamily="34" charset="0"/>
                <a:ea typeface="Noto Sans CJK JP" pitchFamily="34" charset="-122"/>
                <a:cs typeface="Noto Sans CJK JP" pitchFamily="34" charset="-120"/>
              </a:rPr>
              <a:t>OutputPipeline</a:t>
            </a:r>
            <a:endParaRPr lang="ja-JP" sz="1150" dirty="0"/>
          </a:p>
        </p:txBody>
      </p:sp>
      <p:sp>
        <p:nvSpPr>
          <p:cNvPr id="42" name="Text 40"/>
          <p:cNvSpPr/>
          <p:nvPr/>
        </p:nvSpPr>
        <p:spPr>
          <a:xfrm>
            <a:off x="7607808" y="5212080"/>
            <a:ext cx="1801368" cy="164592"/>
          </a:xfrm>
          <a:prstGeom prst="rect">
            <a:avLst/>
          </a:prstGeom>
          <a:noFill/>
          <a:ln/>
        </p:spPr>
        <p:txBody>
          <a:bodyPr wrap="square" lIns="0" tIns="0" rIns="0" bIns="0" rtlCol="0" anchor="ctr"/>
          <a:lstStyle/>
          <a:p>
            <a:pPr indent="0" marL="0">
              <a:buNone/>
            </a:pPr>
            <a:r>
              <a:rPr lang="ja-JP" altLang="en-US" sz="1050" dirty="0">
                <a:solidFill>
                  <a:srgbClr val="60656D"/>
                </a:solidFill>
                <a:latin typeface="Noto Sans CJK JP" pitchFamily="34" charset="0"/>
                <a:ea typeface="Noto Sans CJK JP" pitchFamily="34" charset="-122"/>
                <a:cs typeface="Noto Sans CJK JP" pitchFamily="34" charset="-120"/>
              </a:rPr>
              <a:t>コピー・更新・再実行</a:t>
            </a:r>
            <a:endParaRPr lang="ja-JP" sz="1050" dirty="0"/>
          </a:p>
        </p:txBody>
      </p:sp>
      <p:sp>
        <p:nvSpPr>
          <p:cNvPr id="43" name="Shape 41"/>
          <p:cNvSpPr/>
          <p:nvPr/>
        </p:nvSpPr>
        <p:spPr>
          <a:xfrm>
            <a:off x="10058400" y="2487168"/>
            <a:ext cx="1645920" cy="3172968"/>
          </a:xfrm>
          <a:prstGeom prst="rect">
            <a:avLst>
              <a:gd name="adj" fmla="val 4444"/>
            </a:avLst>
          </a:prstGeom>
          <a:solidFill>
            <a:srgbClr val="25282E"/>
          </a:solidFill>
          <a:ln w="12700">
            <a:solidFill>
              <a:srgbClr val="25282E">
                <a:alpha val="0"/>
              </a:srgbClr>
            </a:solidFill>
            <a:prstDash val="solid"/>
          </a:ln>
        </p:spPr>
      </p:sp>
      <p:sp>
        <p:nvSpPr>
          <p:cNvPr id="44" name="Text 42"/>
          <p:cNvSpPr/>
          <p:nvPr/>
        </p:nvSpPr>
        <p:spPr>
          <a:xfrm>
            <a:off x="10195560" y="3108960"/>
            <a:ext cx="1371600" cy="347472"/>
          </a:xfrm>
          <a:prstGeom prst="rect">
            <a:avLst/>
          </a:prstGeom>
          <a:noFill/>
          <a:ln/>
        </p:spPr>
        <p:txBody>
          <a:bodyPr wrap="square" lIns="0" tIns="0" rIns="0" bIns="0" rtlCol="0" anchor="ctr"/>
          <a:lstStyle/>
          <a:p>
            <a:pPr algn="ctr" indent="0" marL="0">
              <a:buNone/>
            </a:pPr>
            <a:r>
              <a:rPr lang="ja-JP" altLang="en-US" sz="1750" b="1" dirty="0">
                <a:solidFill>
                  <a:srgbClr val="FFFFFF"/>
                </a:solidFill>
                <a:latin typeface="Arial" pitchFamily="34" charset="0"/>
                <a:ea typeface="Arial" pitchFamily="34" charset="-122"/>
                <a:cs typeface="Arial" pitchFamily="34" charset="-120"/>
              </a:rPr>
              <a:t>Dataverse</a:t>
            </a:r>
            <a:endParaRPr lang="ja-JP" sz="1750" dirty="0"/>
          </a:p>
        </p:txBody>
      </p:sp>
      <p:sp>
        <p:nvSpPr>
          <p:cNvPr id="45" name="Text 43"/>
          <p:cNvSpPr/>
          <p:nvPr/>
        </p:nvSpPr>
        <p:spPr>
          <a:xfrm>
            <a:off x="10204704" y="3749040"/>
            <a:ext cx="1362456" cy="996696"/>
          </a:xfrm>
          <a:prstGeom prst="rect">
            <a:avLst/>
          </a:prstGeom>
          <a:noFill/>
          <a:ln/>
        </p:spPr>
        <p:txBody>
          <a:bodyPr wrap="square" lIns="0" tIns="0" rIns="0" bIns="0" rtlCol="0" anchor="t"/>
          <a:lstStyle/>
          <a:p>
            <a:pPr algn="ctr" indent="0" marL="0">
              <a:buNone/>
            </a:pPr>
            <a:r>
              <a:rPr lang="ja-JP" altLang="en-US" sz="1230" dirty="0">
                <a:solidFill>
                  <a:srgbClr val="FFFFFF"/>
                </a:solidFill>
                <a:latin typeface="Noto Sans CJK JP" pitchFamily="34" charset="0"/>
                <a:ea typeface="Noto Sans CJK JP" pitchFamily="34" charset="-122"/>
                <a:cs typeface="Noto Sans CJK JP" pitchFamily="34" charset="-120"/>
              </a:rPr>
              <a:t>5テーブル</a:t>
            </a:r>
            <a:endParaRPr lang="ja-JP" sz="1230" dirty="0"/>
          </a:p>
          <a:p>
            <a:pPr algn="ctr" indent="0" marL="0">
              <a:buNone/>
            </a:pPr>
            <a:endParaRPr lang="ja-JP" sz="1230" dirty="0"/>
          </a:p>
          <a:p>
            <a:pPr algn="ctr" indent="0" marL="0">
              <a:buNone/>
            </a:pPr>
            <a:r>
              <a:rPr lang="ja-JP" altLang="en-US" sz="1230" dirty="0">
                <a:solidFill>
                  <a:srgbClr val="FFFFFF"/>
                </a:solidFill>
                <a:latin typeface="Noto Sans CJK JP" pitchFamily="34" charset="0"/>
                <a:ea typeface="Noto Sans CJK JP" pitchFamily="34" charset="-122"/>
                <a:cs typeface="Noto Sans CJK JP" pitchFamily="34" charset="-120"/>
              </a:rPr>
              <a:t>まずテスト環境で</a:t>
            </a:r>
            <a:endParaRPr lang="ja-JP" sz="1230" dirty="0"/>
          </a:p>
          <a:p>
            <a:pPr algn="ctr" indent="0" marL="0">
              <a:buNone/>
            </a:pPr>
            <a:r>
              <a:rPr lang="ja-JP" altLang="en-US" sz="1230" dirty="0">
                <a:solidFill>
                  <a:srgbClr val="FFFFFF"/>
                </a:solidFill>
                <a:latin typeface="Noto Sans CJK JP" pitchFamily="34" charset="0"/>
                <a:ea typeface="Noto Sans CJK JP" pitchFamily="34" charset="-122"/>
                <a:cs typeface="Noto Sans CJK JP" pitchFamily="34" charset="-120"/>
              </a:rPr>
              <a:t>接続・更新を確認</a:t>
            </a:r>
            <a:endParaRPr lang="ja-JP" sz="1230" dirty="0"/>
          </a:p>
        </p:txBody>
      </p:sp>
      <p:sp>
        <p:nvSpPr>
          <p:cNvPr id="46" name="Text 44"/>
          <p:cNvSpPr/>
          <p:nvPr/>
        </p:nvSpPr>
        <p:spPr>
          <a:xfrm>
            <a:off x="10149840" y="5175504"/>
            <a:ext cx="1453896" cy="228600"/>
          </a:xfrm>
          <a:prstGeom prst="rect">
            <a:avLst/>
          </a:prstGeom>
          <a:noFill/>
          <a:ln/>
        </p:spPr>
        <p:txBody>
          <a:bodyPr wrap="square" lIns="0" tIns="0" rIns="0" bIns="0" rtlCol="0" anchor="ctr"/>
          <a:lstStyle/>
          <a:p>
            <a:pPr algn="ctr" indent="0" marL="0">
              <a:buNone/>
            </a:pPr>
            <a:r>
              <a:rPr lang="ja-JP" altLang="en-US" sz="970" dirty="0">
                <a:solidFill>
                  <a:srgbClr val="F8BFB9"/>
                </a:solidFill>
                <a:latin typeface="Noto Sans CJK JP" pitchFamily="34" charset="0"/>
                <a:ea typeface="Noto Sans CJK JP" pitchFamily="34" charset="-122"/>
                <a:cs typeface="Noto Sans CJK JP" pitchFamily="34" charset="-120"/>
              </a:rPr>
              <a:t>本番切替は別途計画</a:t>
            </a:r>
            <a:endParaRPr lang="ja-JP" sz="970" dirty="0"/>
          </a:p>
        </p:txBody>
      </p:sp>
      <p:sp>
        <p:nvSpPr>
          <p:cNvPr id="47" name="Shape 45"/>
          <p:cNvSpPr/>
          <p:nvPr/>
        </p:nvSpPr>
        <p:spPr>
          <a:xfrm>
            <a:off x="2322576" y="4005072"/>
            <a:ext cx="256032" cy="0"/>
          </a:xfrm>
          <a:prstGeom prst="line">
            <a:avLst/>
          </a:prstGeom>
          <a:noFill/>
          <a:ln w="21590">
            <a:solidFill>
              <a:srgbClr val="E51B0B"/>
            </a:solidFill>
            <a:prstDash val="solid"/>
            <a:headEnd type="none"/>
            <a:tailEnd type="triangle"/>
          </a:ln>
        </p:spPr>
      </p:sp>
      <p:sp>
        <p:nvSpPr>
          <p:cNvPr id="48" name="Shape 46"/>
          <p:cNvSpPr/>
          <p:nvPr/>
        </p:nvSpPr>
        <p:spPr>
          <a:xfrm>
            <a:off x="4846320" y="4005072"/>
            <a:ext cx="256032" cy="0"/>
          </a:xfrm>
          <a:prstGeom prst="line">
            <a:avLst/>
          </a:prstGeom>
          <a:noFill/>
          <a:ln w="21590">
            <a:solidFill>
              <a:srgbClr val="E51B0B"/>
            </a:solidFill>
            <a:prstDash val="solid"/>
            <a:headEnd type="none"/>
            <a:tailEnd type="triangle"/>
          </a:ln>
        </p:spPr>
      </p:sp>
      <p:sp>
        <p:nvSpPr>
          <p:cNvPr id="49" name="Shape 47"/>
          <p:cNvSpPr/>
          <p:nvPr/>
        </p:nvSpPr>
        <p:spPr>
          <a:xfrm>
            <a:off x="7168896" y="4005072"/>
            <a:ext cx="256032" cy="0"/>
          </a:xfrm>
          <a:prstGeom prst="line">
            <a:avLst/>
          </a:prstGeom>
          <a:noFill/>
          <a:ln w="21590">
            <a:solidFill>
              <a:srgbClr val="E51B0B"/>
            </a:solidFill>
            <a:prstDash val="solid"/>
            <a:headEnd type="none"/>
            <a:tailEnd type="triangle"/>
          </a:ln>
        </p:spPr>
      </p:sp>
      <p:sp>
        <p:nvSpPr>
          <p:cNvPr id="50" name="Shape 48"/>
          <p:cNvSpPr/>
          <p:nvPr/>
        </p:nvSpPr>
        <p:spPr>
          <a:xfrm>
            <a:off x="9765792" y="4005072"/>
            <a:ext cx="265176" cy="0"/>
          </a:xfrm>
          <a:prstGeom prst="line">
            <a:avLst/>
          </a:prstGeom>
          <a:noFill/>
          <a:ln w="21590">
            <a:solidFill>
              <a:srgbClr val="E51B0B"/>
            </a:solidFill>
            <a:prstDash val="solid"/>
            <a:headEnd type="none"/>
            <a:tailEnd type="triangle"/>
          </a:ln>
        </p:spPr>
      </p:sp>
      <p:sp>
        <p:nvSpPr>
          <p:cNvPr id="51" name="Text 49"/>
          <p:cNvSpPr/>
          <p:nvPr/>
        </p:nvSpPr>
        <p:spPr>
          <a:xfrm>
            <a:off x="521208" y="5879592"/>
            <a:ext cx="11119104" cy="237744"/>
          </a:xfrm>
          <a:prstGeom prst="rect">
            <a:avLst/>
          </a:prstGeom>
          <a:noFill/>
          <a:ln/>
        </p:spPr>
        <p:txBody>
          <a:bodyPr wrap="square" lIns="0" tIns="0" rIns="0" bIns="0" rtlCol="0" anchor="ctr"/>
          <a:lstStyle/>
          <a:p>
            <a:pPr indent="0" marL="0">
              <a:buNone/>
            </a:pPr>
            <a:r>
              <a:rPr lang="ja-JP" altLang="en-US" sz="1140" b="1" dirty="0">
                <a:solidFill>
                  <a:srgbClr val="60656D"/>
                </a:solidFill>
                <a:latin typeface="Noto Sans CJK JP" pitchFamily="34" charset="0"/>
                <a:ea typeface="Noto Sans CJK JP" pitchFamily="34" charset="-122"/>
                <a:cs typeface="Noto Sans CJK JP" pitchFamily="34" charset="-120"/>
              </a:rPr>
              <a:t>設計で確定：入力ごとの取込経路、Goldのコピー／参照方式、SQL実行先、差分キー・依存順・連携時刻</a:t>
            </a:r>
            <a:endParaRPr lang="ja-JP" sz="1140" dirty="0"/>
          </a:p>
        </p:txBody>
      </p:sp>
      <p:sp>
        <p:nvSpPr>
          <p:cNvPr id="52" name="Shape 50"/>
          <p:cNvSpPr/>
          <p:nvPr/>
        </p:nvSpPr>
        <p:spPr>
          <a:xfrm>
            <a:off x="457200" y="6492240"/>
            <a:ext cx="11274552" cy="0"/>
          </a:xfrm>
          <a:prstGeom prst="line">
            <a:avLst/>
          </a:prstGeom>
          <a:noFill/>
          <a:ln w="8890">
            <a:solidFill>
              <a:srgbClr val="DFE1E4"/>
            </a:solidFill>
            <a:prstDash val="solid"/>
            <a:headEnd type="none"/>
            <a:tailEnd type="none"/>
          </a:ln>
        </p:spPr>
      </p:sp>
      <p:sp>
        <p:nvSpPr>
          <p:cNvPr id="53" name="Text 51"/>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54" name="Text 52"/>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55" name="Text 53"/>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07</a:t>
            </a:r>
            <a:endParaRPr lang="ja-JP" sz="1000" dirty="0"/>
          </a:p>
        </p:txBody>
      </p:sp>
      <p:sp>
        <p:nvSpPr>
          <p:cNvPr id="56" name="Text 54"/>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No.11〜12、24、30〜49／MS1・MS2（最終ページ）。実際の接続・認証・転送方式は未検証。</a:t>
            </a:r>
            <a:endParaRPr lang="ja-JP"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開発範囲と主要成果物</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既存変更・新規作成・試験を切り分け、数量確定後にWBSと見積りを更新する</a:t>
            </a:r>
            <a:endParaRPr lang="ja-JP" sz="1340" dirty="0"/>
          </a:p>
        </p:txBody>
      </p:sp>
      <p:sp>
        <p:nvSpPr>
          <p:cNvPr id="6" name="Shape 4"/>
          <p:cNvSpPr/>
          <p:nvPr/>
        </p:nvSpPr>
        <p:spPr>
          <a:xfrm>
            <a:off x="475488" y="1581912"/>
            <a:ext cx="1796613" cy="411480"/>
          </a:xfrm>
          <a:prstGeom prst="rect">
            <a:avLst>
              <a:gd name="adj" fmla="val 17778"/>
            </a:avLst>
          </a:prstGeom>
          <a:solidFill>
            <a:srgbClr val="E51B0B"/>
          </a:solidFill>
          <a:ln w="12700">
            <a:solidFill>
              <a:srgbClr val="E51B0B">
                <a:alpha val="0"/>
              </a:srgbClr>
            </a:solidFill>
            <a:prstDash val="solid"/>
          </a:ln>
        </p:spPr>
      </p:sp>
      <p:sp>
        <p:nvSpPr>
          <p:cNvPr id="7" name="Text 5"/>
          <p:cNvSpPr/>
          <p:nvPr/>
        </p:nvSpPr>
        <p:spPr>
          <a:xfrm>
            <a:off x="585216" y="1618488"/>
            <a:ext cx="1577157" cy="338328"/>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領域</a:t>
            </a:r>
            <a:endParaRPr lang="ja-JP" sz="1350" dirty="0"/>
          </a:p>
        </p:txBody>
      </p:sp>
      <p:sp>
        <p:nvSpPr>
          <p:cNvPr id="8" name="Shape 6"/>
          <p:cNvSpPr/>
          <p:nvPr/>
        </p:nvSpPr>
        <p:spPr>
          <a:xfrm>
            <a:off x="2272101" y="1581912"/>
            <a:ext cx="6512723" cy="411480"/>
          </a:xfrm>
          <a:prstGeom prst="rect">
            <a:avLst>
              <a:gd name="adj" fmla="val 17778"/>
            </a:avLst>
          </a:prstGeom>
          <a:solidFill>
            <a:srgbClr val="E51B0B"/>
          </a:solidFill>
          <a:ln w="12700">
            <a:solidFill>
              <a:srgbClr val="E51B0B">
                <a:alpha val="0"/>
              </a:srgbClr>
            </a:solidFill>
            <a:prstDash val="solid"/>
          </a:ln>
        </p:spPr>
      </p:sp>
      <p:sp>
        <p:nvSpPr>
          <p:cNvPr id="9" name="Text 7"/>
          <p:cNvSpPr/>
          <p:nvPr/>
        </p:nvSpPr>
        <p:spPr>
          <a:xfrm>
            <a:off x="2381829" y="1618488"/>
            <a:ext cx="6293267" cy="338328"/>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主な作業・成果物</a:t>
            </a:r>
            <a:endParaRPr lang="ja-JP" sz="1350" dirty="0"/>
          </a:p>
        </p:txBody>
      </p:sp>
      <p:sp>
        <p:nvSpPr>
          <p:cNvPr id="10" name="Shape 8"/>
          <p:cNvSpPr/>
          <p:nvPr/>
        </p:nvSpPr>
        <p:spPr>
          <a:xfrm>
            <a:off x="8784824" y="1581912"/>
            <a:ext cx="2919496" cy="411480"/>
          </a:xfrm>
          <a:prstGeom prst="rect">
            <a:avLst>
              <a:gd name="adj" fmla="val 17778"/>
            </a:avLst>
          </a:prstGeom>
          <a:solidFill>
            <a:srgbClr val="E51B0B"/>
          </a:solidFill>
          <a:ln w="12700">
            <a:solidFill>
              <a:srgbClr val="E51B0B">
                <a:alpha val="0"/>
              </a:srgbClr>
            </a:solidFill>
            <a:prstDash val="solid"/>
          </a:ln>
        </p:spPr>
      </p:sp>
      <p:sp>
        <p:nvSpPr>
          <p:cNvPr id="11" name="Text 9"/>
          <p:cNvSpPr/>
          <p:nvPr/>
        </p:nvSpPr>
        <p:spPr>
          <a:xfrm>
            <a:off x="8894552" y="1618488"/>
            <a:ext cx="2700040" cy="338328"/>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数量・計画上の注意</a:t>
            </a:r>
            <a:endParaRPr lang="ja-JP" sz="1350" dirty="0"/>
          </a:p>
        </p:txBody>
      </p:sp>
      <p:sp>
        <p:nvSpPr>
          <p:cNvPr id="12" name="Shape 10"/>
          <p:cNvSpPr/>
          <p:nvPr/>
        </p:nvSpPr>
        <p:spPr>
          <a:xfrm>
            <a:off x="475488" y="1993392"/>
            <a:ext cx="1796613" cy="777240"/>
          </a:xfrm>
          <a:prstGeom prst="rect">
            <a:avLst>
              <a:gd name="adj" fmla="val 9412"/>
            </a:avLst>
          </a:prstGeom>
          <a:solidFill>
            <a:srgbClr val="F4F4F3"/>
          </a:solidFill>
          <a:ln w="12700">
            <a:solidFill>
              <a:srgbClr val="F4F4F3">
                <a:alpha val="0"/>
              </a:srgbClr>
            </a:solidFill>
            <a:prstDash val="solid"/>
          </a:ln>
        </p:spPr>
      </p:sp>
      <p:sp>
        <p:nvSpPr>
          <p:cNvPr id="13" name="Shape 11"/>
          <p:cNvSpPr/>
          <p:nvPr/>
        </p:nvSpPr>
        <p:spPr>
          <a:xfrm>
            <a:off x="475488" y="2770632"/>
            <a:ext cx="1796613" cy="0"/>
          </a:xfrm>
          <a:prstGeom prst="line">
            <a:avLst/>
          </a:prstGeom>
          <a:noFill/>
          <a:ln w="7620">
            <a:solidFill>
              <a:srgbClr val="DFE1E4"/>
            </a:solidFill>
            <a:prstDash val="solid"/>
            <a:headEnd type="none"/>
            <a:tailEnd type="none"/>
          </a:ln>
        </p:spPr>
      </p:sp>
      <p:sp>
        <p:nvSpPr>
          <p:cNvPr id="14" name="Text 12"/>
          <p:cNvSpPr/>
          <p:nvPr/>
        </p:nvSpPr>
        <p:spPr>
          <a:xfrm>
            <a:off x="585216" y="2061972"/>
            <a:ext cx="1577157" cy="640080"/>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既存基盤</a:t>
            </a:r>
            <a:endParaRPr lang="ja-JP" sz="1400" dirty="0"/>
          </a:p>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Bronze／Silver</a:t>
            </a:r>
            <a:endParaRPr lang="ja-JP" sz="1400" dirty="0"/>
          </a:p>
        </p:txBody>
      </p:sp>
      <p:sp>
        <p:nvSpPr>
          <p:cNvPr id="15" name="Shape 13"/>
          <p:cNvSpPr/>
          <p:nvPr/>
        </p:nvSpPr>
        <p:spPr>
          <a:xfrm>
            <a:off x="2272101" y="1993392"/>
            <a:ext cx="6512723" cy="777240"/>
          </a:xfrm>
          <a:prstGeom prst="rect">
            <a:avLst>
              <a:gd name="adj" fmla="val 9412"/>
            </a:avLst>
          </a:prstGeom>
          <a:solidFill>
            <a:srgbClr val="F4F4F3"/>
          </a:solidFill>
          <a:ln w="12700">
            <a:solidFill>
              <a:srgbClr val="F4F4F3">
                <a:alpha val="0"/>
              </a:srgbClr>
            </a:solidFill>
            <a:prstDash val="solid"/>
          </a:ln>
        </p:spPr>
      </p:sp>
      <p:sp>
        <p:nvSpPr>
          <p:cNvPr id="16" name="Shape 14"/>
          <p:cNvSpPr/>
          <p:nvPr/>
        </p:nvSpPr>
        <p:spPr>
          <a:xfrm>
            <a:off x="2272101" y="2770632"/>
            <a:ext cx="6512723" cy="0"/>
          </a:xfrm>
          <a:prstGeom prst="line">
            <a:avLst/>
          </a:prstGeom>
          <a:noFill/>
          <a:ln w="7620">
            <a:solidFill>
              <a:srgbClr val="DFE1E4"/>
            </a:solidFill>
            <a:prstDash val="solid"/>
            <a:headEnd type="none"/>
            <a:tailEnd type="none"/>
          </a:ln>
        </p:spPr>
      </p:sp>
      <p:sp>
        <p:nvSpPr>
          <p:cNvPr id="17" name="Text 15"/>
          <p:cNvSpPr/>
          <p:nvPr/>
        </p:nvSpPr>
        <p:spPr>
          <a:xfrm>
            <a:off x="2381829" y="2061972"/>
            <a:ext cx="6293267"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追加テーブル・列、Dataflow、Notebook、</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Pipelineの変更（GroupA／B等を含む）</a:t>
            </a:r>
            <a:endParaRPr lang="ja-JP" sz="1400" dirty="0"/>
          </a:p>
        </p:txBody>
      </p:sp>
      <p:sp>
        <p:nvSpPr>
          <p:cNvPr id="18" name="Shape 16"/>
          <p:cNvSpPr/>
          <p:nvPr/>
        </p:nvSpPr>
        <p:spPr>
          <a:xfrm>
            <a:off x="8784824" y="1993392"/>
            <a:ext cx="2919496" cy="777240"/>
          </a:xfrm>
          <a:prstGeom prst="rect">
            <a:avLst>
              <a:gd name="adj" fmla="val 9412"/>
            </a:avLst>
          </a:prstGeom>
          <a:solidFill>
            <a:srgbClr val="F4F4F3"/>
          </a:solidFill>
          <a:ln w="12700">
            <a:solidFill>
              <a:srgbClr val="F4F4F3">
                <a:alpha val="0"/>
              </a:srgbClr>
            </a:solidFill>
            <a:prstDash val="solid"/>
          </a:ln>
        </p:spPr>
      </p:sp>
      <p:sp>
        <p:nvSpPr>
          <p:cNvPr id="19" name="Shape 17"/>
          <p:cNvSpPr/>
          <p:nvPr/>
        </p:nvSpPr>
        <p:spPr>
          <a:xfrm>
            <a:off x="8784824" y="2770632"/>
            <a:ext cx="2919496" cy="0"/>
          </a:xfrm>
          <a:prstGeom prst="line">
            <a:avLst/>
          </a:prstGeom>
          <a:noFill/>
          <a:ln w="7620">
            <a:solidFill>
              <a:srgbClr val="DFE1E4"/>
            </a:solidFill>
            <a:prstDash val="solid"/>
            <a:headEnd type="none"/>
            <a:tailEnd type="none"/>
          </a:ln>
        </p:spPr>
      </p:sp>
      <p:sp>
        <p:nvSpPr>
          <p:cNvPr id="20" name="Text 18"/>
          <p:cNvSpPr/>
          <p:nvPr/>
        </p:nvSpPr>
        <p:spPr>
          <a:xfrm>
            <a:off x="8894552" y="2061972"/>
            <a:ext cx="2700040"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各39テーブル追加の見込み</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INPUT確定後に再確認</a:t>
            </a:r>
            <a:endParaRPr lang="ja-JP" sz="1400" dirty="0"/>
          </a:p>
        </p:txBody>
      </p:sp>
      <p:sp>
        <p:nvSpPr>
          <p:cNvPr id="21" name="Shape 19"/>
          <p:cNvSpPr/>
          <p:nvPr/>
        </p:nvSpPr>
        <p:spPr>
          <a:xfrm>
            <a:off x="475488" y="2770632"/>
            <a:ext cx="1796613" cy="777240"/>
          </a:xfrm>
          <a:prstGeom prst="rect">
            <a:avLst>
              <a:gd name="adj" fmla="val 9412"/>
            </a:avLst>
          </a:prstGeom>
          <a:solidFill>
            <a:srgbClr val="FFFFFF"/>
          </a:solidFill>
          <a:ln w="12700">
            <a:solidFill>
              <a:srgbClr val="FFFFFF">
                <a:alpha val="0"/>
              </a:srgbClr>
            </a:solidFill>
            <a:prstDash val="solid"/>
          </a:ln>
        </p:spPr>
      </p:sp>
      <p:sp>
        <p:nvSpPr>
          <p:cNvPr id="22" name="Shape 20"/>
          <p:cNvSpPr/>
          <p:nvPr/>
        </p:nvSpPr>
        <p:spPr>
          <a:xfrm>
            <a:off x="475488" y="3547872"/>
            <a:ext cx="1796613" cy="0"/>
          </a:xfrm>
          <a:prstGeom prst="line">
            <a:avLst/>
          </a:prstGeom>
          <a:noFill/>
          <a:ln w="7620">
            <a:solidFill>
              <a:srgbClr val="DFE1E4"/>
            </a:solidFill>
            <a:prstDash val="solid"/>
            <a:headEnd type="none"/>
            <a:tailEnd type="none"/>
          </a:ln>
        </p:spPr>
      </p:sp>
      <p:sp>
        <p:nvSpPr>
          <p:cNvPr id="23" name="Text 21"/>
          <p:cNvSpPr/>
          <p:nvPr/>
        </p:nvSpPr>
        <p:spPr>
          <a:xfrm>
            <a:off x="585216" y="2839212"/>
            <a:ext cx="1577157" cy="640080"/>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Gold</a:t>
            </a:r>
            <a:endParaRPr lang="ja-JP" sz="1400" dirty="0"/>
          </a:p>
        </p:txBody>
      </p:sp>
      <p:sp>
        <p:nvSpPr>
          <p:cNvPr id="24" name="Shape 22"/>
          <p:cNvSpPr/>
          <p:nvPr/>
        </p:nvSpPr>
        <p:spPr>
          <a:xfrm>
            <a:off x="2272101" y="2770632"/>
            <a:ext cx="6512723" cy="777240"/>
          </a:xfrm>
          <a:prstGeom prst="rect">
            <a:avLst>
              <a:gd name="adj" fmla="val 9412"/>
            </a:avLst>
          </a:prstGeom>
          <a:solidFill>
            <a:srgbClr val="FFFFFF"/>
          </a:solidFill>
          <a:ln w="12700">
            <a:solidFill>
              <a:srgbClr val="FFFFFF">
                <a:alpha val="0"/>
              </a:srgbClr>
            </a:solidFill>
            <a:prstDash val="solid"/>
          </a:ln>
        </p:spPr>
      </p:sp>
      <p:sp>
        <p:nvSpPr>
          <p:cNvPr id="25" name="Shape 23"/>
          <p:cNvSpPr/>
          <p:nvPr/>
        </p:nvSpPr>
        <p:spPr>
          <a:xfrm>
            <a:off x="2272101" y="3547872"/>
            <a:ext cx="6512723" cy="0"/>
          </a:xfrm>
          <a:prstGeom prst="line">
            <a:avLst/>
          </a:prstGeom>
          <a:noFill/>
          <a:ln w="7620">
            <a:solidFill>
              <a:srgbClr val="DFE1E4"/>
            </a:solidFill>
            <a:prstDash val="solid"/>
            <a:headEnd type="none"/>
            <a:tailEnd type="none"/>
          </a:ln>
        </p:spPr>
      </p:sp>
      <p:sp>
        <p:nvSpPr>
          <p:cNvPr id="26" name="Text 24"/>
          <p:cNvSpPr/>
          <p:nvPr/>
        </p:nvSpPr>
        <p:spPr>
          <a:xfrm>
            <a:off x="2381829" y="2839212"/>
            <a:ext cx="6293267"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取得・参照構成、SQL Function／View、</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5出力の加工Notebook／GoldPipeline</a:t>
            </a:r>
            <a:endParaRPr lang="ja-JP" sz="1400" dirty="0"/>
          </a:p>
        </p:txBody>
      </p:sp>
      <p:sp>
        <p:nvSpPr>
          <p:cNvPr id="27" name="Shape 25"/>
          <p:cNvSpPr/>
          <p:nvPr/>
        </p:nvSpPr>
        <p:spPr>
          <a:xfrm>
            <a:off x="8784824" y="2770632"/>
            <a:ext cx="2919496" cy="777240"/>
          </a:xfrm>
          <a:prstGeom prst="rect">
            <a:avLst>
              <a:gd name="adj" fmla="val 9412"/>
            </a:avLst>
          </a:prstGeom>
          <a:solidFill>
            <a:srgbClr val="FFFFFF"/>
          </a:solidFill>
          <a:ln w="12700">
            <a:solidFill>
              <a:srgbClr val="FFFFFF">
                <a:alpha val="0"/>
              </a:srgbClr>
            </a:solidFill>
            <a:prstDash val="solid"/>
          </a:ln>
        </p:spPr>
      </p:sp>
      <p:sp>
        <p:nvSpPr>
          <p:cNvPr id="28" name="Shape 26"/>
          <p:cNvSpPr/>
          <p:nvPr/>
        </p:nvSpPr>
        <p:spPr>
          <a:xfrm>
            <a:off x="8784824" y="3547872"/>
            <a:ext cx="2919496" cy="0"/>
          </a:xfrm>
          <a:prstGeom prst="line">
            <a:avLst/>
          </a:prstGeom>
          <a:noFill/>
          <a:ln w="7620">
            <a:solidFill>
              <a:srgbClr val="DFE1E4"/>
            </a:solidFill>
            <a:prstDash val="solid"/>
            <a:headEnd type="none"/>
            <a:tailEnd type="none"/>
          </a:ln>
        </p:spPr>
      </p:sp>
      <p:sp>
        <p:nvSpPr>
          <p:cNvPr id="29" name="Text 27"/>
          <p:cNvSpPr/>
          <p:nvPr/>
        </p:nvSpPr>
        <p:spPr>
          <a:xfrm>
            <a:off x="8894552" y="2839212"/>
            <a:ext cx="2700040"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Lakehouse 1〜2件（想定）</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出力Notebook 5件（想定）</a:t>
            </a:r>
            <a:endParaRPr lang="ja-JP" sz="1400" dirty="0"/>
          </a:p>
        </p:txBody>
      </p:sp>
      <p:sp>
        <p:nvSpPr>
          <p:cNvPr id="30" name="Shape 28"/>
          <p:cNvSpPr/>
          <p:nvPr/>
        </p:nvSpPr>
        <p:spPr>
          <a:xfrm>
            <a:off x="475488" y="3547872"/>
            <a:ext cx="1796613" cy="777240"/>
          </a:xfrm>
          <a:prstGeom prst="rect">
            <a:avLst>
              <a:gd name="adj" fmla="val 9412"/>
            </a:avLst>
          </a:prstGeom>
          <a:solidFill>
            <a:srgbClr val="F4F4F3"/>
          </a:solidFill>
          <a:ln w="12700">
            <a:solidFill>
              <a:srgbClr val="F4F4F3">
                <a:alpha val="0"/>
              </a:srgbClr>
            </a:solidFill>
            <a:prstDash val="solid"/>
          </a:ln>
        </p:spPr>
      </p:sp>
      <p:sp>
        <p:nvSpPr>
          <p:cNvPr id="31" name="Shape 29"/>
          <p:cNvSpPr/>
          <p:nvPr/>
        </p:nvSpPr>
        <p:spPr>
          <a:xfrm>
            <a:off x="475488" y="4325112"/>
            <a:ext cx="1796613" cy="0"/>
          </a:xfrm>
          <a:prstGeom prst="line">
            <a:avLst/>
          </a:prstGeom>
          <a:noFill/>
          <a:ln w="7620">
            <a:solidFill>
              <a:srgbClr val="DFE1E4"/>
            </a:solidFill>
            <a:prstDash val="solid"/>
            <a:headEnd type="none"/>
            <a:tailEnd type="none"/>
          </a:ln>
        </p:spPr>
      </p:sp>
      <p:sp>
        <p:nvSpPr>
          <p:cNvPr id="32" name="Text 30"/>
          <p:cNvSpPr/>
          <p:nvPr/>
        </p:nvSpPr>
        <p:spPr>
          <a:xfrm>
            <a:off x="585216" y="3616452"/>
            <a:ext cx="1577157" cy="640080"/>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共通処理</a:t>
            </a:r>
            <a:endParaRPr lang="ja-JP" sz="1400" dirty="0"/>
          </a:p>
        </p:txBody>
      </p:sp>
      <p:sp>
        <p:nvSpPr>
          <p:cNvPr id="33" name="Shape 31"/>
          <p:cNvSpPr/>
          <p:nvPr/>
        </p:nvSpPr>
        <p:spPr>
          <a:xfrm>
            <a:off x="2272101" y="3547872"/>
            <a:ext cx="6512723" cy="777240"/>
          </a:xfrm>
          <a:prstGeom prst="rect">
            <a:avLst>
              <a:gd name="adj" fmla="val 9412"/>
            </a:avLst>
          </a:prstGeom>
          <a:solidFill>
            <a:srgbClr val="F4F4F3"/>
          </a:solidFill>
          <a:ln w="12700">
            <a:solidFill>
              <a:srgbClr val="F4F4F3">
                <a:alpha val="0"/>
              </a:srgbClr>
            </a:solidFill>
            <a:prstDash val="solid"/>
          </a:ln>
        </p:spPr>
      </p:sp>
      <p:sp>
        <p:nvSpPr>
          <p:cNvPr id="34" name="Shape 32"/>
          <p:cNvSpPr/>
          <p:nvPr/>
        </p:nvSpPr>
        <p:spPr>
          <a:xfrm>
            <a:off x="2272101" y="4325112"/>
            <a:ext cx="6512723" cy="0"/>
          </a:xfrm>
          <a:prstGeom prst="line">
            <a:avLst/>
          </a:prstGeom>
          <a:noFill/>
          <a:ln w="7620">
            <a:solidFill>
              <a:srgbClr val="DFE1E4"/>
            </a:solidFill>
            <a:prstDash val="solid"/>
            <a:headEnd type="none"/>
            <a:tailEnd type="none"/>
          </a:ln>
        </p:spPr>
      </p:sp>
      <p:sp>
        <p:nvSpPr>
          <p:cNvPr id="35" name="Text 33"/>
          <p:cNvSpPr/>
          <p:nvPr/>
        </p:nvSpPr>
        <p:spPr>
          <a:xfrm>
            <a:off x="2381829" y="3616452"/>
            <a:ext cx="6293267"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共通Notebook：別Notebookから%runで参照</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差分Notebook：差分抽出・更新制御</a:t>
            </a:r>
            <a:endParaRPr lang="ja-JP" sz="1400" dirty="0"/>
          </a:p>
        </p:txBody>
      </p:sp>
      <p:sp>
        <p:nvSpPr>
          <p:cNvPr id="36" name="Shape 34"/>
          <p:cNvSpPr/>
          <p:nvPr/>
        </p:nvSpPr>
        <p:spPr>
          <a:xfrm>
            <a:off x="8784824" y="3547872"/>
            <a:ext cx="2919496" cy="777240"/>
          </a:xfrm>
          <a:prstGeom prst="rect">
            <a:avLst>
              <a:gd name="adj" fmla="val 9412"/>
            </a:avLst>
          </a:prstGeom>
          <a:solidFill>
            <a:srgbClr val="F4F4F3"/>
          </a:solidFill>
          <a:ln w="12700">
            <a:solidFill>
              <a:srgbClr val="F4F4F3">
                <a:alpha val="0"/>
              </a:srgbClr>
            </a:solidFill>
            <a:prstDash val="solid"/>
          </a:ln>
        </p:spPr>
      </p:sp>
      <p:sp>
        <p:nvSpPr>
          <p:cNvPr id="37" name="Shape 35"/>
          <p:cNvSpPr/>
          <p:nvPr/>
        </p:nvSpPr>
        <p:spPr>
          <a:xfrm>
            <a:off x="8784824" y="4325112"/>
            <a:ext cx="2919496" cy="0"/>
          </a:xfrm>
          <a:prstGeom prst="line">
            <a:avLst/>
          </a:prstGeom>
          <a:noFill/>
          <a:ln w="7620">
            <a:solidFill>
              <a:srgbClr val="DFE1E4"/>
            </a:solidFill>
            <a:prstDash val="solid"/>
            <a:headEnd type="none"/>
            <a:tailEnd type="none"/>
          </a:ln>
        </p:spPr>
      </p:sp>
      <p:sp>
        <p:nvSpPr>
          <p:cNvPr id="38" name="Text 36"/>
          <p:cNvSpPr/>
          <p:nvPr/>
        </p:nvSpPr>
        <p:spPr>
          <a:xfrm>
            <a:off x="8894552" y="3616452"/>
            <a:ext cx="2700040"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共通処理 1件</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差分更新用 1件</a:t>
            </a:r>
            <a:endParaRPr lang="ja-JP" sz="1400" dirty="0"/>
          </a:p>
        </p:txBody>
      </p:sp>
      <p:sp>
        <p:nvSpPr>
          <p:cNvPr id="39" name="Shape 37"/>
          <p:cNvSpPr/>
          <p:nvPr/>
        </p:nvSpPr>
        <p:spPr>
          <a:xfrm>
            <a:off x="475488" y="4325112"/>
            <a:ext cx="1796613" cy="777240"/>
          </a:xfrm>
          <a:prstGeom prst="rect">
            <a:avLst>
              <a:gd name="adj" fmla="val 9412"/>
            </a:avLst>
          </a:prstGeom>
          <a:solidFill>
            <a:srgbClr val="FFFFFF"/>
          </a:solidFill>
          <a:ln w="12700">
            <a:solidFill>
              <a:srgbClr val="FFFFFF">
                <a:alpha val="0"/>
              </a:srgbClr>
            </a:solidFill>
            <a:prstDash val="solid"/>
          </a:ln>
        </p:spPr>
      </p:sp>
      <p:sp>
        <p:nvSpPr>
          <p:cNvPr id="40" name="Shape 38"/>
          <p:cNvSpPr/>
          <p:nvPr/>
        </p:nvSpPr>
        <p:spPr>
          <a:xfrm>
            <a:off x="475488" y="5102352"/>
            <a:ext cx="1796613" cy="0"/>
          </a:xfrm>
          <a:prstGeom prst="line">
            <a:avLst/>
          </a:prstGeom>
          <a:noFill/>
          <a:ln w="7620">
            <a:solidFill>
              <a:srgbClr val="DFE1E4"/>
            </a:solidFill>
            <a:prstDash val="solid"/>
            <a:headEnd type="none"/>
            <a:tailEnd type="none"/>
          </a:ln>
        </p:spPr>
      </p:sp>
      <p:sp>
        <p:nvSpPr>
          <p:cNvPr id="41" name="Text 39"/>
          <p:cNvSpPr/>
          <p:nvPr/>
        </p:nvSpPr>
        <p:spPr>
          <a:xfrm>
            <a:off x="585216" y="4393692"/>
            <a:ext cx="1577157" cy="640080"/>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Output</a:t>
            </a:r>
            <a:endParaRPr lang="ja-JP" sz="1400" dirty="0"/>
          </a:p>
        </p:txBody>
      </p:sp>
      <p:sp>
        <p:nvSpPr>
          <p:cNvPr id="42" name="Shape 40"/>
          <p:cNvSpPr/>
          <p:nvPr/>
        </p:nvSpPr>
        <p:spPr>
          <a:xfrm>
            <a:off x="2272101" y="4325112"/>
            <a:ext cx="6512723" cy="777240"/>
          </a:xfrm>
          <a:prstGeom prst="rect">
            <a:avLst>
              <a:gd name="adj" fmla="val 9412"/>
            </a:avLst>
          </a:prstGeom>
          <a:solidFill>
            <a:srgbClr val="FFFFFF"/>
          </a:solidFill>
          <a:ln w="12700">
            <a:solidFill>
              <a:srgbClr val="FFFFFF">
                <a:alpha val="0"/>
              </a:srgbClr>
            </a:solidFill>
            <a:prstDash val="solid"/>
          </a:ln>
        </p:spPr>
      </p:sp>
      <p:sp>
        <p:nvSpPr>
          <p:cNvPr id="43" name="Shape 41"/>
          <p:cNvSpPr/>
          <p:nvPr/>
        </p:nvSpPr>
        <p:spPr>
          <a:xfrm>
            <a:off x="2272101" y="5102352"/>
            <a:ext cx="6512723" cy="0"/>
          </a:xfrm>
          <a:prstGeom prst="line">
            <a:avLst/>
          </a:prstGeom>
          <a:noFill/>
          <a:ln w="7620">
            <a:solidFill>
              <a:srgbClr val="DFE1E4"/>
            </a:solidFill>
            <a:prstDash val="solid"/>
            <a:headEnd type="none"/>
            <a:tailEnd type="none"/>
          </a:ln>
        </p:spPr>
      </p:sp>
      <p:sp>
        <p:nvSpPr>
          <p:cNvPr id="44" name="Text 42"/>
          <p:cNvSpPr/>
          <p:nvPr/>
        </p:nvSpPr>
        <p:spPr>
          <a:xfrm>
            <a:off x="2381829" y="4393692"/>
            <a:ext cx="6293267"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各出力のstg／tgt、Watermark、</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Dataverseコピー用OutputPipeline</a:t>
            </a:r>
            <a:endParaRPr lang="ja-JP" sz="1400" dirty="0"/>
          </a:p>
        </p:txBody>
      </p:sp>
      <p:sp>
        <p:nvSpPr>
          <p:cNvPr id="45" name="Shape 43"/>
          <p:cNvSpPr/>
          <p:nvPr/>
        </p:nvSpPr>
        <p:spPr>
          <a:xfrm>
            <a:off x="8784824" y="4325112"/>
            <a:ext cx="2919496" cy="777240"/>
          </a:xfrm>
          <a:prstGeom prst="rect">
            <a:avLst>
              <a:gd name="adj" fmla="val 9412"/>
            </a:avLst>
          </a:prstGeom>
          <a:solidFill>
            <a:srgbClr val="FFFFFF"/>
          </a:solidFill>
          <a:ln w="12700">
            <a:solidFill>
              <a:srgbClr val="FFFFFF">
                <a:alpha val="0"/>
              </a:srgbClr>
            </a:solidFill>
            <a:prstDash val="solid"/>
          </a:ln>
        </p:spPr>
      </p:sp>
      <p:sp>
        <p:nvSpPr>
          <p:cNvPr id="46" name="Shape 44"/>
          <p:cNvSpPr/>
          <p:nvPr/>
        </p:nvSpPr>
        <p:spPr>
          <a:xfrm>
            <a:off x="8784824" y="5102352"/>
            <a:ext cx="2919496" cy="0"/>
          </a:xfrm>
          <a:prstGeom prst="line">
            <a:avLst/>
          </a:prstGeom>
          <a:noFill/>
          <a:ln w="7620">
            <a:solidFill>
              <a:srgbClr val="DFE1E4"/>
            </a:solidFill>
            <a:prstDash val="solid"/>
            <a:headEnd type="none"/>
            <a:tailEnd type="none"/>
          </a:ln>
        </p:spPr>
      </p:sp>
      <p:sp>
        <p:nvSpPr>
          <p:cNvPr id="47" name="Text 45"/>
          <p:cNvSpPr/>
          <p:nvPr/>
        </p:nvSpPr>
        <p:spPr>
          <a:xfrm>
            <a:off x="8894552" y="4393692"/>
            <a:ext cx="2700040"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stg／tgt：5組（想定）</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出力Pipeline：1件</a:t>
            </a:r>
            <a:endParaRPr lang="ja-JP" sz="1400" dirty="0"/>
          </a:p>
        </p:txBody>
      </p:sp>
      <p:sp>
        <p:nvSpPr>
          <p:cNvPr id="48" name="Shape 46"/>
          <p:cNvSpPr/>
          <p:nvPr/>
        </p:nvSpPr>
        <p:spPr>
          <a:xfrm>
            <a:off x="475488" y="5102352"/>
            <a:ext cx="1796613" cy="777240"/>
          </a:xfrm>
          <a:prstGeom prst="rect">
            <a:avLst>
              <a:gd name="adj" fmla="val 9412"/>
            </a:avLst>
          </a:prstGeom>
          <a:solidFill>
            <a:srgbClr val="F4F4F3"/>
          </a:solidFill>
          <a:ln w="12700">
            <a:solidFill>
              <a:srgbClr val="F4F4F3">
                <a:alpha val="0"/>
              </a:srgbClr>
            </a:solidFill>
            <a:prstDash val="solid"/>
          </a:ln>
        </p:spPr>
      </p:sp>
      <p:sp>
        <p:nvSpPr>
          <p:cNvPr id="49" name="Shape 47"/>
          <p:cNvSpPr/>
          <p:nvPr/>
        </p:nvSpPr>
        <p:spPr>
          <a:xfrm>
            <a:off x="475488" y="5879592"/>
            <a:ext cx="1796613" cy="0"/>
          </a:xfrm>
          <a:prstGeom prst="line">
            <a:avLst/>
          </a:prstGeom>
          <a:noFill/>
          <a:ln w="7620">
            <a:solidFill>
              <a:srgbClr val="DFE1E4"/>
            </a:solidFill>
            <a:prstDash val="solid"/>
            <a:headEnd type="none"/>
            <a:tailEnd type="none"/>
          </a:ln>
        </p:spPr>
      </p:sp>
      <p:sp>
        <p:nvSpPr>
          <p:cNvPr id="50" name="Text 48"/>
          <p:cNvSpPr/>
          <p:nvPr/>
        </p:nvSpPr>
        <p:spPr>
          <a:xfrm>
            <a:off x="585216" y="5170932"/>
            <a:ext cx="1577157" cy="640080"/>
          </a:xfrm>
          <a:prstGeom prst="rect">
            <a:avLst/>
          </a:prstGeom>
          <a:noFill/>
          <a:ln/>
        </p:spPr>
        <p:txBody>
          <a:bodyPr wrap="square" lIns="0" tIns="0" rIns="0" bIns="0" rtlCol="0" anchor="ctr"/>
          <a:lstStyle/>
          <a:p>
            <a:pPr indent="0" marL="0">
              <a:buNone/>
            </a:pPr>
            <a:r>
              <a:rPr lang="ja-JP" altLang="en-US" sz="1400" b="1" dirty="0">
                <a:solidFill>
                  <a:srgbClr val="25282E"/>
                </a:solidFill>
                <a:latin typeface="Noto Sans CJK JP" pitchFamily="34" charset="0"/>
                <a:ea typeface="Noto Sans CJK JP" pitchFamily="34" charset="-122"/>
                <a:cs typeface="Noto Sans CJK JP" pitchFamily="34" charset="-120"/>
              </a:rPr>
              <a:t>試験・KT</a:t>
            </a:r>
            <a:endParaRPr lang="ja-JP" sz="1400" dirty="0"/>
          </a:p>
        </p:txBody>
      </p:sp>
      <p:sp>
        <p:nvSpPr>
          <p:cNvPr id="51" name="Shape 49"/>
          <p:cNvSpPr/>
          <p:nvPr/>
        </p:nvSpPr>
        <p:spPr>
          <a:xfrm>
            <a:off x="2272101" y="5102352"/>
            <a:ext cx="6512723" cy="777240"/>
          </a:xfrm>
          <a:prstGeom prst="rect">
            <a:avLst>
              <a:gd name="adj" fmla="val 9412"/>
            </a:avLst>
          </a:prstGeom>
          <a:solidFill>
            <a:srgbClr val="F4F4F3"/>
          </a:solidFill>
          <a:ln w="12700">
            <a:solidFill>
              <a:srgbClr val="F4F4F3">
                <a:alpha val="0"/>
              </a:srgbClr>
            </a:solidFill>
            <a:prstDash val="solid"/>
          </a:ln>
        </p:spPr>
      </p:sp>
      <p:sp>
        <p:nvSpPr>
          <p:cNvPr id="52" name="Shape 50"/>
          <p:cNvSpPr/>
          <p:nvPr/>
        </p:nvSpPr>
        <p:spPr>
          <a:xfrm>
            <a:off x="2272101" y="5879592"/>
            <a:ext cx="6512723" cy="0"/>
          </a:xfrm>
          <a:prstGeom prst="line">
            <a:avLst/>
          </a:prstGeom>
          <a:noFill/>
          <a:ln w="7620">
            <a:solidFill>
              <a:srgbClr val="DFE1E4"/>
            </a:solidFill>
            <a:prstDash val="solid"/>
            <a:headEnd type="none"/>
            <a:tailEnd type="none"/>
          </a:ln>
        </p:spPr>
      </p:sp>
      <p:sp>
        <p:nvSpPr>
          <p:cNvPr id="53" name="Text 51"/>
          <p:cNvSpPr/>
          <p:nvPr/>
        </p:nvSpPr>
        <p:spPr>
          <a:xfrm>
            <a:off x="2381829" y="5170932"/>
            <a:ext cx="6293267"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追加部分の単体、既存を含む結合・性能確認、</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5テーブルのUAT、GoldLayerの運用引継ぎ</a:t>
            </a:r>
            <a:endParaRPr lang="ja-JP" sz="1400" dirty="0"/>
          </a:p>
        </p:txBody>
      </p:sp>
      <p:sp>
        <p:nvSpPr>
          <p:cNvPr id="54" name="Shape 52"/>
          <p:cNvSpPr/>
          <p:nvPr/>
        </p:nvSpPr>
        <p:spPr>
          <a:xfrm>
            <a:off x="8784824" y="5102352"/>
            <a:ext cx="2919496" cy="777240"/>
          </a:xfrm>
          <a:prstGeom prst="rect">
            <a:avLst>
              <a:gd name="adj" fmla="val 9412"/>
            </a:avLst>
          </a:prstGeom>
          <a:solidFill>
            <a:srgbClr val="F4F4F3"/>
          </a:solidFill>
          <a:ln w="12700">
            <a:solidFill>
              <a:srgbClr val="F4F4F3">
                <a:alpha val="0"/>
              </a:srgbClr>
            </a:solidFill>
            <a:prstDash val="solid"/>
          </a:ln>
        </p:spPr>
      </p:sp>
      <p:sp>
        <p:nvSpPr>
          <p:cNvPr id="55" name="Shape 53"/>
          <p:cNvSpPr/>
          <p:nvPr/>
        </p:nvSpPr>
        <p:spPr>
          <a:xfrm>
            <a:off x="8784824" y="5879592"/>
            <a:ext cx="2919496" cy="0"/>
          </a:xfrm>
          <a:prstGeom prst="line">
            <a:avLst/>
          </a:prstGeom>
          <a:noFill/>
          <a:ln w="7620">
            <a:solidFill>
              <a:srgbClr val="DFE1E4"/>
            </a:solidFill>
            <a:prstDash val="solid"/>
            <a:headEnd type="none"/>
            <a:tailEnd type="none"/>
          </a:ln>
        </p:spPr>
      </p:sp>
      <p:sp>
        <p:nvSpPr>
          <p:cNvPr id="56" name="Text 54"/>
          <p:cNvSpPr/>
          <p:nvPr/>
        </p:nvSpPr>
        <p:spPr>
          <a:xfrm>
            <a:off x="8894552" y="5170932"/>
            <a:ext cx="2700040" cy="640080"/>
          </a:xfrm>
          <a:prstGeom prst="rect">
            <a:avLst/>
          </a:prstGeom>
          <a:noFill/>
          <a:ln/>
        </p:spPr>
        <p:txBody>
          <a:bodyPr wrap="square" lIns="0" tIns="0" rIns="0" bIns="0" rtlCol="0" anchor="ctr"/>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試験ケース数は別途確定</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本番移行は未計上</a:t>
            </a:r>
            <a:endParaRPr lang="ja-JP" sz="1400" dirty="0"/>
          </a:p>
        </p:txBody>
      </p:sp>
      <p:sp>
        <p:nvSpPr>
          <p:cNvPr id="57" name="Shape 55"/>
          <p:cNvSpPr/>
          <p:nvPr/>
        </p:nvSpPr>
        <p:spPr>
          <a:xfrm>
            <a:off x="475488" y="5678424"/>
            <a:ext cx="11228832" cy="347472"/>
          </a:xfrm>
          <a:prstGeom prst="rect">
            <a:avLst>
              <a:gd name="adj" fmla="val 21053"/>
            </a:avLst>
          </a:prstGeom>
          <a:solidFill>
            <a:srgbClr val="FCE7E4"/>
          </a:solidFill>
          <a:ln w="12700">
            <a:solidFill>
              <a:srgbClr val="FCE7E4">
                <a:alpha val="0"/>
              </a:srgbClr>
            </a:solidFill>
            <a:prstDash val="solid"/>
          </a:ln>
        </p:spPr>
      </p:sp>
      <p:sp>
        <p:nvSpPr>
          <p:cNvPr id="58" name="Text 56"/>
          <p:cNvSpPr/>
          <p:nvPr/>
        </p:nvSpPr>
        <p:spPr>
          <a:xfrm>
            <a:off x="667512" y="5742432"/>
            <a:ext cx="10853928" cy="210312"/>
          </a:xfrm>
          <a:prstGeom prst="rect">
            <a:avLst/>
          </a:prstGeom>
          <a:noFill/>
          <a:ln/>
        </p:spPr>
        <p:txBody>
          <a:bodyPr wrap="square" lIns="0" tIns="0" rIns="0" bIns="0" rtlCol="0" anchor="ctr"/>
          <a:lstStyle/>
          <a:p>
            <a:pPr indent="0" marL="0">
              <a:buNone/>
            </a:pPr>
            <a:r>
              <a:rPr lang="ja-JP" altLang="en-US" sz="1180" b="1" dirty="0">
                <a:solidFill>
                  <a:srgbClr val="E51B0B"/>
                </a:solidFill>
                <a:latin typeface="Noto Sans CJK JP" pitchFamily="34" charset="0"/>
                <a:ea typeface="Noto Sans CJK JP" pitchFamily="34" charset="-122"/>
                <a:cs typeface="Noto Sans CJK JP" pitchFamily="34" charset="-120"/>
              </a:rPr>
              <a:t>「タスク数」「テーブル数」「試験ケース数」は別の単位。39件や5件の見込みを確定数量として扱わない。</a:t>
            </a:r>
            <a:endParaRPr lang="ja-JP" sz="1180" dirty="0"/>
          </a:p>
        </p:txBody>
      </p:sp>
      <p:sp>
        <p:nvSpPr>
          <p:cNvPr id="59" name="Shape 57"/>
          <p:cNvSpPr/>
          <p:nvPr/>
        </p:nvSpPr>
        <p:spPr>
          <a:xfrm>
            <a:off x="457200" y="6492240"/>
            <a:ext cx="11274552" cy="0"/>
          </a:xfrm>
          <a:prstGeom prst="line">
            <a:avLst/>
          </a:prstGeom>
          <a:noFill/>
          <a:ln w="8890">
            <a:solidFill>
              <a:srgbClr val="DFE1E4"/>
            </a:solidFill>
            <a:prstDash val="solid"/>
            <a:headEnd type="none"/>
            <a:tailEnd type="none"/>
          </a:ln>
        </p:spPr>
      </p:sp>
      <p:sp>
        <p:nvSpPr>
          <p:cNvPr id="60" name="Text 58"/>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61" name="Text 59"/>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62" name="Text 60"/>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08</a:t>
            </a:r>
            <a:endParaRPr lang="ja-JP" sz="1000" dirty="0"/>
          </a:p>
        </p:txBody>
      </p:sp>
      <p:sp>
        <p:nvSpPr>
          <p:cNvPr id="63" name="Text 61"/>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No.34〜64／WBS「確認事項」C03・C13・C14</a:t>
            </a:r>
            <a:endParaRPr lang="ja-JP"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設計確定前に、3つの事前検証を行う</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元資料の黄色の確認事項を先行化し、後工程の作り直しを減らす</a:t>
            </a:r>
            <a:endParaRPr lang="ja-JP" sz="1340" dirty="0"/>
          </a:p>
        </p:txBody>
      </p:sp>
      <p:sp>
        <p:nvSpPr>
          <p:cNvPr id="6" name="Shape 4"/>
          <p:cNvSpPr/>
          <p:nvPr/>
        </p:nvSpPr>
        <p:spPr>
          <a:xfrm>
            <a:off x="475488" y="1600200"/>
            <a:ext cx="3593592" cy="4224528"/>
          </a:xfrm>
          <a:prstGeom prst="rect">
            <a:avLst>
              <a:gd name="adj" fmla="val 2036"/>
            </a:avLst>
          </a:prstGeom>
          <a:solidFill>
            <a:srgbClr val="F4F4F3"/>
          </a:solidFill>
          <a:ln w="12700">
            <a:solidFill>
              <a:srgbClr val="F4F4F3">
                <a:alpha val="0"/>
              </a:srgbClr>
            </a:solidFill>
            <a:prstDash val="solid"/>
          </a:ln>
        </p:spPr>
      </p:sp>
      <p:sp>
        <p:nvSpPr>
          <p:cNvPr id="7" name="Text 5"/>
          <p:cNvSpPr/>
          <p:nvPr/>
        </p:nvSpPr>
        <p:spPr>
          <a:xfrm>
            <a:off x="658368" y="1810512"/>
            <a:ext cx="640080" cy="484632"/>
          </a:xfrm>
          <a:prstGeom prst="rect">
            <a:avLst/>
          </a:prstGeom>
          <a:noFill/>
          <a:ln/>
        </p:spPr>
        <p:txBody>
          <a:bodyPr wrap="square" lIns="0" tIns="0" rIns="0" bIns="0" rtlCol="0" anchor="ctr"/>
          <a:lstStyle/>
          <a:p>
            <a:pPr indent="0" marL="0">
              <a:buNone/>
            </a:pPr>
            <a:r>
              <a:rPr lang="ja-JP" altLang="en-US" sz="3400" b="1" dirty="0">
                <a:solidFill>
                  <a:srgbClr val="E51B0B"/>
                </a:solidFill>
                <a:latin typeface="Arial" pitchFamily="34" charset="0"/>
                <a:ea typeface="Arial" pitchFamily="34" charset="-122"/>
                <a:cs typeface="Arial" pitchFamily="34" charset="-120"/>
              </a:rPr>
              <a:t>01</a:t>
            </a:r>
            <a:endParaRPr lang="ja-JP" sz="3400" dirty="0"/>
          </a:p>
        </p:txBody>
      </p:sp>
      <p:sp>
        <p:nvSpPr>
          <p:cNvPr id="8" name="Text 6"/>
          <p:cNvSpPr/>
          <p:nvPr/>
        </p:nvSpPr>
        <p:spPr>
          <a:xfrm>
            <a:off x="658368" y="2432304"/>
            <a:ext cx="3227832" cy="411480"/>
          </a:xfrm>
          <a:prstGeom prst="rect">
            <a:avLst/>
          </a:prstGeom>
          <a:noFill/>
          <a:ln/>
        </p:spPr>
        <p:txBody>
          <a:bodyPr wrap="square" lIns="0" tIns="0" rIns="0" bIns="0" rtlCol="0" anchor="ctr"/>
          <a:lstStyle/>
          <a:p>
            <a:pPr indent="0" marL="0">
              <a:buNone/>
            </a:pPr>
            <a:r>
              <a:rPr lang="ja-JP" altLang="en-US" sz="2100" b="1" dirty="0">
                <a:solidFill>
                  <a:srgbClr val="25282E"/>
                </a:solidFill>
                <a:latin typeface="Noto Sans CJK JP" pitchFamily="34" charset="0"/>
                <a:ea typeface="Noto Sans CJK JP" pitchFamily="34" charset="-122"/>
                <a:cs typeface="Noto Sans CJK JP" pitchFamily="34" charset="-120"/>
              </a:rPr>
              <a:t>Fabric → Dataverse</a:t>
            </a:r>
            <a:endParaRPr lang="ja-JP" sz="2100" dirty="0"/>
          </a:p>
        </p:txBody>
      </p:sp>
      <p:sp>
        <p:nvSpPr>
          <p:cNvPr id="9" name="Text 7"/>
          <p:cNvSpPr/>
          <p:nvPr/>
        </p:nvSpPr>
        <p:spPr>
          <a:xfrm>
            <a:off x="658368" y="3054096"/>
            <a:ext cx="3227832" cy="1572768"/>
          </a:xfrm>
          <a:prstGeom prst="rect">
            <a:avLst/>
          </a:prstGeom>
          <a:noFill/>
          <a:ln/>
        </p:spPr>
        <p:txBody>
          <a:bodyPr wrap="square" lIns="0" tIns="0" rIns="0" bIns="0" rtlCol="0" anchor="t"/>
          <a:lstStyle/>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対象：テスト環境間の連携</a:t>
            </a:r>
            <a:endParaRPr lang="ja-JP" sz="1440" dirty="0"/>
          </a:p>
          <a:p>
            <a:pPr indent="0" marL="0">
              <a:buNone/>
            </a:pP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接続許可・認証・書込権限</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キー／列型・NULLの更新動作</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Upsert・再実行・件数照合</a:t>
            </a:r>
            <a:endParaRPr lang="ja-JP" sz="1440" dirty="0"/>
          </a:p>
        </p:txBody>
      </p:sp>
      <p:sp>
        <p:nvSpPr>
          <p:cNvPr id="10" name="Shape 8"/>
          <p:cNvSpPr/>
          <p:nvPr/>
        </p:nvSpPr>
        <p:spPr>
          <a:xfrm>
            <a:off x="640080" y="4928616"/>
            <a:ext cx="3264408" cy="402336"/>
          </a:xfrm>
          <a:prstGeom prst="rect">
            <a:avLst>
              <a:gd name="adj" fmla="val 18182"/>
            </a:avLst>
          </a:prstGeom>
          <a:solidFill>
            <a:srgbClr val="FCE7E4"/>
          </a:solidFill>
          <a:ln w="12700">
            <a:solidFill>
              <a:srgbClr val="FCE7E4">
                <a:alpha val="0"/>
              </a:srgbClr>
            </a:solidFill>
            <a:prstDash val="solid"/>
          </a:ln>
        </p:spPr>
      </p:sp>
      <p:sp>
        <p:nvSpPr>
          <p:cNvPr id="11" name="Text 9"/>
          <p:cNvSpPr/>
          <p:nvPr/>
        </p:nvSpPr>
        <p:spPr>
          <a:xfrm>
            <a:off x="740664" y="4992624"/>
            <a:ext cx="3063240" cy="256032"/>
          </a:xfrm>
          <a:prstGeom prst="rect">
            <a:avLst/>
          </a:prstGeom>
          <a:noFill/>
          <a:ln/>
        </p:spPr>
        <p:txBody>
          <a:bodyPr wrap="square" lIns="0" tIns="0" rIns="0" bIns="0" rtlCol="0" anchor="ctr"/>
          <a:lstStyle/>
          <a:p>
            <a:pPr algn="ctr" indent="0" marL="0">
              <a:buNone/>
            </a:pPr>
            <a:r>
              <a:rPr lang="ja-JP" altLang="en-US" sz="1260" b="1" dirty="0">
                <a:solidFill>
                  <a:srgbClr val="E51B0B"/>
                </a:solidFill>
                <a:latin typeface="Noto Sans CJK JP" pitchFamily="34" charset="0"/>
                <a:ea typeface="Noto Sans CJK JP" pitchFamily="34" charset="-122"/>
                <a:cs typeface="Noto Sans CJK JP" pitchFamily="34" charset="-120"/>
              </a:rPr>
              <a:t>連携方式・成功証跡を確定</a:t>
            </a:r>
            <a:endParaRPr lang="ja-JP" sz="1260" dirty="0"/>
          </a:p>
        </p:txBody>
      </p:sp>
      <p:sp>
        <p:nvSpPr>
          <p:cNvPr id="12" name="Text 10"/>
          <p:cNvSpPr/>
          <p:nvPr/>
        </p:nvSpPr>
        <p:spPr>
          <a:xfrm>
            <a:off x="658368" y="5486400"/>
            <a:ext cx="3227832" cy="201168"/>
          </a:xfrm>
          <a:prstGeom prst="rect">
            <a:avLst/>
          </a:prstGeom>
          <a:noFill/>
          <a:ln/>
        </p:spPr>
        <p:txBody>
          <a:bodyPr wrap="square" lIns="0" tIns="0" rIns="0" bIns="0" rtlCol="0" anchor="ctr"/>
          <a:lstStyle/>
          <a:p>
            <a:pPr indent="0" marL="0">
              <a:buNone/>
            </a:pPr>
            <a:r>
              <a:rPr lang="ja-JP" altLang="en-US" sz="1070" dirty="0">
                <a:solidFill>
                  <a:srgbClr val="60656D"/>
                </a:solidFill>
                <a:latin typeface="Noto Sans CJK JP" pitchFamily="34" charset="0"/>
                <a:ea typeface="Noto Sans CJK JP" pitchFamily="34" charset="-122"/>
                <a:cs typeface="Noto Sans CJK JP" pitchFamily="34" charset="-120"/>
              </a:rPr>
              <a:t>確認先：環境管理者／連携担当</a:t>
            </a:r>
            <a:endParaRPr lang="ja-JP" sz="1070" dirty="0"/>
          </a:p>
        </p:txBody>
      </p:sp>
      <p:sp>
        <p:nvSpPr>
          <p:cNvPr id="13" name="Shape 11"/>
          <p:cNvSpPr/>
          <p:nvPr/>
        </p:nvSpPr>
        <p:spPr>
          <a:xfrm>
            <a:off x="4297680" y="1600200"/>
            <a:ext cx="3593592" cy="4224528"/>
          </a:xfrm>
          <a:prstGeom prst="rect">
            <a:avLst>
              <a:gd name="adj" fmla="val 2036"/>
            </a:avLst>
          </a:prstGeom>
          <a:solidFill>
            <a:srgbClr val="F4F4F3"/>
          </a:solidFill>
          <a:ln w="12700">
            <a:solidFill>
              <a:srgbClr val="F4F4F3">
                <a:alpha val="0"/>
              </a:srgbClr>
            </a:solidFill>
            <a:prstDash val="solid"/>
          </a:ln>
        </p:spPr>
      </p:sp>
      <p:sp>
        <p:nvSpPr>
          <p:cNvPr id="14" name="Text 12"/>
          <p:cNvSpPr/>
          <p:nvPr/>
        </p:nvSpPr>
        <p:spPr>
          <a:xfrm>
            <a:off x="4480560" y="1810512"/>
            <a:ext cx="640080" cy="484632"/>
          </a:xfrm>
          <a:prstGeom prst="rect">
            <a:avLst/>
          </a:prstGeom>
          <a:noFill/>
          <a:ln/>
        </p:spPr>
        <p:txBody>
          <a:bodyPr wrap="square" lIns="0" tIns="0" rIns="0" bIns="0" rtlCol="0" anchor="ctr"/>
          <a:lstStyle/>
          <a:p>
            <a:pPr indent="0" marL="0">
              <a:buNone/>
            </a:pPr>
            <a:r>
              <a:rPr lang="ja-JP" altLang="en-US" sz="3400" b="1" dirty="0">
                <a:solidFill>
                  <a:srgbClr val="E51B0B"/>
                </a:solidFill>
                <a:latin typeface="Arial" pitchFamily="34" charset="0"/>
                <a:ea typeface="Arial" pitchFamily="34" charset="-122"/>
                <a:cs typeface="Arial" pitchFamily="34" charset="-120"/>
              </a:rPr>
              <a:t>02</a:t>
            </a:r>
            <a:endParaRPr lang="ja-JP" sz="3400" dirty="0"/>
          </a:p>
        </p:txBody>
      </p:sp>
      <p:sp>
        <p:nvSpPr>
          <p:cNvPr id="15" name="Text 13"/>
          <p:cNvSpPr/>
          <p:nvPr/>
        </p:nvSpPr>
        <p:spPr>
          <a:xfrm>
            <a:off x="4480560" y="2432304"/>
            <a:ext cx="3227832" cy="411480"/>
          </a:xfrm>
          <a:prstGeom prst="rect">
            <a:avLst/>
          </a:prstGeom>
          <a:noFill/>
          <a:ln/>
        </p:spPr>
        <p:txBody>
          <a:bodyPr wrap="square" lIns="0" tIns="0" rIns="0" bIns="0" rtlCol="0" anchor="ctr"/>
          <a:lstStyle/>
          <a:p>
            <a:pPr indent="0" marL="0">
              <a:buNone/>
            </a:pPr>
            <a:r>
              <a:rPr lang="ja-JP" altLang="en-US" sz="2100" b="1" dirty="0">
                <a:solidFill>
                  <a:srgbClr val="25282E"/>
                </a:solidFill>
                <a:latin typeface="Noto Sans CJK JP" pitchFamily="34" charset="0"/>
                <a:ea typeface="Noto Sans CJK JP" pitchFamily="34" charset="-122"/>
                <a:cs typeface="Noto Sans CJK JP" pitchFamily="34" charset="-120"/>
              </a:rPr>
              <a:t>SQL共通Function</a:t>
            </a:r>
            <a:endParaRPr lang="ja-JP" sz="2100" dirty="0"/>
          </a:p>
        </p:txBody>
      </p:sp>
      <p:sp>
        <p:nvSpPr>
          <p:cNvPr id="16" name="Text 14"/>
          <p:cNvSpPr/>
          <p:nvPr/>
        </p:nvSpPr>
        <p:spPr>
          <a:xfrm>
            <a:off x="4480560" y="3054096"/>
            <a:ext cx="3227832" cy="1572768"/>
          </a:xfrm>
          <a:prstGeom prst="rect">
            <a:avLst/>
          </a:prstGeom>
          <a:noFill/>
          <a:ln/>
        </p:spPr>
        <p:txBody>
          <a:bodyPr wrap="square" lIns="0" tIns="0" rIns="0" bIns="0" rtlCol="0" anchor="t"/>
          <a:lstStyle/>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対象：Warehouse または</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Lakehouse SQL分析エンドポイント</a:t>
            </a:r>
            <a:endParaRPr lang="ja-JP" sz="1440" dirty="0"/>
          </a:p>
          <a:p>
            <a:pPr indent="0" marL="0">
              <a:buNone/>
            </a:pP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配置先・権限・作成／呼出し</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文字列処理・NULL・性能制約</a:t>
            </a:r>
            <a:endParaRPr lang="ja-JP" sz="1440" dirty="0"/>
          </a:p>
        </p:txBody>
      </p:sp>
      <p:sp>
        <p:nvSpPr>
          <p:cNvPr id="17" name="Shape 15"/>
          <p:cNvSpPr/>
          <p:nvPr/>
        </p:nvSpPr>
        <p:spPr>
          <a:xfrm>
            <a:off x="4462272" y="4928616"/>
            <a:ext cx="3264408" cy="402336"/>
          </a:xfrm>
          <a:prstGeom prst="rect">
            <a:avLst>
              <a:gd name="adj" fmla="val 18182"/>
            </a:avLst>
          </a:prstGeom>
          <a:solidFill>
            <a:srgbClr val="FCE7E4"/>
          </a:solidFill>
          <a:ln w="12700">
            <a:solidFill>
              <a:srgbClr val="FCE7E4">
                <a:alpha val="0"/>
              </a:srgbClr>
            </a:solidFill>
            <a:prstDash val="solid"/>
          </a:ln>
        </p:spPr>
      </p:sp>
      <p:sp>
        <p:nvSpPr>
          <p:cNvPr id="18" name="Text 16"/>
          <p:cNvSpPr/>
          <p:nvPr/>
        </p:nvSpPr>
        <p:spPr>
          <a:xfrm>
            <a:off x="4562856" y="4992624"/>
            <a:ext cx="3063240" cy="256032"/>
          </a:xfrm>
          <a:prstGeom prst="rect">
            <a:avLst/>
          </a:prstGeom>
          <a:noFill/>
          <a:ln/>
        </p:spPr>
        <p:txBody>
          <a:bodyPr wrap="square" lIns="0" tIns="0" rIns="0" bIns="0" rtlCol="0" anchor="ctr"/>
          <a:lstStyle/>
          <a:p>
            <a:pPr algn="ctr" indent="0" marL="0">
              <a:buNone/>
            </a:pPr>
            <a:r>
              <a:rPr lang="ja-JP" altLang="en-US" sz="1260" b="1" dirty="0">
                <a:solidFill>
                  <a:srgbClr val="E51B0B"/>
                </a:solidFill>
                <a:latin typeface="Noto Sans CJK JP" pitchFamily="34" charset="0"/>
                <a:ea typeface="Noto Sans CJK JP" pitchFamily="34" charset="-122"/>
                <a:cs typeface="Noto Sans CJK JP" pitchFamily="34" charset="-120"/>
              </a:rPr>
              <a:t>採用するSQL実行先を決定</a:t>
            </a:r>
            <a:endParaRPr lang="ja-JP" sz="1260" dirty="0"/>
          </a:p>
        </p:txBody>
      </p:sp>
      <p:sp>
        <p:nvSpPr>
          <p:cNvPr id="19" name="Text 17"/>
          <p:cNvSpPr/>
          <p:nvPr/>
        </p:nvSpPr>
        <p:spPr>
          <a:xfrm>
            <a:off x="4480560" y="5486400"/>
            <a:ext cx="3227832" cy="201168"/>
          </a:xfrm>
          <a:prstGeom prst="rect">
            <a:avLst/>
          </a:prstGeom>
          <a:noFill/>
          <a:ln/>
        </p:spPr>
        <p:txBody>
          <a:bodyPr wrap="square" lIns="0" tIns="0" rIns="0" bIns="0" rtlCol="0" anchor="ctr"/>
          <a:lstStyle/>
          <a:p>
            <a:pPr indent="0" marL="0">
              <a:buNone/>
            </a:pPr>
            <a:r>
              <a:rPr lang="ja-JP" altLang="en-US" sz="1070" dirty="0">
                <a:solidFill>
                  <a:srgbClr val="60656D"/>
                </a:solidFill>
                <a:latin typeface="Noto Sans CJK JP" pitchFamily="34" charset="0"/>
                <a:ea typeface="Noto Sans CJK JP" pitchFamily="34" charset="-122"/>
                <a:cs typeface="Noto Sans CJK JP" pitchFamily="34" charset="-120"/>
              </a:rPr>
              <a:t>元資料の確認先：李さん</a:t>
            </a:r>
            <a:endParaRPr lang="ja-JP" sz="1070" dirty="0"/>
          </a:p>
        </p:txBody>
      </p:sp>
      <p:sp>
        <p:nvSpPr>
          <p:cNvPr id="20" name="Shape 18"/>
          <p:cNvSpPr/>
          <p:nvPr/>
        </p:nvSpPr>
        <p:spPr>
          <a:xfrm>
            <a:off x="8119872" y="1600200"/>
            <a:ext cx="3593592" cy="4224528"/>
          </a:xfrm>
          <a:prstGeom prst="rect">
            <a:avLst>
              <a:gd name="adj" fmla="val 2036"/>
            </a:avLst>
          </a:prstGeom>
          <a:solidFill>
            <a:srgbClr val="F4F4F3"/>
          </a:solidFill>
          <a:ln w="12700">
            <a:solidFill>
              <a:srgbClr val="F4F4F3">
                <a:alpha val="0"/>
              </a:srgbClr>
            </a:solidFill>
            <a:prstDash val="solid"/>
          </a:ln>
        </p:spPr>
      </p:sp>
      <p:sp>
        <p:nvSpPr>
          <p:cNvPr id="21" name="Text 19"/>
          <p:cNvSpPr/>
          <p:nvPr/>
        </p:nvSpPr>
        <p:spPr>
          <a:xfrm>
            <a:off x="8302752" y="1810512"/>
            <a:ext cx="640080" cy="484632"/>
          </a:xfrm>
          <a:prstGeom prst="rect">
            <a:avLst/>
          </a:prstGeom>
          <a:noFill/>
          <a:ln/>
        </p:spPr>
        <p:txBody>
          <a:bodyPr wrap="square" lIns="0" tIns="0" rIns="0" bIns="0" rtlCol="0" anchor="ctr"/>
          <a:lstStyle/>
          <a:p>
            <a:pPr indent="0" marL="0">
              <a:buNone/>
            </a:pPr>
            <a:r>
              <a:rPr lang="ja-JP" altLang="en-US" sz="3400" b="1" dirty="0">
                <a:solidFill>
                  <a:srgbClr val="E51B0B"/>
                </a:solidFill>
                <a:latin typeface="Arial" pitchFamily="34" charset="0"/>
                <a:ea typeface="Arial" pitchFamily="34" charset="-122"/>
                <a:cs typeface="Arial" pitchFamily="34" charset="-120"/>
              </a:rPr>
              <a:t>03</a:t>
            </a:r>
            <a:endParaRPr lang="ja-JP" sz="3400" dirty="0"/>
          </a:p>
        </p:txBody>
      </p:sp>
      <p:sp>
        <p:nvSpPr>
          <p:cNvPr id="22" name="Text 20"/>
          <p:cNvSpPr/>
          <p:nvPr/>
        </p:nvSpPr>
        <p:spPr>
          <a:xfrm>
            <a:off x="8302752" y="2432304"/>
            <a:ext cx="3227832" cy="411480"/>
          </a:xfrm>
          <a:prstGeom prst="rect">
            <a:avLst/>
          </a:prstGeom>
          <a:noFill/>
          <a:ln/>
        </p:spPr>
        <p:txBody>
          <a:bodyPr wrap="square" lIns="0" tIns="0" rIns="0" bIns="0" rtlCol="0" anchor="ctr"/>
          <a:lstStyle/>
          <a:p>
            <a:pPr indent="0" marL="0">
              <a:buNone/>
            </a:pPr>
            <a:r>
              <a:rPr lang="ja-JP" altLang="en-US" sz="2100" b="1" dirty="0">
                <a:solidFill>
                  <a:srgbClr val="25282E"/>
                </a:solidFill>
                <a:latin typeface="Noto Sans CJK JP" pitchFamily="34" charset="0"/>
                <a:ea typeface="Noto Sans CJK JP" pitchFamily="34" charset="-122"/>
                <a:cs typeface="Noto Sans CJK JP" pitchFamily="34" charset="-120"/>
              </a:rPr>
              <a:t>共通Notebook</a:t>
            </a:r>
            <a:endParaRPr lang="ja-JP" sz="2100" dirty="0"/>
          </a:p>
        </p:txBody>
      </p:sp>
      <p:sp>
        <p:nvSpPr>
          <p:cNvPr id="23" name="Text 21"/>
          <p:cNvSpPr/>
          <p:nvPr/>
        </p:nvSpPr>
        <p:spPr>
          <a:xfrm>
            <a:off x="8302752" y="3054096"/>
            <a:ext cx="3227832" cy="1572768"/>
          </a:xfrm>
          <a:prstGeom prst="rect">
            <a:avLst/>
          </a:prstGeom>
          <a:noFill/>
          <a:ln/>
        </p:spPr>
        <p:txBody>
          <a:bodyPr wrap="square" lIns="0" tIns="0" rIns="0" bIns="0" rtlCol="0" anchor="t"/>
          <a:lstStyle/>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方式A：%runによる共通化</a:t>
            </a:r>
            <a:endParaRPr lang="ja-JP" sz="1440" dirty="0"/>
          </a:p>
          <a:p>
            <a:pPr indent="0" marL="0">
              <a:buNone/>
            </a:pP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同一ワークスペース内で参照</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関数読込み・引数・再実行</a:t>
            </a:r>
            <a:endParaRPr lang="ja-JP" sz="1440" dirty="0"/>
          </a:p>
          <a:p>
            <a:pPr indent="0" marL="0">
              <a:buNone/>
            </a:pPr>
            <a:r>
              <a:rPr lang="ja-JP" altLang="en-US" sz="1440" dirty="0">
                <a:solidFill>
                  <a:srgbClr val="25282E"/>
                </a:solidFill>
                <a:latin typeface="Noto Sans CJK JP" pitchFamily="34" charset="0"/>
                <a:ea typeface="Noto Sans CJK JP" pitchFamily="34" charset="-122"/>
                <a:cs typeface="Noto Sans CJK JP" pitchFamily="34" charset="-120"/>
              </a:rPr>
              <a:t>5出力のNotebookへの適用</a:t>
            </a:r>
            <a:endParaRPr lang="ja-JP" sz="1440" dirty="0"/>
          </a:p>
        </p:txBody>
      </p:sp>
      <p:sp>
        <p:nvSpPr>
          <p:cNvPr id="24" name="Shape 22"/>
          <p:cNvSpPr/>
          <p:nvPr/>
        </p:nvSpPr>
        <p:spPr>
          <a:xfrm>
            <a:off x="8284464" y="4928616"/>
            <a:ext cx="3264408" cy="402336"/>
          </a:xfrm>
          <a:prstGeom prst="rect">
            <a:avLst>
              <a:gd name="adj" fmla="val 18182"/>
            </a:avLst>
          </a:prstGeom>
          <a:solidFill>
            <a:srgbClr val="FCE7E4"/>
          </a:solidFill>
          <a:ln w="12700">
            <a:solidFill>
              <a:srgbClr val="FCE7E4">
                <a:alpha val="0"/>
              </a:srgbClr>
            </a:solidFill>
            <a:prstDash val="solid"/>
          </a:ln>
        </p:spPr>
      </p:sp>
      <p:sp>
        <p:nvSpPr>
          <p:cNvPr id="25" name="Text 23"/>
          <p:cNvSpPr/>
          <p:nvPr/>
        </p:nvSpPr>
        <p:spPr>
          <a:xfrm>
            <a:off x="8385048" y="4992624"/>
            <a:ext cx="3063240" cy="256032"/>
          </a:xfrm>
          <a:prstGeom prst="rect">
            <a:avLst/>
          </a:prstGeom>
          <a:noFill/>
          <a:ln/>
        </p:spPr>
        <p:txBody>
          <a:bodyPr wrap="square" lIns="0" tIns="0" rIns="0" bIns="0" rtlCol="0" anchor="ctr"/>
          <a:lstStyle/>
          <a:p>
            <a:pPr algn="ctr" indent="0" marL="0">
              <a:buNone/>
            </a:pPr>
            <a:r>
              <a:rPr lang="ja-JP" altLang="en-US" sz="1260" b="1" dirty="0">
                <a:solidFill>
                  <a:srgbClr val="E51B0B"/>
                </a:solidFill>
                <a:latin typeface="Noto Sans CJK JP" pitchFamily="34" charset="0"/>
                <a:ea typeface="Noto Sans CJK JP" pitchFamily="34" charset="-122"/>
                <a:cs typeface="Noto Sans CJK JP" pitchFamily="34" charset="-120"/>
              </a:rPr>
              <a:t>再利用方式・呼出し契約を確定</a:t>
            </a:r>
            <a:endParaRPr lang="ja-JP" sz="1260" dirty="0"/>
          </a:p>
        </p:txBody>
      </p:sp>
      <p:sp>
        <p:nvSpPr>
          <p:cNvPr id="26" name="Text 24"/>
          <p:cNvSpPr/>
          <p:nvPr/>
        </p:nvSpPr>
        <p:spPr>
          <a:xfrm>
            <a:off x="8302752" y="5486400"/>
            <a:ext cx="3227832" cy="201168"/>
          </a:xfrm>
          <a:prstGeom prst="rect">
            <a:avLst/>
          </a:prstGeom>
          <a:noFill/>
          <a:ln/>
        </p:spPr>
        <p:txBody>
          <a:bodyPr wrap="square" lIns="0" tIns="0" rIns="0" bIns="0" rtlCol="0" anchor="ctr"/>
          <a:lstStyle/>
          <a:p>
            <a:pPr indent="0" marL="0">
              <a:buNone/>
            </a:pPr>
            <a:r>
              <a:rPr lang="ja-JP" altLang="en-US" sz="1070" dirty="0">
                <a:solidFill>
                  <a:srgbClr val="60656D"/>
                </a:solidFill>
                <a:latin typeface="Noto Sans CJK JP" pitchFamily="34" charset="0"/>
                <a:ea typeface="Noto Sans CJK JP" pitchFamily="34" charset="-122"/>
                <a:cs typeface="Noto Sans CJK JP" pitchFamily="34" charset="-120"/>
              </a:rPr>
              <a:t>元資料の確認先：李さん</a:t>
            </a:r>
            <a:endParaRPr lang="ja-JP" sz="1070" dirty="0"/>
          </a:p>
        </p:txBody>
      </p:sp>
      <p:sp>
        <p:nvSpPr>
          <p:cNvPr id="27" name="Shape 25"/>
          <p:cNvSpPr/>
          <p:nvPr/>
        </p:nvSpPr>
        <p:spPr>
          <a:xfrm>
            <a:off x="457200" y="6492240"/>
            <a:ext cx="11274552" cy="0"/>
          </a:xfrm>
          <a:prstGeom prst="line">
            <a:avLst/>
          </a:prstGeom>
          <a:noFill/>
          <a:ln w="8890">
            <a:solidFill>
              <a:srgbClr val="DFE1E4"/>
            </a:solidFill>
            <a:prstDash val="solid"/>
            <a:headEnd type="none"/>
            <a:tailEnd type="none"/>
          </a:ln>
        </p:spPr>
      </p:sp>
      <p:sp>
        <p:nvSpPr>
          <p:cNvPr id="28" name="Text 26"/>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29" name="Text 27"/>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30" name="Text 28"/>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09</a:t>
            </a:r>
            <a:endParaRPr lang="ja-JP" sz="1000" dirty="0"/>
          </a:p>
        </p:txBody>
      </p:sp>
      <p:sp>
        <p:nvSpPr>
          <p:cNvPr id="31" name="Text 29"/>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No.24・43・47／WBS 00028〜00030／MS1〜MS3。手順作成は済んでいても、環境での検証完了を意味しない。</a:t>
            </a:r>
            <a:endParaRPr lang="ja-JP"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品質・権限・運用の進め方（合意案）</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「作成できた」ではなく、データ一致・更新・復旧・引継ぎまでを確認する</a:t>
            </a:r>
            <a:endParaRPr lang="ja-JP" sz="1340" dirty="0"/>
          </a:p>
        </p:txBody>
      </p:sp>
      <p:sp>
        <p:nvSpPr>
          <p:cNvPr id="6" name="Shape 4"/>
          <p:cNvSpPr/>
          <p:nvPr/>
        </p:nvSpPr>
        <p:spPr>
          <a:xfrm>
            <a:off x="475488" y="1563624"/>
            <a:ext cx="3593592" cy="1975104"/>
          </a:xfrm>
          <a:prstGeom prst="rect">
            <a:avLst>
              <a:gd name="adj" fmla="val 3704"/>
            </a:avLst>
          </a:prstGeom>
          <a:solidFill>
            <a:srgbClr val="F4F4F3"/>
          </a:solidFill>
          <a:ln w="12700">
            <a:solidFill>
              <a:srgbClr val="F4F4F3">
                <a:alpha val="0"/>
              </a:srgbClr>
            </a:solidFill>
            <a:prstDash val="solid"/>
          </a:ln>
        </p:spPr>
      </p:sp>
      <p:sp>
        <p:nvSpPr>
          <p:cNvPr id="7" name="Shape 5"/>
          <p:cNvSpPr/>
          <p:nvPr/>
        </p:nvSpPr>
        <p:spPr>
          <a:xfrm>
            <a:off x="475488" y="1563624"/>
            <a:ext cx="3593592" cy="411480"/>
          </a:xfrm>
          <a:prstGeom prst="rect">
            <a:avLst>
              <a:gd name="adj" fmla="val 17778"/>
            </a:avLst>
          </a:prstGeom>
          <a:solidFill>
            <a:srgbClr val="E51B0B"/>
          </a:solidFill>
          <a:ln w="12700">
            <a:solidFill>
              <a:srgbClr val="E51B0B">
                <a:alpha val="0"/>
              </a:srgbClr>
            </a:solidFill>
            <a:prstDash val="solid"/>
          </a:ln>
        </p:spPr>
      </p:sp>
      <p:sp>
        <p:nvSpPr>
          <p:cNvPr id="8" name="Text 6"/>
          <p:cNvSpPr/>
          <p:nvPr/>
        </p:nvSpPr>
        <p:spPr>
          <a:xfrm>
            <a:off x="621792"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データ品質</a:t>
            </a:r>
            <a:endParaRPr lang="ja-JP" sz="1700" dirty="0"/>
          </a:p>
        </p:txBody>
      </p:sp>
      <p:sp>
        <p:nvSpPr>
          <p:cNvPr id="9" name="Text 7"/>
          <p:cNvSpPr/>
          <p:nvPr/>
        </p:nvSpPr>
        <p:spPr>
          <a:xfrm>
            <a:off x="640080" y="2249424"/>
            <a:ext cx="3264408" cy="950976"/>
          </a:xfrm>
          <a:prstGeom prst="rect">
            <a:avLst/>
          </a:prstGeom>
          <a:noFill/>
          <a:ln/>
        </p:spPr>
        <p:txBody>
          <a:bodyPr wrap="square" lIns="0" tIns="0" rIns="0" bIns="0" rtlCol="0" anchor="t"/>
          <a:lstStyle/>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5テーブルの件数・キー・列値を照合</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型・NULL・文字列・参照関係を確認</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仕様差分は理由と承認を記録</a:t>
            </a:r>
            <a:endParaRPr lang="ja-JP" sz="1410" dirty="0"/>
          </a:p>
        </p:txBody>
      </p:sp>
      <p:sp>
        <p:nvSpPr>
          <p:cNvPr id="10" name="Shape 8"/>
          <p:cNvSpPr/>
          <p:nvPr/>
        </p:nvSpPr>
        <p:spPr>
          <a:xfrm>
            <a:off x="4297680" y="1563624"/>
            <a:ext cx="3593592" cy="1975104"/>
          </a:xfrm>
          <a:prstGeom prst="rect">
            <a:avLst>
              <a:gd name="adj" fmla="val 3704"/>
            </a:avLst>
          </a:prstGeom>
          <a:solidFill>
            <a:srgbClr val="F4F4F3"/>
          </a:solidFill>
          <a:ln w="12700">
            <a:solidFill>
              <a:srgbClr val="F4F4F3">
                <a:alpha val="0"/>
              </a:srgbClr>
            </a:solidFill>
            <a:prstDash val="solid"/>
          </a:ln>
        </p:spPr>
      </p:sp>
      <p:sp>
        <p:nvSpPr>
          <p:cNvPr id="11" name="Shape 9"/>
          <p:cNvSpPr/>
          <p:nvPr/>
        </p:nvSpPr>
        <p:spPr>
          <a:xfrm>
            <a:off x="4297680" y="1563624"/>
            <a:ext cx="3593592" cy="411480"/>
          </a:xfrm>
          <a:prstGeom prst="rect">
            <a:avLst>
              <a:gd name="adj" fmla="val 17778"/>
            </a:avLst>
          </a:prstGeom>
          <a:solidFill>
            <a:srgbClr val="E51B0B"/>
          </a:solidFill>
          <a:ln w="12700">
            <a:solidFill>
              <a:srgbClr val="E51B0B">
                <a:alpha val="0"/>
              </a:srgbClr>
            </a:solidFill>
            <a:prstDash val="solid"/>
          </a:ln>
        </p:spPr>
      </p:sp>
      <p:sp>
        <p:nvSpPr>
          <p:cNvPr id="12" name="Text 10"/>
          <p:cNvSpPr/>
          <p:nvPr/>
        </p:nvSpPr>
        <p:spPr>
          <a:xfrm>
            <a:off x="4443984"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更新・復旧</a:t>
            </a:r>
            <a:endParaRPr lang="ja-JP" sz="1700" dirty="0"/>
          </a:p>
        </p:txBody>
      </p:sp>
      <p:sp>
        <p:nvSpPr>
          <p:cNvPr id="13" name="Text 11"/>
          <p:cNvSpPr/>
          <p:nvPr/>
        </p:nvSpPr>
        <p:spPr>
          <a:xfrm>
            <a:off x="4462272" y="2249424"/>
            <a:ext cx="3264408" cy="950976"/>
          </a:xfrm>
          <a:prstGeom prst="rect">
            <a:avLst/>
          </a:prstGeom>
          <a:noFill/>
          <a:ln/>
        </p:spPr>
        <p:txBody>
          <a:bodyPr wrap="square" lIns="0" tIns="0" rIns="0" bIns="0" rtlCol="0" anchor="t"/>
          <a:lstStyle/>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全件／差分・Watermarkを検証</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部分失敗・重複・再実行を確認</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通知先と復旧責任者を明確化</a:t>
            </a:r>
            <a:endParaRPr lang="ja-JP" sz="1410" dirty="0"/>
          </a:p>
        </p:txBody>
      </p:sp>
      <p:sp>
        <p:nvSpPr>
          <p:cNvPr id="14" name="Shape 12"/>
          <p:cNvSpPr/>
          <p:nvPr/>
        </p:nvSpPr>
        <p:spPr>
          <a:xfrm>
            <a:off x="8119872" y="1563624"/>
            <a:ext cx="3593592" cy="1975104"/>
          </a:xfrm>
          <a:prstGeom prst="rect">
            <a:avLst>
              <a:gd name="adj" fmla="val 3704"/>
            </a:avLst>
          </a:prstGeom>
          <a:solidFill>
            <a:srgbClr val="F4F4F3"/>
          </a:solidFill>
          <a:ln w="12700">
            <a:solidFill>
              <a:srgbClr val="F4F4F3">
                <a:alpha val="0"/>
              </a:srgbClr>
            </a:solidFill>
            <a:prstDash val="solid"/>
          </a:ln>
        </p:spPr>
      </p:sp>
      <p:sp>
        <p:nvSpPr>
          <p:cNvPr id="15" name="Shape 13"/>
          <p:cNvSpPr/>
          <p:nvPr/>
        </p:nvSpPr>
        <p:spPr>
          <a:xfrm>
            <a:off x="8119872" y="1563624"/>
            <a:ext cx="3593592" cy="411480"/>
          </a:xfrm>
          <a:prstGeom prst="rect">
            <a:avLst>
              <a:gd name="adj" fmla="val 17778"/>
            </a:avLst>
          </a:prstGeom>
          <a:solidFill>
            <a:srgbClr val="E51B0B"/>
          </a:solidFill>
          <a:ln w="12700">
            <a:solidFill>
              <a:srgbClr val="E51B0B">
                <a:alpha val="0"/>
              </a:srgbClr>
            </a:solidFill>
            <a:prstDash val="solid"/>
          </a:ln>
        </p:spPr>
      </p:sp>
      <p:sp>
        <p:nvSpPr>
          <p:cNvPr id="16" name="Text 14"/>
          <p:cNvSpPr/>
          <p:nvPr/>
        </p:nvSpPr>
        <p:spPr>
          <a:xfrm>
            <a:off x="8266176"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権限・運用</a:t>
            </a:r>
            <a:endParaRPr lang="ja-JP" sz="1700" dirty="0"/>
          </a:p>
        </p:txBody>
      </p:sp>
      <p:sp>
        <p:nvSpPr>
          <p:cNvPr id="17" name="Text 15"/>
          <p:cNvSpPr/>
          <p:nvPr/>
        </p:nvSpPr>
        <p:spPr>
          <a:xfrm>
            <a:off x="8284464" y="2249424"/>
            <a:ext cx="3264408" cy="950976"/>
          </a:xfrm>
          <a:prstGeom prst="rect">
            <a:avLst/>
          </a:prstGeom>
          <a:noFill/>
          <a:ln/>
        </p:spPr>
        <p:txBody>
          <a:bodyPr wrap="square" lIns="0" tIns="0" rIns="0" bIns="0" rtlCol="0" anchor="t"/>
          <a:lstStyle/>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DEV／QA／PRODの権限を設計</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テーブル・行・列の閲覧範囲を確認</a:t>
            </a:r>
            <a:endParaRPr lang="ja-JP" sz="1410" dirty="0"/>
          </a:p>
          <a:p>
            <a:pPr indent="0" marL="0">
              <a:buNone/>
            </a:pPr>
            <a:r>
              <a:rPr lang="ja-JP" altLang="en-US" sz="1410" dirty="0">
                <a:solidFill>
                  <a:srgbClr val="25282E"/>
                </a:solidFill>
                <a:latin typeface="Noto Sans CJK JP" pitchFamily="34" charset="0"/>
                <a:ea typeface="Noto Sans CJK JP" pitchFamily="34" charset="-122"/>
                <a:cs typeface="Noto Sans CJK JP" pitchFamily="34" charset="-120"/>
              </a:rPr>
              <a:t>SharePoint管理者・保存期間を合意</a:t>
            </a:r>
            <a:endParaRPr lang="ja-JP" sz="1410" dirty="0"/>
          </a:p>
        </p:txBody>
      </p:sp>
      <p:sp>
        <p:nvSpPr>
          <p:cNvPr id="18" name="Text 16"/>
          <p:cNvSpPr/>
          <p:nvPr/>
        </p:nvSpPr>
        <p:spPr>
          <a:xfrm>
            <a:off x="502920" y="3776472"/>
            <a:ext cx="4709160" cy="356616"/>
          </a:xfrm>
          <a:prstGeom prst="rect">
            <a:avLst/>
          </a:prstGeom>
          <a:noFill/>
          <a:ln/>
        </p:spPr>
        <p:txBody>
          <a:bodyPr wrap="square" lIns="0" tIns="0" rIns="0" bIns="0" rtlCol="0" anchor="ctr"/>
          <a:lstStyle/>
          <a:p>
            <a:pPr indent="0" marL="0">
              <a:buNone/>
            </a:pPr>
            <a:r>
              <a:rPr lang="ja-JP" altLang="en-US" sz="2000" b="1" dirty="0">
                <a:solidFill>
                  <a:srgbClr val="25282E"/>
                </a:solidFill>
                <a:latin typeface="Noto Sans CJK JP" pitchFamily="34" charset="0"/>
                <a:ea typeface="Noto Sans CJK JP" pitchFamily="34" charset="-122"/>
                <a:cs typeface="Noto Sans CJK JP" pitchFamily="34" charset="-120"/>
              </a:rPr>
              <a:t>工程ごとの完了判定</a:t>
            </a:r>
            <a:endParaRPr lang="ja-JP" sz="2000" dirty="0"/>
          </a:p>
        </p:txBody>
      </p:sp>
      <p:sp>
        <p:nvSpPr>
          <p:cNvPr id="19" name="Shape 17"/>
          <p:cNvSpPr/>
          <p:nvPr/>
        </p:nvSpPr>
        <p:spPr>
          <a:xfrm>
            <a:off x="475488" y="4334256"/>
            <a:ext cx="2633472" cy="1033272"/>
          </a:xfrm>
          <a:prstGeom prst="rect">
            <a:avLst>
              <a:gd name="adj" fmla="val 7080"/>
            </a:avLst>
          </a:prstGeom>
          <a:solidFill>
            <a:srgbClr val="FCE7E4"/>
          </a:solidFill>
          <a:ln w="12700">
            <a:solidFill>
              <a:srgbClr val="FCE7E4">
                <a:alpha val="0"/>
              </a:srgbClr>
            </a:solidFill>
            <a:prstDash val="solid"/>
          </a:ln>
        </p:spPr>
      </p:sp>
      <p:sp>
        <p:nvSpPr>
          <p:cNvPr id="20" name="Text 18"/>
          <p:cNvSpPr/>
          <p:nvPr/>
        </p:nvSpPr>
        <p:spPr>
          <a:xfrm>
            <a:off x="612648" y="4434840"/>
            <a:ext cx="2359152" cy="256032"/>
          </a:xfrm>
          <a:prstGeom prst="rect">
            <a:avLst/>
          </a:prstGeom>
          <a:noFill/>
          <a:ln/>
        </p:spPr>
        <p:txBody>
          <a:bodyPr wrap="square" lIns="0" tIns="0" rIns="0" bIns="0" rtlCol="0" anchor="ctr"/>
          <a:lstStyle/>
          <a:p>
            <a:pPr indent="0" marL="0">
              <a:buNone/>
            </a:pPr>
            <a:r>
              <a:rPr lang="ja-JP" altLang="en-US" sz="1700" b="1" dirty="0">
                <a:solidFill>
                  <a:srgbClr val="E51B0B"/>
                </a:solidFill>
                <a:latin typeface="Noto Sans CJK JP" pitchFamily="34" charset="0"/>
                <a:ea typeface="Noto Sans CJK JP" pitchFamily="34" charset="-122"/>
                <a:cs typeface="Noto Sans CJK JP" pitchFamily="34" charset="-120"/>
              </a:rPr>
              <a:t>単体</a:t>
            </a:r>
            <a:endParaRPr lang="ja-JP" sz="1700" dirty="0"/>
          </a:p>
        </p:txBody>
      </p:sp>
      <p:sp>
        <p:nvSpPr>
          <p:cNvPr id="21" name="Text 19"/>
          <p:cNvSpPr/>
          <p:nvPr/>
        </p:nvSpPr>
        <p:spPr>
          <a:xfrm>
            <a:off x="612648" y="4818888"/>
            <a:ext cx="2359152" cy="402336"/>
          </a:xfrm>
          <a:prstGeom prst="rect">
            <a:avLst/>
          </a:prstGeom>
          <a:noFill/>
          <a:ln/>
        </p:spPr>
        <p:txBody>
          <a:bodyPr wrap="square" lIns="0" tIns="0" rIns="0" bIns="0" rtlCol="0" anchor="ctr"/>
          <a:lstStyle/>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加工・Function・View</a:t>
            </a:r>
            <a:endParaRPr lang="ja-JP" sz="1210" dirty="0"/>
          </a:p>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stg／tgtの確認</a:t>
            </a:r>
            <a:endParaRPr lang="ja-JP" sz="1210" dirty="0"/>
          </a:p>
        </p:txBody>
      </p:sp>
      <p:sp>
        <p:nvSpPr>
          <p:cNvPr id="22" name="Shape 20"/>
          <p:cNvSpPr/>
          <p:nvPr/>
        </p:nvSpPr>
        <p:spPr>
          <a:xfrm>
            <a:off x="3136392" y="4855464"/>
            <a:ext cx="173736" cy="0"/>
          </a:xfrm>
          <a:prstGeom prst="line">
            <a:avLst/>
          </a:prstGeom>
          <a:noFill/>
          <a:ln w="16510">
            <a:solidFill>
              <a:srgbClr val="E51B0B"/>
            </a:solidFill>
            <a:prstDash val="solid"/>
            <a:headEnd type="none"/>
            <a:tailEnd type="triangle"/>
          </a:ln>
        </p:spPr>
      </p:sp>
      <p:sp>
        <p:nvSpPr>
          <p:cNvPr id="23" name="Shape 21"/>
          <p:cNvSpPr/>
          <p:nvPr/>
        </p:nvSpPr>
        <p:spPr>
          <a:xfrm>
            <a:off x="3337560" y="4334256"/>
            <a:ext cx="2633472" cy="1033272"/>
          </a:xfrm>
          <a:prstGeom prst="rect">
            <a:avLst>
              <a:gd name="adj" fmla="val 7080"/>
            </a:avLst>
          </a:prstGeom>
          <a:solidFill>
            <a:srgbClr val="FCE7E4"/>
          </a:solidFill>
          <a:ln w="12700">
            <a:solidFill>
              <a:srgbClr val="FCE7E4">
                <a:alpha val="0"/>
              </a:srgbClr>
            </a:solidFill>
            <a:prstDash val="solid"/>
          </a:ln>
        </p:spPr>
      </p:sp>
      <p:sp>
        <p:nvSpPr>
          <p:cNvPr id="24" name="Text 22"/>
          <p:cNvSpPr/>
          <p:nvPr/>
        </p:nvSpPr>
        <p:spPr>
          <a:xfrm>
            <a:off x="3474720" y="4434840"/>
            <a:ext cx="2359152" cy="256032"/>
          </a:xfrm>
          <a:prstGeom prst="rect">
            <a:avLst/>
          </a:prstGeom>
          <a:noFill/>
          <a:ln/>
        </p:spPr>
        <p:txBody>
          <a:bodyPr wrap="square" lIns="0" tIns="0" rIns="0" bIns="0" rtlCol="0" anchor="ctr"/>
          <a:lstStyle/>
          <a:p>
            <a:pPr indent="0" marL="0">
              <a:buNone/>
            </a:pPr>
            <a:r>
              <a:rPr lang="ja-JP" altLang="en-US" sz="1700" b="1" dirty="0">
                <a:solidFill>
                  <a:srgbClr val="E51B0B"/>
                </a:solidFill>
                <a:latin typeface="Noto Sans CJK JP" pitchFamily="34" charset="0"/>
                <a:ea typeface="Noto Sans CJK JP" pitchFamily="34" charset="-122"/>
                <a:cs typeface="Noto Sans CJK JP" pitchFamily="34" charset="-120"/>
              </a:rPr>
              <a:t>結合</a:t>
            </a:r>
            <a:endParaRPr lang="ja-JP" sz="1700" dirty="0"/>
          </a:p>
        </p:txBody>
      </p:sp>
      <p:sp>
        <p:nvSpPr>
          <p:cNvPr id="25" name="Text 23"/>
          <p:cNvSpPr/>
          <p:nvPr/>
        </p:nvSpPr>
        <p:spPr>
          <a:xfrm>
            <a:off x="3474720" y="4818888"/>
            <a:ext cx="2359152" cy="402336"/>
          </a:xfrm>
          <a:prstGeom prst="rect">
            <a:avLst/>
          </a:prstGeom>
          <a:noFill/>
          <a:ln/>
        </p:spPr>
        <p:txBody>
          <a:bodyPr wrap="square" lIns="0" tIns="0" rIns="0" bIns="0" rtlCol="0" anchor="ctr"/>
          <a:lstStyle/>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既存を含む性能</a:t>
            </a:r>
            <a:endParaRPr lang="ja-JP" sz="1210" dirty="0"/>
          </a:p>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連携・異常系の確認</a:t>
            </a:r>
            <a:endParaRPr lang="ja-JP" sz="1210" dirty="0"/>
          </a:p>
        </p:txBody>
      </p:sp>
      <p:sp>
        <p:nvSpPr>
          <p:cNvPr id="26" name="Shape 24"/>
          <p:cNvSpPr/>
          <p:nvPr/>
        </p:nvSpPr>
        <p:spPr>
          <a:xfrm>
            <a:off x="5998464" y="4855464"/>
            <a:ext cx="173736" cy="0"/>
          </a:xfrm>
          <a:prstGeom prst="line">
            <a:avLst/>
          </a:prstGeom>
          <a:noFill/>
          <a:ln w="16510">
            <a:solidFill>
              <a:srgbClr val="E51B0B"/>
            </a:solidFill>
            <a:prstDash val="solid"/>
            <a:headEnd type="none"/>
            <a:tailEnd type="triangle"/>
          </a:ln>
        </p:spPr>
      </p:sp>
      <p:sp>
        <p:nvSpPr>
          <p:cNvPr id="27" name="Shape 25"/>
          <p:cNvSpPr/>
          <p:nvPr/>
        </p:nvSpPr>
        <p:spPr>
          <a:xfrm>
            <a:off x="6199632" y="4334256"/>
            <a:ext cx="2633472" cy="1033272"/>
          </a:xfrm>
          <a:prstGeom prst="rect">
            <a:avLst>
              <a:gd name="adj" fmla="val 7080"/>
            </a:avLst>
          </a:prstGeom>
          <a:solidFill>
            <a:srgbClr val="FCE7E4"/>
          </a:solidFill>
          <a:ln w="12700">
            <a:solidFill>
              <a:srgbClr val="FCE7E4">
                <a:alpha val="0"/>
              </a:srgbClr>
            </a:solidFill>
            <a:prstDash val="solid"/>
          </a:ln>
        </p:spPr>
      </p:sp>
      <p:sp>
        <p:nvSpPr>
          <p:cNvPr id="28" name="Text 26"/>
          <p:cNvSpPr/>
          <p:nvPr/>
        </p:nvSpPr>
        <p:spPr>
          <a:xfrm>
            <a:off x="6336792" y="4434840"/>
            <a:ext cx="2359152" cy="256032"/>
          </a:xfrm>
          <a:prstGeom prst="rect">
            <a:avLst/>
          </a:prstGeom>
          <a:noFill/>
          <a:ln/>
        </p:spPr>
        <p:txBody>
          <a:bodyPr wrap="square" lIns="0" tIns="0" rIns="0" bIns="0" rtlCol="0" anchor="ctr"/>
          <a:lstStyle/>
          <a:p>
            <a:pPr indent="0" marL="0">
              <a:buNone/>
            </a:pPr>
            <a:r>
              <a:rPr lang="ja-JP" altLang="en-US" sz="1700" b="1" dirty="0">
                <a:solidFill>
                  <a:srgbClr val="E51B0B"/>
                </a:solidFill>
                <a:latin typeface="Noto Sans CJK JP" pitchFamily="34" charset="0"/>
                <a:ea typeface="Noto Sans CJK JP" pitchFamily="34" charset="-122"/>
                <a:cs typeface="Noto Sans CJK JP" pitchFamily="34" charset="-120"/>
              </a:rPr>
              <a:t>UAT</a:t>
            </a:r>
            <a:endParaRPr lang="ja-JP" sz="1700" dirty="0"/>
          </a:p>
        </p:txBody>
      </p:sp>
      <p:sp>
        <p:nvSpPr>
          <p:cNvPr id="29" name="Text 27"/>
          <p:cNvSpPr/>
          <p:nvPr/>
        </p:nvSpPr>
        <p:spPr>
          <a:xfrm>
            <a:off x="6336792" y="4818888"/>
            <a:ext cx="2359152" cy="402336"/>
          </a:xfrm>
          <a:prstGeom prst="rect">
            <a:avLst/>
          </a:prstGeom>
          <a:noFill/>
          <a:ln/>
        </p:spPr>
        <p:txBody>
          <a:bodyPr wrap="square" lIns="0" tIns="0" rIns="0" bIns="0" rtlCol="0" anchor="ctr"/>
          <a:lstStyle/>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業務シナリオ検証</a:t>
            </a:r>
            <a:endParaRPr lang="ja-JP" sz="1210" dirty="0"/>
          </a:p>
          <a:p>
            <a:pPr indent="0" marL="0">
              <a:buNone/>
            </a:pPr>
            <a:r>
              <a:rPr lang="ja-JP" altLang="en-US" sz="1210" dirty="0">
                <a:solidFill>
                  <a:srgbClr val="25282E"/>
                </a:solidFill>
                <a:latin typeface="Noto Sans CJK JP" pitchFamily="34" charset="0"/>
                <a:ea typeface="Noto Sans CJK JP" pitchFamily="34" charset="-122"/>
                <a:cs typeface="Noto Sans CJK JP" pitchFamily="34" charset="-120"/>
              </a:rPr>
              <a:t>業務責任者の受入</a:t>
            </a:r>
            <a:endParaRPr lang="ja-JP" sz="1210" dirty="0"/>
          </a:p>
        </p:txBody>
      </p:sp>
      <p:sp>
        <p:nvSpPr>
          <p:cNvPr id="30" name="Shape 28"/>
          <p:cNvSpPr/>
          <p:nvPr/>
        </p:nvSpPr>
        <p:spPr>
          <a:xfrm>
            <a:off x="8860536" y="4855464"/>
            <a:ext cx="173736" cy="0"/>
          </a:xfrm>
          <a:prstGeom prst="line">
            <a:avLst/>
          </a:prstGeom>
          <a:noFill/>
          <a:ln w="16510">
            <a:solidFill>
              <a:srgbClr val="E51B0B"/>
            </a:solidFill>
            <a:prstDash val="solid"/>
            <a:headEnd type="none"/>
            <a:tailEnd type="triangle"/>
          </a:ln>
        </p:spPr>
      </p:sp>
      <p:sp>
        <p:nvSpPr>
          <p:cNvPr id="31" name="Shape 29"/>
          <p:cNvSpPr/>
          <p:nvPr/>
        </p:nvSpPr>
        <p:spPr>
          <a:xfrm>
            <a:off x="9061704" y="4334256"/>
            <a:ext cx="2633472" cy="1033272"/>
          </a:xfrm>
          <a:prstGeom prst="rect">
            <a:avLst>
              <a:gd name="adj" fmla="val 7080"/>
            </a:avLst>
          </a:prstGeom>
          <a:solidFill>
            <a:srgbClr val="E51B0B"/>
          </a:solidFill>
          <a:ln w="12700">
            <a:solidFill>
              <a:srgbClr val="E51B0B">
                <a:alpha val="0"/>
              </a:srgbClr>
            </a:solidFill>
            <a:prstDash val="solid"/>
          </a:ln>
        </p:spPr>
      </p:sp>
      <p:sp>
        <p:nvSpPr>
          <p:cNvPr id="32" name="Text 30"/>
          <p:cNvSpPr/>
          <p:nvPr/>
        </p:nvSpPr>
        <p:spPr>
          <a:xfrm>
            <a:off x="9198864" y="4434840"/>
            <a:ext cx="2359152" cy="256032"/>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KT</a:t>
            </a:r>
            <a:endParaRPr lang="ja-JP" sz="1700" dirty="0"/>
          </a:p>
        </p:txBody>
      </p:sp>
      <p:sp>
        <p:nvSpPr>
          <p:cNvPr id="33" name="Text 31"/>
          <p:cNvSpPr/>
          <p:nvPr/>
        </p:nvSpPr>
        <p:spPr>
          <a:xfrm>
            <a:off x="9198864" y="4818888"/>
            <a:ext cx="2359152" cy="402336"/>
          </a:xfrm>
          <a:prstGeom prst="rect">
            <a:avLst/>
          </a:prstGeom>
          <a:noFill/>
          <a:ln/>
        </p:spPr>
        <p:txBody>
          <a:bodyPr wrap="square" lIns="0" tIns="0" rIns="0" bIns="0" rtlCol="0" anchor="ctr"/>
          <a:lstStyle/>
          <a:p>
            <a:pPr indent="0" marL="0">
              <a:buNone/>
            </a:pPr>
            <a:r>
              <a:rPr lang="ja-JP" altLang="en-US" sz="1210" dirty="0">
                <a:solidFill>
                  <a:srgbClr val="FFFFFF"/>
                </a:solidFill>
                <a:latin typeface="Noto Sans CJK JP" pitchFamily="34" charset="0"/>
                <a:ea typeface="Noto Sans CJK JP" pitchFamily="34" charset="-122"/>
                <a:cs typeface="Noto Sans CJK JP" pitchFamily="34" charset="-120"/>
              </a:rPr>
              <a:t>手順・質疑・操作確認</a:t>
            </a:r>
            <a:endParaRPr lang="ja-JP" sz="1210" dirty="0"/>
          </a:p>
          <a:p>
            <a:pPr indent="0" marL="0">
              <a:buNone/>
            </a:pPr>
            <a:r>
              <a:rPr lang="ja-JP" altLang="en-US" sz="1210" dirty="0">
                <a:solidFill>
                  <a:srgbClr val="FFFFFF"/>
                </a:solidFill>
                <a:latin typeface="Noto Sans CJK JP" pitchFamily="34" charset="0"/>
                <a:ea typeface="Noto Sans CJK JP" pitchFamily="34" charset="-122"/>
                <a:cs typeface="Noto Sans CJK JP" pitchFamily="34" charset="-120"/>
              </a:rPr>
              <a:t>運用側への引継ぎ</a:t>
            </a:r>
            <a:endParaRPr lang="ja-JP" sz="1210" dirty="0"/>
          </a:p>
        </p:txBody>
      </p:sp>
      <p:sp>
        <p:nvSpPr>
          <p:cNvPr id="34" name="Shape 32"/>
          <p:cNvSpPr/>
          <p:nvPr/>
        </p:nvSpPr>
        <p:spPr>
          <a:xfrm>
            <a:off x="475488" y="5623560"/>
            <a:ext cx="11228832" cy="393192"/>
          </a:xfrm>
          <a:prstGeom prst="rect">
            <a:avLst>
              <a:gd name="adj" fmla="val 18605"/>
            </a:avLst>
          </a:prstGeom>
          <a:solidFill>
            <a:srgbClr val="F4F4F3"/>
          </a:solidFill>
          <a:ln w="12700">
            <a:solidFill>
              <a:srgbClr val="F4F4F3">
                <a:alpha val="0"/>
              </a:srgbClr>
            </a:solidFill>
            <a:prstDash val="solid"/>
          </a:ln>
        </p:spPr>
      </p:sp>
      <p:sp>
        <p:nvSpPr>
          <p:cNvPr id="35" name="Text 33"/>
          <p:cNvSpPr/>
          <p:nvPr/>
        </p:nvSpPr>
        <p:spPr>
          <a:xfrm>
            <a:off x="676656" y="5696712"/>
            <a:ext cx="10826496" cy="228600"/>
          </a:xfrm>
          <a:prstGeom prst="rect">
            <a:avLst/>
          </a:prstGeom>
          <a:noFill/>
          <a:ln/>
        </p:spPr>
        <p:txBody>
          <a:bodyPr wrap="square" lIns="0" tIns="0" rIns="0" bIns="0" rtlCol="0" anchor="ctr"/>
          <a:lstStyle/>
          <a:p>
            <a:pPr indent="0" marL="0">
              <a:buNone/>
            </a:pPr>
            <a:r>
              <a:rPr lang="ja-JP" altLang="en-US" sz="1240" b="1" dirty="0">
                <a:solidFill>
                  <a:srgbClr val="E51B0B"/>
                </a:solidFill>
                <a:latin typeface="Noto Sans CJK JP" pitchFamily="34" charset="0"/>
                <a:ea typeface="Noto Sans CJK JP" pitchFamily="34" charset="-122"/>
                <a:cs typeface="Noto Sans CJK JP" pitchFamily="34" charset="-120"/>
              </a:rPr>
              <a:t>未確定：Dataverse反映「8時ごろ」の可否、許容遅延、品質の数値基準、重大不具合の受入条件</a:t>
            </a:r>
            <a:endParaRPr lang="ja-JP" sz="1240" dirty="0"/>
          </a:p>
        </p:txBody>
      </p:sp>
      <p:sp>
        <p:nvSpPr>
          <p:cNvPr id="36" name="Shape 34"/>
          <p:cNvSpPr/>
          <p:nvPr/>
        </p:nvSpPr>
        <p:spPr>
          <a:xfrm>
            <a:off x="457200" y="6492240"/>
            <a:ext cx="11274552" cy="0"/>
          </a:xfrm>
          <a:prstGeom prst="line">
            <a:avLst/>
          </a:prstGeom>
          <a:noFill/>
          <a:ln w="8890">
            <a:solidFill>
              <a:srgbClr val="DFE1E4"/>
            </a:solidFill>
            <a:prstDash val="solid"/>
            <a:headEnd type="none"/>
            <a:tailEnd type="none"/>
          </a:ln>
        </p:spPr>
      </p:sp>
      <p:sp>
        <p:nvSpPr>
          <p:cNvPr id="37" name="Text 35"/>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38" name="Text 36"/>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39" name="Text 37"/>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10</a:t>
            </a:r>
            <a:endParaRPr lang="ja-JP" sz="1000" dirty="0"/>
          </a:p>
        </p:txBody>
      </p:sp>
      <p:sp>
        <p:nvSpPr>
          <p:cNvPr id="40" name="Text 38"/>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No.7〜8、15〜18、50〜64／品質基準はOmni2Fabric同等を想定し、適用可否を確認する</a:t>
            </a:r>
            <a:endParaRPr lang="ja-JP" sz="8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リスク・前提条件・依存関係</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未確定事項には、影響・確認先・回答期限を設定する</a:t>
            </a:r>
            <a:endParaRPr lang="ja-JP" sz="1340" dirty="0"/>
          </a:p>
        </p:txBody>
      </p:sp>
      <p:sp>
        <p:nvSpPr>
          <p:cNvPr id="6" name="Shape 4"/>
          <p:cNvSpPr/>
          <p:nvPr/>
        </p:nvSpPr>
        <p:spPr>
          <a:xfrm>
            <a:off x="475488" y="1563624"/>
            <a:ext cx="3593592" cy="4325112"/>
          </a:xfrm>
          <a:prstGeom prst="rect">
            <a:avLst>
              <a:gd name="adj" fmla="val 2036"/>
            </a:avLst>
          </a:prstGeom>
          <a:solidFill>
            <a:srgbClr val="F4F4F3"/>
          </a:solidFill>
          <a:ln w="12700">
            <a:solidFill>
              <a:srgbClr val="F4F4F3">
                <a:alpha val="0"/>
              </a:srgbClr>
            </a:solidFill>
            <a:prstDash val="solid"/>
          </a:ln>
        </p:spPr>
      </p:sp>
      <p:sp>
        <p:nvSpPr>
          <p:cNvPr id="7" name="Shape 5"/>
          <p:cNvSpPr/>
          <p:nvPr/>
        </p:nvSpPr>
        <p:spPr>
          <a:xfrm>
            <a:off x="475488" y="1563624"/>
            <a:ext cx="3593592" cy="411480"/>
          </a:xfrm>
          <a:prstGeom prst="rect">
            <a:avLst>
              <a:gd name="adj" fmla="val 17778"/>
            </a:avLst>
          </a:prstGeom>
          <a:solidFill>
            <a:srgbClr val="E51B0B"/>
          </a:solidFill>
          <a:ln w="12700">
            <a:solidFill>
              <a:srgbClr val="E51B0B">
                <a:alpha val="0"/>
              </a:srgbClr>
            </a:solidFill>
            <a:prstDash val="solid"/>
          </a:ln>
        </p:spPr>
      </p:sp>
      <p:sp>
        <p:nvSpPr>
          <p:cNvPr id="8" name="Text 6"/>
          <p:cNvSpPr/>
          <p:nvPr/>
        </p:nvSpPr>
        <p:spPr>
          <a:xfrm>
            <a:off x="621792"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リスクと対応案</a:t>
            </a:r>
            <a:endParaRPr lang="ja-JP" sz="1700" dirty="0"/>
          </a:p>
        </p:txBody>
      </p:sp>
      <p:sp>
        <p:nvSpPr>
          <p:cNvPr id="9" name="Text 7"/>
          <p:cNvSpPr/>
          <p:nvPr/>
        </p:nvSpPr>
        <p:spPr>
          <a:xfrm>
            <a:off x="658368" y="2221992"/>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入力・成果物の数量増加</a:t>
            </a:r>
            <a:endParaRPr lang="ja-JP" sz="1600" dirty="0"/>
          </a:p>
        </p:txBody>
      </p:sp>
      <p:sp>
        <p:nvSpPr>
          <p:cNvPr id="10" name="Text 8"/>
          <p:cNvSpPr/>
          <p:nvPr/>
        </p:nvSpPr>
        <p:spPr>
          <a:xfrm>
            <a:off x="658368" y="2660904"/>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INPUT一覧を確定し、39件等の</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見込みと工期を再見積りする。</a:t>
            </a:r>
            <a:endParaRPr lang="ja-JP" sz="1380" dirty="0"/>
          </a:p>
        </p:txBody>
      </p:sp>
      <p:sp>
        <p:nvSpPr>
          <p:cNvPr id="11" name="Text 9"/>
          <p:cNvSpPr/>
          <p:nvPr/>
        </p:nvSpPr>
        <p:spPr>
          <a:xfrm>
            <a:off x="658368" y="3328416"/>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データ差異・SLA未達</a:t>
            </a:r>
            <a:endParaRPr lang="ja-JP" sz="1600" dirty="0"/>
          </a:p>
        </p:txBody>
      </p:sp>
      <p:sp>
        <p:nvSpPr>
          <p:cNvPr id="12" name="Text 10"/>
          <p:cNvSpPr/>
          <p:nvPr/>
        </p:nvSpPr>
        <p:spPr>
          <a:xfrm>
            <a:off x="658368" y="3767328"/>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照合基準・更新時刻を先に合意し、</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差分処理と性能を早期確認する。</a:t>
            </a:r>
            <a:endParaRPr lang="ja-JP" sz="1380" dirty="0"/>
          </a:p>
        </p:txBody>
      </p:sp>
      <p:sp>
        <p:nvSpPr>
          <p:cNvPr id="13" name="Text 11"/>
          <p:cNvSpPr/>
          <p:nvPr/>
        </p:nvSpPr>
        <p:spPr>
          <a:xfrm>
            <a:off x="658368" y="4434840"/>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既存基盤・要員への影響</a:t>
            </a:r>
            <a:endParaRPr lang="ja-JP" sz="1600" dirty="0"/>
          </a:p>
        </p:txBody>
      </p:sp>
      <p:sp>
        <p:nvSpPr>
          <p:cNvPr id="14" name="Text 12"/>
          <p:cNvSpPr/>
          <p:nvPr/>
        </p:nvSpPr>
        <p:spPr>
          <a:xfrm>
            <a:off x="658368" y="4873752"/>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変更承認、回帰試験、要員調整を</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行い、休日を計画へ反映する。</a:t>
            </a:r>
            <a:endParaRPr lang="ja-JP" sz="1380" dirty="0"/>
          </a:p>
        </p:txBody>
      </p:sp>
      <p:sp>
        <p:nvSpPr>
          <p:cNvPr id="15" name="Shape 13"/>
          <p:cNvSpPr/>
          <p:nvPr/>
        </p:nvSpPr>
        <p:spPr>
          <a:xfrm>
            <a:off x="4297680" y="1563624"/>
            <a:ext cx="3593592" cy="4325112"/>
          </a:xfrm>
          <a:prstGeom prst="rect">
            <a:avLst>
              <a:gd name="adj" fmla="val 2036"/>
            </a:avLst>
          </a:prstGeom>
          <a:solidFill>
            <a:srgbClr val="F4F4F3"/>
          </a:solidFill>
          <a:ln w="12700">
            <a:solidFill>
              <a:srgbClr val="F4F4F3">
                <a:alpha val="0"/>
              </a:srgbClr>
            </a:solidFill>
            <a:prstDash val="solid"/>
          </a:ln>
        </p:spPr>
      </p:sp>
      <p:sp>
        <p:nvSpPr>
          <p:cNvPr id="16" name="Shape 14"/>
          <p:cNvSpPr/>
          <p:nvPr/>
        </p:nvSpPr>
        <p:spPr>
          <a:xfrm>
            <a:off x="4297680" y="1563624"/>
            <a:ext cx="3593592" cy="411480"/>
          </a:xfrm>
          <a:prstGeom prst="rect">
            <a:avLst>
              <a:gd name="adj" fmla="val 17778"/>
            </a:avLst>
          </a:prstGeom>
          <a:solidFill>
            <a:srgbClr val="E51B0B"/>
          </a:solidFill>
          <a:ln w="12700">
            <a:solidFill>
              <a:srgbClr val="E51B0B">
                <a:alpha val="0"/>
              </a:srgbClr>
            </a:solidFill>
            <a:prstDash val="solid"/>
          </a:ln>
        </p:spPr>
      </p:sp>
      <p:sp>
        <p:nvSpPr>
          <p:cNvPr id="17" name="Text 15"/>
          <p:cNvSpPr/>
          <p:nvPr/>
        </p:nvSpPr>
        <p:spPr>
          <a:xfrm>
            <a:off x="4443984"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計画上の前提（要確認）</a:t>
            </a:r>
            <a:endParaRPr lang="ja-JP" sz="1700" dirty="0"/>
          </a:p>
        </p:txBody>
      </p:sp>
      <p:sp>
        <p:nvSpPr>
          <p:cNvPr id="18" name="Text 16"/>
          <p:cNvSpPr/>
          <p:nvPr/>
        </p:nvSpPr>
        <p:spPr>
          <a:xfrm>
            <a:off x="4480560" y="2221992"/>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開発・検証環境を利用可能</a:t>
            </a:r>
            <a:endParaRPr lang="ja-JP" sz="1600" dirty="0"/>
          </a:p>
        </p:txBody>
      </p:sp>
      <p:sp>
        <p:nvSpPr>
          <p:cNvPr id="19" name="Text 17"/>
          <p:cNvSpPr/>
          <p:nvPr/>
        </p:nvSpPr>
        <p:spPr>
          <a:xfrm>
            <a:off x="4480560" y="2660904"/>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DEV／QA／PRODの構築と、</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必要な容量・権限を確保する。</a:t>
            </a:r>
            <a:endParaRPr lang="ja-JP" sz="1380" dirty="0"/>
          </a:p>
        </p:txBody>
      </p:sp>
      <p:sp>
        <p:nvSpPr>
          <p:cNvPr id="20" name="Text 18"/>
          <p:cNvSpPr/>
          <p:nvPr/>
        </p:nvSpPr>
        <p:spPr>
          <a:xfrm>
            <a:off x="4480560" y="3328416"/>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業務と運用がレビュー可能</a:t>
            </a:r>
            <a:endParaRPr lang="ja-JP" sz="1600" dirty="0"/>
          </a:p>
        </p:txBody>
      </p:sp>
      <p:sp>
        <p:nvSpPr>
          <p:cNvPr id="21" name="Text 19"/>
          <p:cNvSpPr/>
          <p:nvPr/>
        </p:nvSpPr>
        <p:spPr>
          <a:xfrm>
            <a:off x="4480560" y="3767328"/>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UAT実施者・データオーナー・</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KT受講者の稼働を確保する。</a:t>
            </a:r>
            <a:endParaRPr lang="ja-JP" sz="1380" dirty="0"/>
          </a:p>
        </p:txBody>
      </p:sp>
      <p:sp>
        <p:nvSpPr>
          <p:cNvPr id="22" name="Text 20"/>
          <p:cNvSpPr/>
          <p:nvPr/>
        </p:nvSpPr>
        <p:spPr>
          <a:xfrm>
            <a:off x="4480560" y="4434840"/>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元資料の範囲を基準に管理</a:t>
            </a:r>
            <a:endParaRPr lang="ja-JP" sz="1600" dirty="0"/>
          </a:p>
        </p:txBody>
      </p:sp>
      <p:sp>
        <p:nvSpPr>
          <p:cNvPr id="23" name="Text 21"/>
          <p:cNvSpPr/>
          <p:nvPr/>
        </p:nvSpPr>
        <p:spPr>
          <a:xfrm>
            <a:off x="4480560" y="4873752"/>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仕様追加・DPS対応・本番切替は、</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変更管理を通じて別途判断する。</a:t>
            </a:r>
            <a:endParaRPr lang="ja-JP" sz="1380" dirty="0"/>
          </a:p>
        </p:txBody>
      </p:sp>
      <p:sp>
        <p:nvSpPr>
          <p:cNvPr id="24" name="Shape 22"/>
          <p:cNvSpPr/>
          <p:nvPr/>
        </p:nvSpPr>
        <p:spPr>
          <a:xfrm>
            <a:off x="8119872" y="1563624"/>
            <a:ext cx="3593592" cy="4325112"/>
          </a:xfrm>
          <a:prstGeom prst="rect">
            <a:avLst>
              <a:gd name="adj" fmla="val 2036"/>
            </a:avLst>
          </a:prstGeom>
          <a:solidFill>
            <a:srgbClr val="F4F4F3"/>
          </a:solidFill>
          <a:ln w="12700">
            <a:solidFill>
              <a:srgbClr val="F4F4F3">
                <a:alpha val="0"/>
              </a:srgbClr>
            </a:solidFill>
            <a:prstDash val="solid"/>
          </a:ln>
        </p:spPr>
      </p:sp>
      <p:sp>
        <p:nvSpPr>
          <p:cNvPr id="25" name="Shape 23"/>
          <p:cNvSpPr/>
          <p:nvPr/>
        </p:nvSpPr>
        <p:spPr>
          <a:xfrm>
            <a:off x="8119872" y="1563624"/>
            <a:ext cx="3593592" cy="411480"/>
          </a:xfrm>
          <a:prstGeom prst="rect">
            <a:avLst>
              <a:gd name="adj" fmla="val 17778"/>
            </a:avLst>
          </a:prstGeom>
          <a:solidFill>
            <a:srgbClr val="E51B0B"/>
          </a:solidFill>
          <a:ln w="12700">
            <a:solidFill>
              <a:srgbClr val="E51B0B">
                <a:alpha val="0"/>
              </a:srgbClr>
            </a:solidFill>
            <a:prstDash val="solid"/>
          </a:ln>
        </p:spPr>
      </p:sp>
      <p:sp>
        <p:nvSpPr>
          <p:cNvPr id="26" name="Text 24"/>
          <p:cNvSpPr/>
          <p:nvPr/>
        </p:nvSpPr>
        <p:spPr>
          <a:xfrm>
            <a:off x="8266176" y="1581912"/>
            <a:ext cx="3300984"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依存する確認・承認</a:t>
            </a:r>
            <a:endParaRPr lang="ja-JP" sz="1700" dirty="0"/>
          </a:p>
        </p:txBody>
      </p:sp>
      <p:sp>
        <p:nvSpPr>
          <p:cNvPr id="27" name="Text 25"/>
          <p:cNvSpPr/>
          <p:nvPr/>
        </p:nvSpPr>
        <p:spPr>
          <a:xfrm>
            <a:off x="8302752" y="2221992"/>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入力データの提供</a:t>
            </a:r>
            <a:endParaRPr lang="ja-JP" sz="1600" dirty="0"/>
          </a:p>
        </p:txBody>
      </p:sp>
      <p:sp>
        <p:nvSpPr>
          <p:cNvPr id="28" name="Text 26"/>
          <p:cNvSpPr/>
          <p:nvPr/>
        </p:nvSpPr>
        <p:spPr>
          <a:xfrm>
            <a:off x="8302752" y="2660904"/>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OneForce列充足、Redshiftの更新、</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SharePointの所有者・配置を確認。</a:t>
            </a:r>
            <a:endParaRPr lang="ja-JP" sz="1380" dirty="0"/>
          </a:p>
        </p:txBody>
      </p:sp>
      <p:sp>
        <p:nvSpPr>
          <p:cNvPr id="29" name="Text 27"/>
          <p:cNvSpPr/>
          <p:nvPr/>
        </p:nvSpPr>
        <p:spPr>
          <a:xfrm>
            <a:off x="8302752" y="3328416"/>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接続先の許可</a:t>
            </a:r>
            <a:endParaRPr lang="ja-JP" sz="1600" dirty="0"/>
          </a:p>
        </p:txBody>
      </p:sp>
      <p:sp>
        <p:nvSpPr>
          <p:cNvPr id="30" name="Text 28"/>
          <p:cNvSpPr/>
          <p:nvPr/>
        </p:nvSpPr>
        <p:spPr>
          <a:xfrm>
            <a:off x="8302752" y="3767328"/>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元資料記載のNextForce開発環境と</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Dataverseテスト環境を照合・承認。</a:t>
            </a:r>
            <a:endParaRPr lang="ja-JP" sz="1380" dirty="0"/>
          </a:p>
        </p:txBody>
      </p:sp>
      <p:sp>
        <p:nvSpPr>
          <p:cNvPr id="31" name="Text 29"/>
          <p:cNvSpPr/>
          <p:nvPr/>
        </p:nvSpPr>
        <p:spPr>
          <a:xfrm>
            <a:off x="8302752" y="4434840"/>
            <a:ext cx="3218688" cy="320040"/>
          </a:xfrm>
          <a:prstGeom prst="rect">
            <a:avLst/>
          </a:prstGeom>
          <a:noFill/>
          <a:ln/>
        </p:spPr>
        <p:txBody>
          <a:bodyPr wrap="square" lIns="0" tIns="0" rIns="0" bIns="0" rtlCol="0" anchor="ctr"/>
          <a:lstStyle/>
          <a:p>
            <a:pPr indent="0" marL="0">
              <a:buNone/>
            </a:pPr>
            <a:r>
              <a:rPr lang="ja-JP" altLang="en-US" sz="1600" b="1" dirty="0">
                <a:solidFill>
                  <a:srgbClr val="E51B0B"/>
                </a:solidFill>
                <a:latin typeface="Noto Sans CJK JP" pitchFamily="34" charset="0"/>
                <a:ea typeface="Noto Sans CJK JP" pitchFamily="34" charset="-122"/>
                <a:cs typeface="Noto Sans CJK JP" pitchFamily="34" charset="-120"/>
              </a:rPr>
              <a:t>受入・引継ぎの判断</a:t>
            </a:r>
            <a:endParaRPr lang="ja-JP" sz="1600" dirty="0"/>
          </a:p>
        </p:txBody>
      </p:sp>
      <p:sp>
        <p:nvSpPr>
          <p:cNvPr id="32" name="Text 30"/>
          <p:cNvSpPr/>
          <p:nvPr/>
        </p:nvSpPr>
        <p:spPr>
          <a:xfrm>
            <a:off x="8302752" y="4873752"/>
            <a:ext cx="3218688" cy="566928"/>
          </a:xfrm>
          <a:prstGeom prst="rect">
            <a:avLst/>
          </a:prstGeom>
          <a:noFill/>
          <a:ln/>
        </p:spPr>
        <p:txBody>
          <a:bodyPr wrap="square" lIns="0" tIns="0" rIns="0" bIns="0" rtlCol="0" anchor="t"/>
          <a:lstStyle/>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業務側のUAT受入と、</a:t>
            </a:r>
            <a:endParaRPr lang="ja-JP" sz="1380" dirty="0"/>
          </a:p>
          <a:p>
            <a:pPr indent="0" marL="0">
              <a:buNone/>
            </a:pPr>
            <a:r>
              <a:rPr lang="ja-JP" altLang="en-US" sz="1380" dirty="0">
                <a:solidFill>
                  <a:srgbClr val="25282E"/>
                </a:solidFill>
                <a:latin typeface="Noto Sans CJK JP" pitchFamily="34" charset="0"/>
                <a:ea typeface="Noto Sans CJK JP" pitchFamily="34" charset="-122"/>
                <a:cs typeface="Noto Sans CJK JP" pitchFamily="34" charset="-120"/>
              </a:rPr>
              <a:t>Datalake運用側の引継ぎ確認。</a:t>
            </a:r>
            <a:endParaRPr lang="ja-JP" sz="1380" dirty="0"/>
          </a:p>
        </p:txBody>
      </p:sp>
      <p:sp>
        <p:nvSpPr>
          <p:cNvPr id="33" name="Shape 31"/>
          <p:cNvSpPr/>
          <p:nvPr/>
        </p:nvSpPr>
        <p:spPr>
          <a:xfrm>
            <a:off x="457200" y="6492240"/>
            <a:ext cx="11274552" cy="0"/>
          </a:xfrm>
          <a:prstGeom prst="line">
            <a:avLst/>
          </a:prstGeom>
          <a:noFill/>
          <a:ln w="8890">
            <a:solidFill>
              <a:srgbClr val="DFE1E4"/>
            </a:solidFill>
            <a:prstDash val="solid"/>
            <a:headEnd type="none"/>
            <a:tailEnd type="none"/>
          </a:ln>
        </p:spPr>
      </p:sp>
      <p:sp>
        <p:nvSpPr>
          <p:cNvPr id="34" name="Text 32"/>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35" name="Text 33"/>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36" name="Text 34"/>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11</a:t>
            </a:r>
            <a:endParaRPr lang="ja-JP" sz="1000" dirty="0"/>
          </a:p>
        </p:txBody>
      </p:sp>
      <p:sp>
        <p:nvSpPr>
          <p:cNvPr id="37" name="Text 35"/>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No.7、9〜18、24、31〜49、59〜64／WBS「確認事項」C01〜C20</a:t>
            </a:r>
            <a:endParaRPr lang="ja-JP" sz="8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次のアクションと本日の合意事項</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担当の確定と回答期限の設定を行い、WBS・課題一覧へ反映する</a:t>
            </a:r>
            <a:endParaRPr lang="ja-JP" sz="1340" dirty="0"/>
          </a:p>
        </p:txBody>
      </p:sp>
      <p:sp>
        <p:nvSpPr>
          <p:cNvPr id="6" name="Shape 4"/>
          <p:cNvSpPr/>
          <p:nvPr/>
        </p:nvSpPr>
        <p:spPr>
          <a:xfrm>
            <a:off x="475488" y="1572768"/>
            <a:ext cx="561442" cy="402336"/>
          </a:xfrm>
          <a:prstGeom prst="rect">
            <a:avLst>
              <a:gd name="adj" fmla="val 18182"/>
            </a:avLst>
          </a:prstGeom>
          <a:solidFill>
            <a:srgbClr val="E51B0B"/>
          </a:solidFill>
          <a:ln w="12700">
            <a:solidFill>
              <a:srgbClr val="E51B0B">
                <a:alpha val="0"/>
              </a:srgbClr>
            </a:solidFill>
            <a:prstDash val="solid"/>
          </a:ln>
        </p:spPr>
      </p:sp>
      <p:sp>
        <p:nvSpPr>
          <p:cNvPr id="7" name="Text 5"/>
          <p:cNvSpPr/>
          <p:nvPr/>
        </p:nvSpPr>
        <p:spPr>
          <a:xfrm>
            <a:off x="585216" y="1609344"/>
            <a:ext cx="341986" cy="329184"/>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No.</a:t>
            </a:r>
            <a:endParaRPr lang="ja-JP" sz="1350" dirty="0"/>
          </a:p>
        </p:txBody>
      </p:sp>
      <p:sp>
        <p:nvSpPr>
          <p:cNvPr id="8" name="Shape 6"/>
          <p:cNvSpPr/>
          <p:nvPr/>
        </p:nvSpPr>
        <p:spPr>
          <a:xfrm>
            <a:off x="1036930" y="1572768"/>
            <a:ext cx="4491533" cy="402336"/>
          </a:xfrm>
          <a:prstGeom prst="rect">
            <a:avLst>
              <a:gd name="adj" fmla="val 18182"/>
            </a:avLst>
          </a:prstGeom>
          <a:solidFill>
            <a:srgbClr val="E51B0B"/>
          </a:solidFill>
          <a:ln w="12700">
            <a:solidFill>
              <a:srgbClr val="E51B0B">
                <a:alpha val="0"/>
              </a:srgbClr>
            </a:solidFill>
            <a:prstDash val="solid"/>
          </a:ln>
        </p:spPr>
      </p:sp>
      <p:sp>
        <p:nvSpPr>
          <p:cNvPr id="9" name="Text 7"/>
          <p:cNvSpPr/>
          <p:nvPr/>
        </p:nvSpPr>
        <p:spPr>
          <a:xfrm>
            <a:off x="1146658" y="1609344"/>
            <a:ext cx="4272077" cy="329184"/>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アクション／決めること</a:t>
            </a:r>
            <a:endParaRPr lang="ja-JP" sz="1350" dirty="0"/>
          </a:p>
        </p:txBody>
      </p:sp>
      <p:sp>
        <p:nvSpPr>
          <p:cNvPr id="10" name="Shape 8"/>
          <p:cNvSpPr/>
          <p:nvPr/>
        </p:nvSpPr>
        <p:spPr>
          <a:xfrm>
            <a:off x="5528462" y="1572768"/>
            <a:ext cx="2807208" cy="402336"/>
          </a:xfrm>
          <a:prstGeom prst="rect">
            <a:avLst>
              <a:gd name="adj" fmla="val 18182"/>
            </a:avLst>
          </a:prstGeom>
          <a:solidFill>
            <a:srgbClr val="E51B0B"/>
          </a:solidFill>
          <a:ln w="12700">
            <a:solidFill>
              <a:srgbClr val="E51B0B">
                <a:alpha val="0"/>
              </a:srgbClr>
            </a:solidFill>
            <a:prstDash val="solid"/>
          </a:ln>
        </p:spPr>
      </p:sp>
      <p:sp>
        <p:nvSpPr>
          <p:cNvPr id="11" name="Text 9"/>
          <p:cNvSpPr/>
          <p:nvPr/>
        </p:nvSpPr>
        <p:spPr>
          <a:xfrm>
            <a:off x="5638190" y="1609344"/>
            <a:ext cx="2587752" cy="329184"/>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担当・確認先（案）</a:t>
            </a:r>
            <a:endParaRPr lang="ja-JP" sz="1350" dirty="0"/>
          </a:p>
        </p:txBody>
      </p:sp>
      <p:sp>
        <p:nvSpPr>
          <p:cNvPr id="12" name="Shape 10"/>
          <p:cNvSpPr/>
          <p:nvPr/>
        </p:nvSpPr>
        <p:spPr>
          <a:xfrm>
            <a:off x="8335670" y="1572768"/>
            <a:ext cx="3368650" cy="402336"/>
          </a:xfrm>
          <a:prstGeom prst="rect">
            <a:avLst>
              <a:gd name="adj" fmla="val 18182"/>
            </a:avLst>
          </a:prstGeom>
          <a:solidFill>
            <a:srgbClr val="E51B0B"/>
          </a:solidFill>
          <a:ln w="12700">
            <a:solidFill>
              <a:srgbClr val="E51B0B">
                <a:alpha val="0"/>
              </a:srgbClr>
            </a:solidFill>
            <a:prstDash val="solid"/>
          </a:ln>
        </p:spPr>
      </p:sp>
      <p:sp>
        <p:nvSpPr>
          <p:cNvPr id="13" name="Text 11"/>
          <p:cNvSpPr/>
          <p:nvPr/>
        </p:nvSpPr>
        <p:spPr>
          <a:xfrm>
            <a:off x="8445398" y="1609344"/>
            <a:ext cx="3149194" cy="329184"/>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期限の基準</a:t>
            </a:r>
            <a:endParaRPr lang="ja-JP" sz="1350" dirty="0"/>
          </a:p>
        </p:txBody>
      </p:sp>
      <p:sp>
        <p:nvSpPr>
          <p:cNvPr id="14" name="Shape 12"/>
          <p:cNvSpPr/>
          <p:nvPr/>
        </p:nvSpPr>
        <p:spPr>
          <a:xfrm>
            <a:off x="475488" y="1975104"/>
            <a:ext cx="561442" cy="557784"/>
          </a:xfrm>
          <a:prstGeom prst="rect">
            <a:avLst>
              <a:gd name="adj" fmla="val 13115"/>
            </a:avLst>
          </a:prstGeom>
          <a:solidFill>
            <a:srgbClr val="F4F4F3"/>
          </a:solidFill>
          <a:ln w="12700">
            <a:solidFill>
              <a:srgbClr val="F4F4F3">
                <a:alpha val="0"/>
              </a:srgbClr>
            </a:solidFill>
            <a:prstDash val="solid"/>
          </a:ln>
        </p:spPr>
      </p:sp>
      <p:sp>
        <p:nvSpPr>
          <p:cNvPr id="15" name="Shape 13"/>
          <p:cNvSpPr/>
          <p:nvPr/>
        </p:nvSpPr>
        <p:spPr>
          <a:xfrm>
            <a:off x="475488" y="2532888"/>
            <a:ext cx="561442" cy="0"/>
          </a:xfrm>
          <a:prstGeom prst="line">
            <a:avLst/>
          </a:prstGeom>
          <a:noFill/>
          <a:ln w="7620">
            <a:solidFill>
              <a:srgbClr val="DFE1E4"/>
            </a:solidFill>
            <a:prstDash val="solid"/>
            <a:headEnd type="none"/>
            <a:tailEnd type="none"/>
          </a:ln>
        </p:spPr>
      </p:sp>
      <p:sp>
        <p:nvSpPr>
          <p:cNvPr id="16" name="Text 14"/>
          <p:cNvSpPr/>
          <p:nvPr/>
        </p:nvSpPr>
        <p:spPr>
          <a:xfrm>
            <a:off x="585216" y="2043684"/>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1</a:t>
            </a:r>
            <a:endParaRPr lang="ja-JP" sz="1290" dirty="0"/>
          </a:p>
        </p:txBody>
      </p:sp>
      <p:sp>
        <p:nvSpPr>
          <p:cNvPr id="17" name="Shape 15"/>
          <p:cNvSpPr/>
          <p:nvPr/>
        </p:nvSpPr>
        <p:spPr>
          <a:xfrm>
            <a:off x="1036930" y="1975104"/>
            <a:ext cx="4491533" cy="557784"/>
          </a:xfrm>
          <a:prstGeom prst="rect">
            <a:avLst>
              <a:gd name="adj" fmla="val 13115"/>
            </a:avLst>
          </a:prstGeom>
          <a:solidFill>
            <a:srgbClr val="F4F4F3"/>
          </a:solidFill>
          <a:ln w="12700">
            <a:solidFill>
              <a:srgbClr val="F4F4F3">
                <a:alpha val="0"/>
              </a:srgbClr>
            </a:solidFill>
            <a:prstDash val="solid"/>
          </a:ln>
        </p:spPr>
      </p:sp>
      <p:sp>
        <p:nvSpPr>
          <p:cNvPr id="18" name="Shape 16"/>
          <p:cNvSpPr/>
          <p:nvPr/>
        </p:nvSpPr>
        <p:spPr>
          <a:xfrm>
            <a:off x="1036930" y="2532888"/>
            <a:ext cx="4491533" cy="0"/>
          </a:xfrm>
          <a:prstGeom prst="line">
            <a:avLst/>
          </a:prstGeom>
          <a:noFill/>
          <a:ln w="7620">
            <a:solidFill>
              <a:srgbClr val="DFE1E4"/>
            </a:solidFill>
            <a:prstDash val="solid"/>
            <a:headEnd type="none"/>
            <a:tailEnd type="none"/>
          </a:ln>
        </p:spPr>
      </p:sp>
      <p:sp>
        <p:nvSpPr>
          <p:cNvPr id="19" name="Text 17"/>
          <p:cNvSpPr/>
          <p:nvPr/>
        </p:nvSpPr>
        <p:spPr>
          <a:xfrm>
            <a:off x="1146658" y="2043684"/>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日程・要員・休日・本番移行範囲を確定</a:t>
            </a:r>
            <a:endParaRPr lang="ja-JP" sz="1290" dirty="0"/>
          </a:p>
        </p:txBody>
      </p:sp>
      <p:sp>
        <p:nvSpPr>
          <p:cNvPr id="20" name="Shape 18"/>
          <p:cNvSpPr/>
          <p:nvPr/>
        </p:nvSpPr>
        <p:spPr>
          <a:xfrm>
            <a:off x="5528462" y="1975104"/>
            <a:ext cx="2807208" cy="557784"/>
          </a:xfrm>
          <a:prstGeom prst="rect">
            <a:avLst>
              <a:gd name="adj" fmla="val 13115"/>
            </a:avLst>
          </a:prstGeom>
          <a:solidFill>
            <a:srgbClr val="F4F4F3"/>
          </a:solidFill>
          <a:ln w="12700">
            <a:solidFill>
              <a:srgbClr val="F4F4F3">
                <a:alpha val="0"/>
              </a:srgbClr>
            </a:solidFill>
            <a:prstDash val="solid"/>
          </a:ln>
        </p:spPr>
      </p:sp>
      <p:sp>
        <p:nvSpPr>
          <p:cNvPr id="21" name="Shape 19"/>
          <p:cNvSpPr/>
          <p:nvPr/>
        </p:nvSpPr>
        <p:spPr>
          <a:xfrm>
            <a:off x="5528462" y="2532888"/>
            <a:ext cx="2807208" cy="0"/>
          </a:xfrm>
          <a:prstGeom prst="line">
            <a:avLst/>
          </a:prstGeom>
          <a:noFill/>
          <a:ln w="7620">
            <a:solidFill>
              <a:srgbClr val="DFE1E4"/>
            </a:solidFill>
            <a:prstDash val="solid"/>
            <a:headEnd type="none"/>
            <a:tailEnd type="none"/>
          </a:ln>
        </p:spPr>
      </p:sp>
      <p:sp>
        <p:nvSpPr>
          <p:cNvPr id="22" name="Text 20"/>
          <p:cNvSpPr/>
          <p:nvPr/>
        </p:nvSpPr>
        <p:spPr>
          <a:xfrm>
            <a:off x="5638190" y="2043684"/>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PM／業務・IT責任者</a:t>
            </a:r>
            <a:endParaRPr lang="ja-JP" sz="1290" dirty="0"/>
          </a:p>
        </p:txBody>
      </p:sp>
      <p:sp>
        <p:nvSpPr>
          <p:cNvPr id="23" name="Shape 21"/>
          <p:cNvSpPr/>
          <p:nvPr/>
        </p:nvSpPr>
        <p:spPr>
          <a:xfrm>
            <a:off x="8335670" y="1975104"/>
            <a:ext cx="3368650" cy="557784"/>
          </a:xfrm>
          <a:prstGeom prst="rect">
            <a:avLst>
              <a:gd name="adj" fmla="val 13115"/>
            </a:avLst>
          </a:prstGeom>
          <a:solidFill>
            <a:srgbClr val="F4F4F3"/>
          </a:solidFill>
          <a:ln w="12700">
            <a:solidFill>
              <a:srgbClr val="F4F4F3">
                <a:alpha val="0"/>
              </a:srgbClr>
            </a:solidFill>
            <a:prstDash val="solid"/>
          </a:ln>
        </p:spPr>
      </p:sp>
      <p:sp>
        <p:nvSpPr>
          <p:cNvPr id="24" name="Shape 22"/>
          <p:cNvSpPr/>
          <p:nvPr/>
        </p:nvSpPr>
        <p:spPr>
          <a:xfrm>
            <a:off x="8335670" y="2532888"/>
            <a:ext cx="3368650" cy="0"/>
          </a:xfrm>
          <a:prstGeom prst="line">
            <a:avLst/>
          </a:prstGeom>
          <a:noFill/>
          <a:ln w="7620">
            <a:solidFill>
              <a:srgbClr val="DFE1E4"/>
            </a:solidFill>
            <a:prstDash val="solid"/>
            <a:headEnd type="none"/>
            <a:tailEnd type="none"/>
          </a:ln>
        </p:spPr>
      </p:sp>
      <p:sp>
        <p:nvSpPr>
          <p:cNvPr id="25" name="Text 23"/>
          <p:cNvSpPr/>
          <p:nvPr/>
        </p:nvSpPr>
        <p:spPr>
          <a:xfrm>
            <a:off x="8445398" y="2043684"/>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計画承認前</a:t>
            </a:r>
            <a:endParaRPr lang="ja-JP" sz="1290" dirty="0"/>
          </a:p>
        </p:txBody>
      </p:sp>
      <p:sp>
        <p:nvSpPr>
          <p:cNvPr id="26" name="Shape 24"/>
          <p:cNvSpPr/>
          <p:nvPr/>
        </p:nvSpPr>
        <p:spPr>
          <a:xfrm>
            <a:off x="475488" y="2532888"/>
            <a:ext cx="561442" cy="557784"/>
          </a:xfrm>
          <a:prstGeom prst="rect">
            <a:avLst>
              <a:gd name="adj" fmla="val 13115"/>
            </a:avLst>
          </a:prstGeom>
          <a:solidFill>
            <a:srgbClr val="FFFFFF"/>
          </a:solidFill>
          <a:ln w="12700">
            <a:solidFill>
              <a:srgbClr val="FFFFFF">
                <a:alpha val="0"/>
              </a:srgbClr>
            </a:solidFill>
            <a:prstDash val="solid"/>
          </a:ln>
        </p:spPr>
      </p:sp>
      <p:sp>
        <p:nvSpPr>
          <p:cNvPr id="27" name="Shape 25"/>
          <p:cNvSpPr/>
          <p:nvPr/>
        </p:nvSpPr>
        <p:spPr>
          <a:xfrm>
            <a:off x="475488" y="3090672"/>
            <a:ext cx="561442" cy="0"/>
          </a:xfrm>
          <a:prstGeom prst="line">
            <a:avLst/>
          </a:prstGeom>
          <a:noFill/>
          <a:ln w="7620">
            <a:solidFill>
              <a:srgbClr val="DFE1E4"/>
            </a:solidFill>
            <a:prstDash val="solid"/>
            <a:headEnd type="none"/>
            <a:tailEnd type="none"/>
          </a:ln>
        </p:spPr>
      </p:sp>
      <p:sp>
        <p:nvSpPr>
          <p:cNvPr id="28" name="Text 26"/>
          <p:cNvSpPr/>
          <p:nvPr/>
        </p:nvSpPr>
        <p:spPr>
          <a:xfrm>
            <a:off x="585216" y="2601468"/>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2</a:t>
            </a:r>
            <a:endParaRPr lang="ja-JP" sz="1290" dirty="0"/>
          </a:p>
        </p:txBody>
      </p:sp>
      <p:sp>
        <p:nvSpPr>
          <p:cNvPr id="29" name="Shape 27"/>
          <p:cNvSpPr/>
          <p:nvPr/>
        </p:nvSpPr>
        <p:spPr>
          <a:xfrm>
            <a:off x="1036930" y="2532888"/>
            <a:ext cx="4491533" cy="557784"/>
          </a:xfrm>
          <a:prstGeom prst="rect">
            <a:avLst>
              <a:gd name="adj" fmla="val 13115"/>
            </a:avLst>
          </a:prstGeom>
          <a:solidFill>
            <a:srgbClr val="FFFFFF"/>
          </a:solidFill>
          <a:ln w="12700">
            <a:solidFill>
              <a:srgbClr val="FFFFFF">
                <a:alpha val="0"/>
              </a:srgbClr>
            </a:solidFill>
            <a:prstDash val="solid"/>
          </a:ln>
        </p:spPr>
      </p:sp>
      <p:sp>
        <p:nvSpPr>
          <p:cNvPr id="30" name="Shape 28"/>
          <p:cNvSpPr/>
          <p:nvPr/>
        </p:nvSpPr>
        <p:spPr>
          <a:xfrm>
            <a:off x="1036930" y="3090672"/>
            <a:ext cx="4491533" cy="0"/>
          </a:xfrm>
          <a:prstGeom prst="line">
            <a:avLst/>
          </a:prstGeom>
          <a:noFill/>
          <a:ln w="7620">
            <a:solidFill>
              <a:srgbClr val="DFE1E4"/>
            </a:solidFill>
            <a:prstDash val="solid"/>
            <a:headEnd type="none"/>
            <a:tailEnd type="none"/>
          </a:ln>
        </p:spPr>
      </p:sp>
      <p:sp>
        <p:nvSpPr>
          <p:cNvPr id="31" name="Text 29"/>
          <p:cNvSpPr/>
          <p:nvPr/>
        </p:nvSpPr>
        <p:spPr>
          <a:xfrm>
            <a:off x="1146658" y="2601468"/>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5出力の項目・型・キー、INPUTを確定</a:t>
            </a:r>
            <a:endParaRPr lang="ja-JP" sz="1290" dirty="0"/>
          </a:p>
        </p:txBody>
      </p:sp>
      <p:sp>
        <p:nvSpPr>
          <p:cNvPr id="32" name="Shape 30"/>
          <p:cNvSpPr/>
          <p:nvPr/>
        </p:nvSpPr>
        <p:spPr>
          <a:xfrm>
            <a:off x="5528462" y="2532888"/>
            <a:ext cx="2807208" cy="557784"/>
          </a:xfrm>
          <a:prstGeom prst="rect">
            <a:avLst>
              <a:gd name="adj" fmla="val 13115"/>
            </a:avLst>
          </a:prstGeom>
          <a:solidFill>
            <a:srgbClr val="FFFFFF"/>
          </a:solidFill>
          <a:ln w="12700">
            <a:solidFill>
              <a:srgbClr val="FFFFFF">
                <a:alpha val="0"/>
              </a:srgbClr>
            </a:solidFill>
            <a:prstDash val="solid"/>
          </a:ln>
        </p:spPr>
      </p:sp>
      <p:sp>
        <p:nvSpPr>
          <p:cNvPr id="33" name="Shape 31"/>
          <p:cNvSpPr/>
          <p:nvPr/>
        </p:nvSpPr>
        <p:spPr>
          <a:xfrm>
            <a:off x="5528462" y="3090672"/>
            <a:ext cx="2807208" cy="0"/>
          </a:xfrm>
          <a:prstGeom prst="line">
            <a:avLst/>
          </a:prstGeom>
          <a:noFill/>
          <a:ln w="7620">
            <a:solidFill>
              <a:srgbClr val="DFE1E4"/>
            </a:solidFill>
            <a:prstDash val="solid"/>
            <a:headEnd type="none"/>
            <a:tailEnd type="none"/>
          </a:ln>
        </p:spPr>
      </p:sp>
      <p:sp>
        <p:nvSpPr>
          <p:cNvPr id="34" name="Text 32"/>
          <p:cNvSpPr/>
          <p:nvPr/>
        </p:nvSpPr>
        <p:spPr>
          <a:xfrm>
            <a:off x="5638190" y="2601468"/>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業務・設計／データオーナー</a:t>
            </a:r>
            <a:endParaRPr lang="ja-JP" sz="1290" dirty="0"/>
          </a:p>
        </p:txBody>
      </p:sp>
      <p:sp>
        <p:nvSpPr>
          <p:cNvPr id="35" name="Shape 33"/>
          <p:cNvSpPr/>
          <p:nvPr/>
        </p:nvSpPr>
        <p:spPr>
          <a:xfrm>
            <a:off x="8335670" y="2532888"/>
            <a:ext cx="3368650" cy="557784"/>
          </a:xfrm>
          <a:prstGeom prst="rect">
            <a:avLst>
              <a:gd name="adj" fmla="val 13115"/>
            </a:avLst>
          </a:prstGeom>
          <a:solidFill>
            <a:srgbClr val="FFFFFF"/>
          </a:solidFill>
          <a:ln w="12700">
            <a:solidFill>
              <a:srgbClr val="FFFFFF">
                <a:alpha val="0"/>
              </a:srgbClr>
            </a:solidFill>
            <a:prstDash val="solid"/>
          </a:ln>
        </p:spPr>
      </p:sp>
      <p:sp>
        <p:nvSpPr>
          <p:cNvPr id="36" name="Shape 34"/>
          <p:cNvSpPr/>
          <p:nvPr/>
        </p:nvSpPr>
        <p:spPr>
          <a:xfrm>
            <a:off x="8335670" y="3090672"/>
            <a:ext cx="3368650" cy="0"/>
          </a:xfrm>
          <a:prstGeom prst="line">
            <a:avLst/>
          </a:prstGeom>
          <a:noFill/>
          <a:ln w="7620">
            <a:solidFill>
              <a:srgbClr val="DFE1E4"/>
            </a:solidFill>
            <a:prstDash val="solid"/>
            <a:headEnd type="none"/>
            <a:tailEnd type="none"/>
          </a:ln>
        </p:spPr>
      </p:sp>
      <p:sp>
        <p:nvSpPr>
          <p:cNvPr id="37" name="Text 35"/>
          <p:cNvSpPr/>
          <p:nvPr/>
        </p:nvSpPr>
        <p:spPr>
          <a:xfrm>
            <a:off x="8445398" y="2601468"/>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詳細設計着手前</a:t>
            </a:r>
            <a:endParaRPr lang="ja-JP" sz="1290" dirty="0"/>
          </a:p>
        </p:txBody>
      </p:sp>
      <p:sp>
        <p:nvSpPr>
          <p:cNvPr id="38" name="Shape 36"/>
          <p:cNvSpPr/>
          <p:nvPr/>
        </p:nvSpPr>
        <p:spPr>
          <a:xfrm>
            <a:off x="475488" y="3090672"/>
            <a:ext cx="561442" cy="557784"/>
          </a:xfrm>
          <a:prstGeom prst="rect">
            <a:avLst>
              <a:gd name="adj" fmla="val 13115"/>
            </a:avLst>
          </a:prstGeom>
          <a:solidFill>
            <a:srgbClr val="F4F4F3"/>
          </a:solidFill>
          <a:ln w="12700">
            <a:solidFill>
              <a:srgbClr val="F4F4F3">
                <a:alpha val="0"/>
              </a:srgbClr>
            </a:solidFill>
            <a:prstDash val="solid"/>
          </a:ln>
        </p:spPr>
      </p:sp>
      <p:sp>
        <p:nvSpPr>
          <p:cNvPr id="39" name="Shape 37"/>
          <p:cNvSpPr/>
          <p:nvPr/>
        </p:nvSpPr>
        <p:spPr>
          <a:xfrm>
            <a:off x="475488" y="3648456"/>
            <a:ext cx="561442" cy="0"/>
          </a:xfrm>
          <a:prstGeom prst="line">
            <a:avLst/>
          </a:prstGeom>
          <a:noFill/>
          <a:ln w="7620">
            <a:solidFill>
              <a:srgbClr val="DFE1E4"/>
            </a:solidFill>
            <a:prstDash val="solid"/>
            <a:headEnd type="none"/>
            <a:tailEnd type="none"/>
          </a:ln>
        </p:spPr>
      </p:sp>
      <p:sp>
        <p:nvSpPr>
          <p:cNvPr id="40" name="Text 38"/>
          <p:cNvSpPr/>
          <p:nvPr/>
        </p:nvSpPr>
        <p:spPr>
          <a:xfrm>
            <a:off x="585216" y="3159252"/>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3</a:t>
            </a:r>
            <a:endParaRPr lang="ja-JP" sz="1290" dirty="0"/>
          </a:p>
        </p:txBody>
      </p:sp>
      <p:sp>
        <p:nvSpPr>
          <p:cNvPr id="41" name="Shape 39"/>
          <p:cNvSpPr/>
          <p:nvPr/>
        </p:nvSpPr>
        <p:spPr>
          <a:xfrm>
            <a:off x="1036930" y="3090672"/>
            <a:ext cx="4491533" cy="557784"/>
          </a:xfrm>
          <a:prstGeom prst="rect">
            <a:avLst>
              <a:gd name="adj" fmla="val 13115"/>
            </a:avLst>
          </a:prstGeom>
          <a:solidFill>
            <a:srgbClr val="F4F4F3"/>
          </a:solidFill>
          <a:ln w="12700">
            <a:solidFill>
              <a:srgbClr val="F4F4F3">
                <a:alpha val="0"/>
              </a:srgbClr>
            </a:solidFill>
            <a:prstDash val="solid"/>
          </a:ln>
        </p:spPr>
      </p:sp>
      <p:sp>
        <p:nvSpPr>
          <p:cNvPr id="42" name="Shape 40"/>
          <p:cNvSpPr/>
          <p:nvPr/>
        </p:nvSpPr>
        <p:spPr>
          <a:xfrm>
            <a:off x="1036930" y="3648456"/>
            <a:ext cx="4491533" cy="0"/>
          </a:xfrm>
          <a:prstGeom prst="line">
            <a:avLst/>
          </a:prstGeom>
          <a:noFill/>
          <a:ln w="7620">
            <a:solidFill>
              <a:srgbClr val="DFE1E4"/>
            </a:solidFill>
            <a:prstDash val="solid"/>
            <a:headEnd type="none"/>
            <a:tailEnd type="none"/>
          </a:ln>
        </p:spPr>
      </p:sp>
      <p:sp>
        <p:nvSpPr>
          <p:cNvPr id="43" name="Text 41"/>
          <p:cNvSpPr/>
          <p:nvPr/>
        </p:nvSpPr>
        <p:spPr>
          <a:xfrm>
            <a:off x="1146658" y="3159252"/>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更新時刻・SLA・エラー通知先を合意</a:t>
            </a:r>
            <a:endParaRPr lang="ja-JP" sz="1290" dirty="0"/>
          </a:p>
        </p:txBody>
      </p:sp>
      <p:sp>
        <p:nvSpPr>
          <p:cNvPr id="44" name="Shape 42"/>
          <p:cNvSpPr/>
          <p:nvPr/>
        </p:nvSpPr>
        <p:spPr>
          <a:xfrm>
            <a:off x="5528462" y="3090672"/>
            <a:ext cx="2807208" cy="557784"/>
          </a:xfrm>
          <a:prstGeom prst="rect">
            <a:avLst>
              <a:gd name="adj" fmla="val 13115"/>
            </a:avLst>
          </a:prstGeom>
          <a:solidFill>
            <a:srgbClr val="F4F4F3"/>
          </a:solidFill>
          <a:ln w="12700">
            <a:solidFill>
              <a:srgbClr val="F4F4F3">
                <a:alpha val="0"/>
              </a:srgbClr>
            </a:solidFill>
            <a:prstDash val="solid"/>
          </a:ln>
        </p:spPr>
      </p:sp>
      <p:sp>
        <p:nvSpPr>
          <p:cNvPr id="45" name="Shape 43"/>
          <p:cNvSpPr/>
          <p:nvPr/>
        </p:nvSpPr>
        <p:spPr>
          <a:xfrm>
            <a:off x="5528462" y="3648456"/>
            <a:ext cx="2807208" cy="0"/>
          </a:xfrm>
          <a:prstGeom prst="line">
            <a:avLst/>
          </a:prstGeom>
          <a:noFill/>
          <a:ln w="7620">
            <a:solidFill>
              <a:srgbClr val="DFE1E4"/>
            </a:solidFill>
            <a:prstDash val="solid"/>
            <a:headEnd type="none"/>
            <a:tailEnd type="none"/>
          </a:ln>
        </p:spPr>
      </p:sp>
      <p:sp>
        <p:nvSpPr>
          <p:cNvPr id="46" name="Text 44"/>
          <p:cNvSpPr/>
          <p:nvPr/>
        </p:nvSpPr>
        <p:spPr>
          <a:xfrm>
            <a:off x="5638190" y="3159252"/>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業務・運用／冨士谷さんへ確認</a:t>
            </a:r>
            <a:endParaRPr lang="ja-JP" sz="1290" dirty="0"/>
          </a:p>
        </p:txBody>
      </p:sp>
      <p:sp>
        <p:nvSpPr>
          <p:cNvPr id="47" name="Shape 45"/>
          <p:cNvSpPr/>
          <p:nvPr/>
        </p:nvSpPr>
        <p:spPr>
          <a:xfrm>
            <a:off x="8335670" y="3090672"/>
            <a:ext cx="3368650" cy="557784"/>
          </a:xfrm>
          <a:prstGeom prst="rect">
            <a:avLst>
              <a:gd name="adj" fmla="val 13115"/>
            </a:avLst>
          </a:prstGeom>
          <a:solidFill>
            <a:srgbClr val="F4F4F3"/>
          </a:solidFill>
          <a:ln w="12700">
            <a:solidFill>
              <a:srgbClr val="F4F4F3">
                <a:alpha val="0"/>
              </a:srgbClr>
            </a:solidFill>
            <a:prstDash val="solid"/>
          </a:ln>
        </p:spPr>
      </p:sp>
      <p:sp>
        <p:nvSpPr>
          <p:cNvPr id="48" name="Shape 46"/>
          <p:cNvSpPr/>
          <p:nvPr/>
        </p:nvSpPr>
        <p:spPr>
          <a:xfrm>
            <a:off x="8335670" y="3648456"/>
            <a:ext cx="3368650" cy="0"/>
          </a:xfrm>
          <a:prstGeom prst="line">
            <a:avLst/>
          </a:prstGeom>
          <a:noFill/>
          <a:ln w="7620">
            <a:solidFill>
              <a:srgbClr val="DFE1E4"/>
            </a:solidFill>
            <a:prstDash val="solid"/>
            <a:headEnd type="none"/>
            <a:tailEnd type="none"/>
          </a:ln>
        </p:spPr>
      </p:sp>
      <p:sp>
        <p:nvSpPr>
          <p:cNvPr id="49" name="Text 47"/>
          <p:cNvSpPr/>
          <p:nvPr/>
        </p:nvSpPr>
        <p:spPr>
          <a:xfrm>
            <a:off x="8445398" y="3159252"/>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性能・運用設計前</a:t>
            </a:r>
            <a:endParaRPr lang="ja-JP" sz="1290" dirty="0"/>
          </a:p>
        </p:txBody>
      </p:sp>
      <p:sp>
        <p:nvSpPr>
          <p:cNvPr id="50" name="Shape 48"/>
          <p:cNvSpPr/>
          <p:nvPr/>
        </p:nvSpPr>
        <p:spPr>
          <a:xfrm>
            <a:off x="475488" y="3648456"/>
            <a:ext cx="561442" cy="557784"/>
          </a:xfrm>
          <a:prstGeom prst="rect">
            <a:avLst>
              <a:gd name="adj" fmla="val 13115"/>
            </a:avLst>
          </a:prstGeom>
          <a:solidFill>
            <a:srgbClr val="FFFFFF"/>
          </a:solidFill>
          <a:ln w="12700">
            <a:solidFill>
              <a:srgbClr val="FFFFFF">
                <a:alpha val="0"/>
              </a:srgbClr>
            </a:solidFill>
            <a:prstDash val="solid"/>
          </a:ln>
        </p:spPr>
      </p:sp>
      <p:sp>
        <p:nvSpPr>
          <p:cNvPr id="51" name="Shape 49"/>
          <p:cNvSpPr/>
          <p:nvPr/>
        </p:nvSpPr>
        <p:spPr>
          <a:xfrm>
            <a:off x="475488" y="4206240"/>
            <a:ext cx="561442" cy="0"/>
          </a:xfrm>
          <a:prstGeom prst="line">
            <a:avLst/>
          </a:prstGeom>
          <a:noFill/>
          <a:ln w="7620">
            <a:solidFill>
              <a:srgbClr val="DFE1E4"/>
            </a:solidFill>
            <a:prstDash val="solid"/>
            <a:headEnd type="none"/>
            <a:tailEnd type="none"/>
          </a:ln>
        </p:spPr>
      </p:sp>
      <p:sp>
        <p:nvSpPr>
          <p:cNvPr id="52" name="Text 50"/>
          <p:cNvSpPr/>
          <p:nvPr/>
        </p:nvSpPr>
        <p:spPr>
          <a:xfrm>
            <a:off x="585216" y="3717036"/>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4</a:t>
            </a:r>
            <a:endParaRPr lang="ja-JP" sz="1290" dirty="0"/>
          </a:p>
        </p:txBody>
      </p:sp>
      <p:sp>
        <p:nvSpPr>
          <p:cNvPr id="53" name="Shape 51"/>
          <p:cNvSpPr/>
          <p:nvPr/>
        </p:nvSpPr>
        <p:spPr>
          <a:xfrm>
            <a:off x="1036930" y="3648456"/>
            <a:ext cx="4491533" cy="557784"/>
          </a:xfrm>
          <a:prstGeom prst="rect">
            <a:avLst>
              <a:gd name="adj" fmla="val 13115"/>
            </a:avLst>
          </a:prstGeom>
          <a:solidFill>
            <a:srgbClr val="FFFFFF"/>
          </a:solidFill>
          <a:ln w="12700">
            <a:solidFill>
              <a:srgbClr val="FFFFFF">
                <a:alpha val="0"/>
              </a:srgbClr>
            </a:solidFill>
            <a:prstDash val="solid"/>
          </a:ln>
        </p:spPr>
      </p:sp>
      <p:sp>
        <p:nvSpPr>
          <p:cNvPr id="54" name="Shape 52"/>
          <p:cNvSpPr/>
          <p:nvPr/>
        </p:nvSpPr>
        <p:spPr>
          <a:xfrm>
            <a:off x="1036930" y="4206240"/>
            <a:ext cx="4491533" cy="0"/>
          </a:xfrm>
          <a:prstGeom prst="line">
            <a:avLst/>
          </a:prstGeom>
          <a:noFill/>
          <a:ln w="7620">
            <a:solidFill>
              <a:srgbClr val="DFE1E4"/>
            </a:solidFill>
            <a:prstDash val="solid"/>
            <a:headEnd type="none"/>
            <a:tailEnd type="none"/>
          </a:ln>
        </p:spPr>
      </p:sp>
      <p:sp>
        <p:nvSpPr>
          <p:cNvPr id="55" name="Text 53"/>
          <p:cNvSpPr/>
          <p:nvPr/>
        </p:nvSpPr>
        <p:spPr>
          <a:xfrm>
            <a:off x="1146658" y="3717036"/>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DPS要否・接続先・データコピー許可を確認</a:t>
            </a:r>
            <a:endParaRPr lang="ja-JP" sz="1290" dirty="0"/>
          </a:p>
        </p:txBody>
      </p:sp>
      <p:sp>
        <p:nvSpPr>
          <p:cNvPr id="56" name="Shape 54"/>
          <p:cNvSpPr/>
          <p:nvPr/>
        </p:nvSpPr>
        <p:spPr>
          <a:xfrm>
            <a:off x="5528462" y="3648456"/>
            <a:ext cx="2807208" cy="557784"/>
          </a:xfrm>
          <a:prstGeom prst="rect">
            <a:avLst>
              <a:gd name="adj" fmla="val 13115"/>
            </a:avLst>
          </a:prstGeom>
          <a:solidFill>
            <a:srgbClr val="FFFFFF"/>
          </a:solidFill>
          <a:ln w="12700">
            <a:solidFill>
              <a:srgbClr val="FFFFFF">
                <a:alpha val="0"/>
              </a:srgbClr>
            </a:solidFill>
            <a:prstDash val="solid"/>
          </a:ln>
        </p:spPr>
      </p:sp>
      <p:sp>
        <p:nvSpPr>
          <p:cNvPr id="57" name="Shape 55"/>
          <p:cNvSpPr/>
          <p:nvPr/>
        </p:nvSpPr>
        <p:spPr>
          <a:xfrm>
            <a:off x="5528462" y="4206240"/>
            <a:ext cx="2807208" cy="0"/>
          </a:xfrm>
          <a:prstGeom prst="line">
            <a:avLst/>
          </a:prstGeom>
          <a:noFill/>
          <a:ln w="7620">
            <a:solidFill>
              <a:srgbClr val="DFE1E4"/>
            </a:solidFill>
            <a:prstDash val="solid"/>
            <a:headEnd type="none"/>
            <a:tailEnd type="none"/>
          </a:ln>
        </p:spPr>
      </p:sp>
      <p:sp>
        <p:nvSpPr>
          <p:cNvPr id="58" name="Text 56"/>
          <p:cNvSpPr/>
          <p:nvPr/>
        </p:nvSpPr>
        <p:spPr>
          <a:xfrm>
            <a:off x="5638190" y="3717036"/>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すささん／しまださんへ確認</a:t>
            </a:r>
            <a:endParaRPr lang="ja-JP" sz="1290" dirty="0"/>
          </a:p>
        </p:txBody>
      </p:sp>
      <p:sp>
        <p:nvSpPr>
          <p:cNvPr id="59" name="Shape 57"/>
          <p:cNvSpPr/>
          <p:nvPr/>
        </p:nvSpPr>
        <p:spPr>
          <a:xfrm>
            <a:off x="8335670" y="3648456"/>
            <a:ext cx="3368650" cy="557784"/>
          </a:xfrm>
          <a:prstGeom prst="rect">
            <a:avLst>
              <a:gd name="adj" fmla="val 13115"/>
            </a:avLst>
          </a:prstGeom>
          <a:solidFill>
            <a:srgbClr val="FFFFFF"/>
          </a:solidFill>
          <a:ln w="12700">
            <a:solidFill>
              <a:srgbClr val="FFFFFF">
                <a:alpha val="0"/>
              </a:srgbClr>
            </a:solidFill>
            <a:prstDash val="solid"/>
          </a:ln>
        </p:spPr>
      </p:sp>
      <p:sp>
        <p:nvSpPr>
          <p:cNvPr id="60" name="Shape 58"/>
          <p:cNvSpPr/>
          <p:nvPr/>
        </p:nvSpPr>
        <p:spPr>
          <a:xfrm>
            <a:off x="8335670" y="4206240"/>
            <a:ext cx="3368650" cy="0"/>
          </a:xfrm>
          <a:prstGeom prst="line">
            <a:avLst/>
          </a:prstGeom>
          <a:noFill/>
          <a:ln w="7620">
            <a:solidFill>
              <a:srgbClr val="DFE1E4"/>
            </a:solidFill>
            <a:prstDash val="solid"/>
            <a:headEnd type="none"/>
            <a:tailEnd type="none"/>
          </a:ln>
        </p:spPr>
      </p:sp>
      <p:sp>
        <p:nvSpPr>
          <p:cNvPr id="61" name="Text 59"/>
          <p:cNvSpPr/>
          <p:nvPr/>
        </p:nvSpPr>
        <p:spPr>
          <a:xfrm>
            <a:off x="8445398" y="3717036"/>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連携PoC着手前</a:t>
            </a:r>
            <a:endParaRPr lang="ja-JP" sz="1290" dirty="0"/>
          </a:p>
        </p:txBody>
      </p:sp>
      <p:sp>
        <p:nvSpPr>
          <p:cNvPr id="62" name="Shape 60"/>
          <p:cNvSpPr/>
          <p:nvPr/>
        </p:nvSpPr>
        <p:spPr>
          <a:xfrm>
            <a:off x="475488" y="4206240"/>
            <a:ext cx="561442" cy="557784"/>
          </a:xfrm>
          <a:prstGeom prst="rect">
            <a:avLst>
              <a:gd name="adj" fmla="val 13115"/>
            </a:avLst>
          </a:prstGeom>
          <a:solidFill>
            <a:srgbClr val="F4F4F3"/>
          </a:solidFill>
          <a:ln w="12700">
            <a:solidFill>
              <a:srgbClr val="F4F4F3">
                <a:alpha val="0"/>
              </a:srgbClr>
            </a:solidFill>
            <a:prstDash val="solid"/>
          </a:ln>
        </p:spPr>
      </p:sp>
      <p:sp>
        <p:nvSpPr>
          <p:cNvPr id="63" name="Shape 61"/>
          <p:cNvSpPr/>
          <p:nvPr/>
        </p:nvSpPr>
        <p:spPr>
          <a:xfrm>
            <a:off x="475488" y="4764024"/>
            <a:ext cx="561442" cy="0"/>
          </a:xfrm>
          <a:prstGeom prst="line">
            <a:avLst/>
          </a:prstGeom>
          <a:noFill/>
          <a:ln w="7620">
            <a:solidFill>
              <a:srgbClr val="DFE1E4"/>
            </a:solidFill>
            <a:prstDash val="solid"/>
            <a:headEnd type="none"/>
            <a:tailEnd type="none"/>
          </a:ln>
        </p:spPr>
      </p:sp>
      <p:sp>
        <p:nvSpPr>
          <p:cNvPr id="64" name="Text 62"/>
          <p:cNvSpPr/>
          <p:nvPr/>
        </p:nvSpPr>
        <p:spPr>
          <a:xfrm>
            <a:off x="585216" y="4274820"/>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5</a:t>
            </a:r>
            <a:endParaRPr lang="ja-JP" sz="1290" dirty="0"/>
          </a:p>
        </p:txBody>
      </p:sp>
      <p:sp>
        <p:nvSpPr>
          <p:cNvPr id="65" name="Shape 63"/>
          <p:cNvSpPr/>
          <p:nvPr/>
        </p:nvSpPr>
        <p:spPr>
          <a:xfrm>
            <a:off x="1036930" y="4206240"/>
            <a:ext cx="4491533" cy="557784"/>
          </a:xfrm>
          <a:prstGeom prst="rect">
            <a:avLst>
              <a:gd name="adj" fmla="val 13115"/>
            </a:avLst>
          </a:prstGeom>
          <a:solidFill>
            <a:srgbClr val="F4F4F3"/>
          </a:solidFill>
          <a:ln w="12700">
            <a:solidFill>
              <a:srgbClr val="F4F4F3">
                <a:alpha val="0"/>
              </a:srgbClr>
            </a:solidFill>
            <a:prstDash val="solid"/>
          </a:ln>
        </p:spPr>
      </p:sp>
      <p:sp>
        <p:nvSpPr>
          <p:cNvPr id="66" name="Shape 64"/>
          <p:cNvSpPr/>
          <p:nvPr/>
        </p:nvSpPr>
        <p:spPr>
          <a:xfrm>
            <a:off x="1036930" y="4764024"/>
            <a:ext cx="4491533" cy="0"/>
          </a:xfrm>
          <a:prstGeom prst="line">
            <a:avLst/>
          </a:prstGeom>
          <a:noFill/>
          <a:ln w="7620">
            <a:solidFill>
              <a:srgbClr val="DFE1E4"/>
            </a:solidFill>
            <a:prstDash val="solid"/>
            <a:headEnd type="none"/>
            <a:tailEnd type="none"/>
          </a:ln>
        </p:spPr>
      </p:sp>
      <p:sp>
        <p:nvSpPr>
          <p:cNvPr id="67" name="Text 65"/>
          <p:cNvSpPr/>
          <p:nvPr/>
        </p:nvSpPr>
        <p:spPr>
          <a:xfrm>
            <a:off x="1146658" y="4274820"/>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Dataverse・SQL・共通Notebookを先行検証</a:t>
            </a:r>
            <a:endParaRPr lang="ja-JP" sz="1290" dirty="0"/>
          </a:p>
        </p:txBody>
      </p:sp>
      <p:sp>
        <p:nvSpPr>
          <p:cNvPr id="68" name="Shape 66"/>
          <p:cNvSpPr/>
          <p:nvPr/>
        </p:nvSpPr>
        <p:spPr>
          <a:xfrm>
            <a:off x="5528462" y="4206240"/>
            <a:ext cx="2807208" cy="557784"/>
          </a:xfrm>
          <a:prstGeom prst="rect">
            <a:avLst>
              <a:gd name="adj" fmla="val 13115"/>
            </a:avLst>
          </a:prstGeom>
          <a:solidFill>
            <a:srgbClr val="F4F4F3"/>
          </a:solidFill>
          <a:ln w="12700">
            <a:solidFill>
              <a:srgbClr val="F4F4F3">
                <a:alpha val="0"/>
              </a:srgbClr>
            </a:solidFill>
            <a:prstDash val="solid"/>
          </a:ln>
        </p:spPr>
      </p:sp>
      <p:sp>
        <p:nvSpPr>
          <p:cNvPr id="69" name="Shape 67"/>
          <p:cNvSpPr/>
          <p:nvPr/>
        </p:nvSpPr>
        <p:spPr>
          <a:xfrm>
            <a:off x="5528462" y="4764024"/>
            <a:ext cx="2807208" cy="0"/>
          </a:xfrm>
          <a:prstGeom prst="line">
            <a:avLst/>
          </a:prstGeom>
          <a:noFill/>
          <a:ln w="7620">
            <a:solidFill>
              <a:srgbClr val="DFE1E4"/>
            </a:solidFill>
            <a:prstDash val="solid"/>
            <a:headEnd type="none"/>
            <a:tailEnd type="none"/>
          </a:ln>
        </p:spPr>
      </p:sp>
      <p:sp>
        <p:nvSpPr>
          <p:cNvPr id="70" name="Text 68"/>
          <p:cNvSpPr/>
          <p:nvPr/>
        </p:nvSpPr>
        <p:spPr>
          <a:xfrm>
            <a:off x="5638190" y="4274820"/>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連携担当／李さん（共通処理）</a:t>
            </a:r>
            <a:endParaRPr lang="ja-JP" sz="1290" dirty="0"/>
          </a:p>
        </p:txBody>
      </p:sp>
      <p:sp>
        <p:nvSpPr>
          <p:cNvPr id="71" name="Shape 69"/>
          <p:cNvSpPr/>
          <p:nvPr/>
        </p:nvSpPr>
        <p:spPr>
          <a:xfrm>
            <a:off x="8335670" y="4206240"/>
            <a:ext cx="3368650" cy="557784"/>
          </a:xfrm>
          <a:prstGeom prst="rect">
            <a:avLst>
              <a:gd name="adj" fmla="val 13115"/>
            </a:avLst>
          </a:prstGeom>
          <a:solidFill>
            <a:srgbClr val="F4F4F3"/>
          </a:solidFill>
          <a:ln w="12700">
            <a:solidFill>
              <a:srgbClr val="F4F4F3">
                <a:alpha val="0"/>
              </a:srgbClr>
            </a:solidFill>
            <a:prstDash val="solid"/>
          </a:ln>
        </p:spPr>
      </p:sp>
      <p:sp>
        <p:nvSpPr>
          <p:cNvPr id="72" name="Shape 70"/>
          <p:cNvSpPr/>
          <p:nvPr/>
        </p:nvSpPr>
        <p:spPr>
          <a:xfrm>
            <a:off x="8335670" y="4764024"/>
            <a:ext cx="3368650" cy="0"/>
          </a:xfrm>
          <a:prstGeom prst="line">
            <a:avLst/>
          </a:prstGeom>
          <a:noFill/>
          <a:ln w="7620">
            <a:solidFill>
              <a:srgbClr val="DFE1E4"/>
            </a:solidFill>
            <a:prstDash val="solid"/>
            <a:headEnd type="none"/>
            <a:tailEnd type="none"/>
          </a:ln>
        </p:spPr>
      </p:sp>
      <p:sp>
        <p:nvSpPr>
          <p:cNvPr id="73" name="Text 71"/>
          <p:cNvSpPr/>
          <p:nvPr/>
        </p:nvSpPr>
        <p:spPr>
          <a:xfrm>
            <a:off x="8445398" y="4274820"/>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WBS案：11/18〜19に完了</a:t>
            </a:r>
            <a:endParaRPr lang="ja-JP" sz="1290" dirty="0"/>
          </a:p>
        </p:txBody>
      </p:sp>
      <p:sp>
        <p:nvSpPr>
          <p:cNvPr id="74" name="Shape 72"/>
          <p:cNvSpPr/>
          <p:nvPr/>
        </p:nvSpPr>
        <p:spPr>
          <a:xfrm>
            <a:off x="475488" y="4764024"/>
            <a:ext cx="561442" cy="557784"/>
          </a:xfrm>
          <a:prstGeom prst="rect">
            <a:avLst>
              <a:gd name="adj" fmla="val 13115"/>
            </a:avLst>
          </a:prstGeom>
          <a:solidFill>
            <a:srgbClr val="FFFFFF"/>
          </a:solidFill>
          <a:ln w="12700">
            <a:solidFill>
              <a:srgbClr val="FFFFFF">
                <a:alpha val="0"/>
              </a:srgbClr>
            </a:solidFill>
            <a:prstDash val="solid"/>
          </a:ln>
        </p:spPr>
      </p:sp>
      <p:sp>
        <p:nvSpPr>
          <p:cNvPr id="75" name="Shape 73"/>
          <p:cNvSpPr/>
          <p:nvPr/>
        </p:nvSpPr>
        <p:spPr>
          <a:xfrm>
            <a:off x="475488" y="5321808"/>
            <a:ext cx="561442" cy="0"/>
          </a:xfrm>
          <a:prstGeom prst="line">
            <a:avLst/>
          </a:prstGeom>
          <a:noFill/>
          <a:ln w="7620">
            <a:solidFill>
              <a:srgbClr val="DFE1E4"/>
            </a:solidFill>
            <a:prstDash val="solid"/>
            <a:headEnd type="none"/>
            <a:tailEnd type="none"/>
          </a:ln>
        </p:spPr>
      </p:sp>
      <p:sp>
        <p:nvSpPr>
          <p:cNvPr id="76" name="Text 74"/>
          <p:cNvSpPr/>
          <p:nvPr/>
        </p:nvSpPr>
        <p:spPr>
          <a:xfrm>
            <a:off x="585216" y="4832604"/>
            <a:ext cx="341986" cy="420624"/>
          </a:xfrm>
          <a:prstGeom prst="rect">
            <a:avLst/>
          </a:prstGeom>
          <a:noFill/>
          <a:ln/>
        </p:spPr>
        <p:txBody>
          <a:bodyPr wrap="square" lIns="0" tIns="0" rIns="0" bIns="0" rtlCol="0" anchor="ctr"/>
          <a:lstStyle/>
          <a:p>
            <a:pPr indent="0" marL="0">
              <a:buNone/>
            </a:pPr>
            <a:r>
              <a:rPr lang="ja-JP" altLang="en-US" sz="1290" b="1" dirty="0">
                <a:solidFill>
                  <a:srgbClr val="25282E"/>
                </a:solidFill>
                <a:latin typeface="Noto Sans CJK JP" pitchFamily="34" charset="0"/>
                <a:ea typeface="Noto Sans CJK JP" pitchFamily="34" charset="-122"/>
                <a:cs typeface="Noto Sans CJK JP" pitchFamily="34" charset="-120"/>
              </a:rPr>
              <a:t>6</a:t>
            </a:r>
            <a:endParaRPr lang="ja-JP" sz="1290" dirty="0"/>
          </a:p>
        </p:txBody>
      </p:sp>
      <p:sp>
        <p:nvSpPr>
          <p:cNvPr id="77" name="Shape 75"/>
          <p:cNvSpPr/>
          <p:nvPr/>
        </p:nvSpPr>
        <p:spPr>
          <a:xfrm>
            <a:off x="1036930" y="4764024"/>
            <a:ext cx="4491533" cy="557784"/>
          </a:xfrm>
          <a:prstGeom prst="rect">
            <a:avLst>
              <a:gd name="adj" fmla="val 13115"/>
            </a:avLst>
          </a:prstGeom>
          <a:solidFill>
            <a:srgbClr val="FFFFFF"/>
          </a:solidFill>
          <a:ln w="12700">
            <a:solidFill>
              <a:srgbClr val="FFFFFF">
                <a:alpha val="0"/>
              </a:srgbClr>
            </a:solidFill>
            <a:prstDash val="solid"/>
          </a:ln>
        </p:spPr>
      </p:sp>
      <p:sp>
        <p:nvSpPr>
          <p:cNvPr id="78" name="Shape 76"/>
          <p:cNvSpPr/>
          <p:nvPr/>
        </p:nvSpPr>
        <p:spPr>
          <a:xfrm>
            <a:off x="1036930" y="5321808"/>
            <a:ext cx="4491533" cy="0"/>
          </a:xfrm>
          <a:prstGeom prst="line">
            <a:avLst/>
          </a:prstGeom>
          <a:noFill/>
          <a:ln w="7620">
            <a:solidFill>
              <a:srgbClr val="DFE1E4"/>
            </a:solidFill>
            <a:prstDash val="solid"/>
            <a:headEnd type="none"/>
            <a:tailEnd type="none"/>
          </a:ln>
        </p:spPr>
      </p:sp>
      <p:sp>
        <p:nvSpPr>
          <p:cNvPr id="79" name="Text 77"/>
          <p:cNvSpPr/>
          <p:nvPr/>
        </p:nvSpPr>
        <p:spPr>
          <a:xfrm>
            <a:off x="1146658" y="4832604"/>
            <a:ext cx="4272077"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UAT承認者・KT受入先・完了条件を合意</a:t>
            </a:r>
            <a:endParaRPr lang="ja-JP" sz="1290" dirty="0"/>
          </a:p>
        </p:txBody>
      </p:sp>
      <p:sp>
        <p:nvSpPr>
          <p:cNvPr id="80" name="Shape 78"/>
          <p:cNvSpPr/>
          <p:nvPr/>
        </p:nvSpPr>
        <p:spPr>
          <a:xfrm>
            <a:off x="5528462" y="4764024"/>
            <a:ext cx="2807208" cy="557784"/>
          </a:xfrm>
          <a:prstGeom prst="rect">
            <a:avLst>
              <a:gd name="adj" fmla="val 13115"/>
            </a:avLst>
          </a:prstGeom>
          <a:solidFill>
            <a:srgbClr val="FFFFFF"/>
          </a:solidFill>
          <a:ln w="12700">
            <a:solidFill>
              <a:srgbClr val="FFFFFF">
                <a:alpha val="0"/>
              </a:srgbClr>
            </a:solidFill>
            <a:prstDash val="solid"/>
          </a:ln>
        </p:spPr>
      </p:sp>
      <p:sp>
        <p:nvSpPr>
          <p:cNvPr id="81" name="Shape 79"/>
          <p:cNvSpPr/>
          <p:nvPr/>
        </p:nvSpPr>
        <p:spPr>
          <a:xfrm>
            <a:off x="5528462" y="5321808"/>
            <a:ext cx="2807208" cy="0"/>
          </a:xfrm>
          <a:prstGeom prst="line">
            <a:avLst/>
          </a:prstGeom>
          <a:noFill/>
          <a:ln w="7620">
            <a:solidFill>
              <a:srgbClr val="DFE1E4"/>
            </a:solidFill>
            <a:prstDash val="solid"/>
            <a:headEnd type="none"/>
            <a:tailEnd type="none"/>
          </a:ln>
        </p:spPr>
      </p:sp>
      <p:sp>
        <p:nvSpPr>
          <p:cNvPr id="82" name="Text 80"/>
          <p:cNvSpPr/>
          <p:nvPr/>
        </p:nvSpPr>
        <p:spPr>
          <a:xfrm>
            <a:off x="5638190" y="4832604"/>
            <a:ext cx="2587752"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業務責任者／Datalake運用</a:t>
            </a:r>
            <a:endParaRPr lang="ja-JP" sz="1290" dirty="0"/>
          </a:p>
        </p:txBody>
      </p:sp>
      <p:sp>
        <p:nvSpPr>
          <p:cNvPr id="83" name="Shape 81"/>
          <p:cNvSpPr/>
          <p:nvPr/>
        </p:nvSpPr>
        <p:spPr>
          <a:xfrm>
            <a:off x="8335670" y="4764024"/>
            <a:ext cx="3368650" cy="557784"/>
          </a:xfrm>
          <a:prstGeom prst="rect">
            <a:avLst>
              <a:gd name="adj" fmla="val 13115"/>
            </a:avLst>
          </a:prstGeom>
          <a:solidFill>
            <a:srgbClr val="FFFFFF"/>
          </a:solidFill>
          <a:ln w="12700">
            <a:solidFill>
              <a:srgbClr val="FFFFFF">
                <a:alpha val="0"/>
              </a:srgbClr>
            </a:solidFill>
            <a:prstDash val="solid"/>
          </a:ln>
        </p:spPr>
      </p:sp>
      <p:sp>
        <p:nvSpPr>
          <p:cNvPr id="84" name="Shape 82"/>
          <p:cNvSpPr/>
          <p:nvPr/>
        </p:nvSpPr>
        <p:spPr>
          <a:xfrm>
            <a:off x="8335670" y="5321808"/>
            <a:ext cx="3368650" cy="0"/>
          </a:xfrm>
          <a:prstGeom prst="line">
            <a:avLst/>
          </a:prstGeom>
          <a:noFill/>
          <a:ln w="7620">
            <a:solidFill>
              <a:srgbClr val="DFE1E4"/>
            </a:solidFill>
            <a:prstDash val="solid"/>
            <a:headEnd type="none"/>
            <a:tailEnd type="none"/>
          </a:ln>
        </p:spPr>
      </p:sp>
      <p:sp>
        <p:nvSpPr>
          <p:cNvPr id="85" name="Text 83"/>
          <p:cNvSpPr/>
          <p:nvPr/>
        </p:nvSpPr>
        <p:spPr>
          <a:xfrm>
            <a:off x="8445398" y="4832604"/>
            <a:ext cx="3149194" cy="420624"/>
          </a:xfrm>
          <a:prstGeom prst="rect">
            <a:avLst/>
          </a:prstGeom>
          <a:noFill/>
          <a:ln/>
        </p:spPr>
        <p:txBody>
          <a:bodyPr wrap="square" lIns="0" tIns="0" rIns="0" bIns="0" rtlCol="0" anchor="ctr"/>
          <a:lstStyle/>
          <a:p>
            <a:pPr indent="0" marL="0">
              <a:buNone/>
            </a:pPr>
            <a:r>
              <a:rPr lang="ja-JP" altLang="en-US" sz="1290" dirty="0">
                <a:solidFill>
                  <a:srgbClr val="25282E"/>
                </a:solidFill>
                <a:latin typeface="Noto Sans CJK JP" pitchFamily="34" charset="0"/>
                <a:ea typeface="Noto Sans CJK JP" pitchFamily="34" charset="-122"/>
                <a:cs typeface="Noto Sans CJK JP" pitchFamily="34" charset="-120"/>
              </a:rPr>
              <a:t>試験計画・引継ぎ計画の承認前</a:t>
            </a:r>
            <a:endParaRPr lang="ja-JP" sz="1290" dirty="0"/>
          </a:p>
        </p:txBody>
      </p:sp>
      <p:sp>
        <p:nvSpPr>
          <p:cNvPr id="86" name="Shape 84"/>
          <p:cNvSpPr/>
          <p:nvPr/>
        </p:nvSpPr>
        <p:spPr>
          <a:xfrm>
            <a:off x="475488" y="5550408"/>
            <a:ext cx="11228832" cy="493776"/>
          </a:xfrm>
          <a:prstGeom prst="rect">
            <a:avLst>
              <a:gd name="adj" fmla="val 14815"/>
            </a:avLst>
          </a:prstGeom>
          <a:solidFill>
            <a:srgbClr val="E51B0B"/>
          </a:solidFill>
          <a:ln w="12700">
            <a:solidFill>
              <a:srgbClr val="E51B0B">
                <a:alpha val="0"/>
              </a:srgbClr>
            </a:solidFill>
            <a:prstDash val="solid"/>
          </a:ln>
        </p:spPr>
      </p:sp>
      <p:sp>
        <p:nvSpPr>
          <p:cNvPr id="87" name="Text 85"/>
          <p:cNvSpPr/>
          <p:nvPr/>
        </p:nvSpPr>
        <p:spPr>
          <a:xfrm>
            <a:off x="676656" y="5650992"/>
            <a:ext cx="10808208" cy="274320"/>
          </a:xfrm>
          <a:prstGeom prst="rect">
            <a:avLst/>
          </a:prstGeom>
          <a:noFill/>
          <a:ln/>
        </p:spPr>
        <p:txBody>
          <a:bodyPr wrap="square" lIns="0" tIns="0" rIns="0" bIns="0" rtlCol="0" anchor="ctr"/>
          <a:lstStyle/>
          <a:p>
            <a:pPr indent="0" marL="0">
              <a:buNone/>
            </a:pPr>
            <a:r>
              <a:rPr lang="ja-JP" altLang="en-US" sz="1350" b="1" dirty="0">
                <a:solidFill>
                  <a:srgbClr val="FFFFFF"/>
                </a:solidFill>
                <a:latin typeface="Noto Sans CJK JP" pitchFamily="34" charset="0"/>
                <a:ea typeface="Noto Sans CJK JP" pitchFamily="34" charset="-122"/>
                <a:cs typeface="Noto Sans CJK JP" pitchFamily="34" charset="-120"/>
              </a:rPr>
              <a:t>本日の合意：  ① 対象5テーブル  ② 責任者と要員  ③ 仮日程の見直し条件  ④ 事前検証の着手条件</a:t>
            </a:r>
            <a:endParaRPr lang="ja-JP" sz="1350" dirty="0"/>
          </a:p>
        </p:txBody>
      </p:sp>
      <p:sp>
        <p:nvSpPr>
          <p:cNvPr id="88" name="Shape 86"/>
          <p:cNvSpPr/>
          <p:nvPr/>
        </p:nvSpPr>
        <p:spPr>
          <a:xfrm>
            <a:off x="457200" y="6492240"/>
            <a:ext cx="11274552" cy="0"/>
          </a:xfrm>
          <a:prstGeom prst="line">
            <a:avLst/>
          </a:prstGeom>
          <a:noFill/>
          <a:ln w="8890">
            <a:solidFill>
              <a:srgbClr val="DFE1E4"/>
            </a:solidFill>
            <a:prstDash val="solid"/>
            <a:headEnd type="none"/>
            <a:tailEnd type="none"/>
          </a:ln>
        </p:spPr>
      </p:sp>
      <p:sp>
        <p:nvSpPr>
          <p:cNvPr id="89" name="Text 87"/>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90" name="Text 88"/>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91" name="Text 89"/>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12</a:t>
            </a:r>
            <a:endParaRPr lang="ja-JP" sz="1000" dirty="0"/>
          </a:p>
        </p:txBody>
      </p:sp>
      <p:sp>
        <p:nvSpPr>
          <p:cNvPr id="92" name="Text 90"/>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出典：作業内容 No.1〜24、43、47、64／WBS「確認事項」。氏名は元資料の確認先であり、正式担当の確定ではない。</a:t>
            </a:r>
            <a:endParaRPr lang="ja-JP" sz="8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gd name="adj" fmla="val 100000"/>
            </a:avLst>
          </a:prstGeom>
          <a:solidFill>
            <a:srgbClr val="E51B0B"/>
          </a:solidFill>
          <a:ln w="12700">
            <a:solidFill>
              <a:srgbClr val="E51B0B">
                <a:alpha val="0"/>
              </a:srgbClr>
            </a:solidFill>
            <a:prstDash val="solid"/>
          </a:ln>
        </p:spPr>
      </p:sp>
      <p:sp>
        <p:nvSpPr>
          <p:cNvPr id="3" name="Shape 1"/>
          <p:cNvSpPr/>
          <p:nvPr/>
        </p:nvSpPr>
        <p:spPr>
          <a:xfrm>
            <a:off x="11704320" y="73152"/>
            <a:ext cx="487680" cy="457200"/>
          </a:xfrm>
          <a:prstGeom prst="rect">
            <a:avLst>
              <a:gd name="adj" fmla="val 16000"/>
            </a:avLst>
          </a:prstGeom>
          <a:solidFill>
            <a:srgbClr val="E51B0B"/>
          </a:solidFill>
          <a:ln w="12700">
            <a:solidFill>
              <a:srgbClr val="E51B0B">
                <a:alpha val="0"/>
              </a:srgbClr>
            </a:solidFill>
            <a:prstDash val="solid"/>
          </a:ln>
        </p:spPr>
      </p:sp>
      <p:sp>
        <p:nvSpPr>
          <p:cNvPr id="4" name="Text 2"/>
          <p:cNvSpPr/>
          <p:nvPr/>
        </p:nvSpPr>
        <p:spPr>
          <a:xfrm>
            <a:off x="457200" y="329184"/>
            <a:ext cx="11009376" cy="512064"/>
          </a:xfrm>
          <a:prstGeom prst="rect">
            <a:avLst/>
          </a:prstGeom>
          <a:noFill/>
          <a:ln/>
        </p:spPr>
        <p:txBody>
          <a:bodyPr wrap="square" lIns="0" tIns="0" rIns="0" bIns="0" rtlCol="0" anchor="ctr"/>
          <a:lstStyle/>
          <a:p>
            <a:pPr indent="0" marL="0">
              <a:buNone/>
            </a:pPr>
            <a:r>
              <a:rPr lang="ja-JP" altLang="en-US" sz="2900" dirty="0">
                <a:solidFill>
                  <a:srgbClr val="E51B0B"/>
                </a:solidFill>
                <a:latin typeface="Noto Sans CJK JP" pitchFamily="34" charset="0"/>
                <a:ea typeface="Noto Sans CJK JP" pitchFamily="34" charset="-122"/>
                <a:cs typeface="Noto Sans CJK JP" pitchFamily="34" charset="-120"/>
              </a:rPr>
              <a:t>参考資料・確定状況の整理</a:t>
            </a:r>
            <a:endParaRPr lang="ja-JP" sz="2900" dirty="0"/>
          </a:p>
        </p:txBody>
      </p:sp>
      <p:sp>
        <p:nvSpPr>
          <p:cNvPr id="5" name="Text 3"/>
          <p:cNvSpPr/>
          <p:nvPr/>
        </p:nvSpPr>
        <p:spPr>
          <a:xfrm>
            <a:off x="475488" y="923544"/>
            <a:ext cx="11091672" cy="448056"/>
          </a:xfrm>
          <a:prstGeom prst="rect">
            <a:avLst/>
          </a:prstGeom>
          <a:noFill/>
          <a:ln/>
        </p:spPr>
        <p:txBody>
          <a:bodyPr wrap="square" lIns="0" tIns="0" rIns="0" bIns="0" rtlCol="0" anchor="t"/>
          <a:lstStyle/>
          <a:p>
            <a:pPr indent="0" marL="0">
              <a:buNone/>
            </a:pPr>
            <a:r>
              <a:rPr lang="ja-JP" altLang="en-US" sz="1340" dirty="0">
                <a:solidFill>
                  <a:srgbClr val="60656D"/>
                </a:solidFill>
                <a:latin typeface="Noto Sans CJK JP" pitchFamily="34" charset="0"/>
                <a:ea typeface="Noto Sans CJK JP" pitchFamily="34" charset="-122"/>
                <a:cs typeface="Noto Sans CJK JP" pitchFamily="34" charset="-120"/>
              </a:rPr>
              <a:t>参照元の事実と、本資料で提案した内容を区別して使用する</a:t>
            </a:r>
            <a:endParaRPr lang="ja-JP" sz="1340" dirty="0"/>
          </a:p>
        </p:txBody>
      </p:sp>
      <p:sp>
        <p:nvSpPr>
          <p:cNvPr id="6" name="Shape 4"/>
          <p:cNvSpPr/>
          <p:nvPr/>
        </p:nvSpPr>
        <p:spPr>
          <a:xfrm>
            <a:off x="475488" y="1536192"/>
            <a:ext cx="5486400" cy="2487168"/>
          </a:xfrm>
          <a:prstGeom prst="rect">
            <a:avLst>
              <a:gd name="adj" fmla="val 2941"/>
            </a:avLst>
          </a:prstGeom>
          <a:solidFill>
            <a:srgbClr val="F4F4F3"/>
          </a:solidFill>
          <a:ln w="12700">
            <a:solidFill>
              <a:srgbClr val="F4F4F3">
                <a:alpha val="0"/>
              </a:srgbClr>
            </a:solidFill>
            <a:prstDash val="solid"/>
          </a:ln>
        </p:spPr>
      </p:sp>
      <p:sp>
        <p:nvSpPr>
          <p:cNvPr id="7" name="Shape 5"/>
          <p:cNvSpPr/>
          <p:nvPr/>
        </p:nvSpPr>
        <p:spPr>
          <a:xfrm>
            <a:off x="475488" y="1536192"/>
            <a:ext cx="5486400" cy="411480"/>
          </a:xfrm>
          <a:prstGeom prst="rect">
            <a:avLst>
              <a:gd name="adj" fmla="val 17778"/>
            </a:avLst>
          </a:prstGeom>
          <a:solidFill>
            <a:srgbClr val="E51B0B"/>
          </a:solidFill>
          <a:ln w="12700">
            <a:solidFill>
              <a:srgbClr val="E51B0B">
                <a:alpha val="0"/>
              </a:srgbClr>
            </a:solidFill>
            <a:prstDash val="solid"/>
          </a:ln>
        </p:spPr>
      </p:sp>
      <p:sp>
        <p:nvSpPr>
          <p:cNvPr id="8" name="Text 6"/>
          <p:cNvSpPr/>
          <p:nvPr/>
        </p:nvSpPr>
        <p:spPr>
          <a:xfrm>
            <a:off x="621792" y="1554480"/>
            <a:ext cx="5193792"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参照元から反映した内容</a:t>
            </a:r>
            <a:endParaRPr lang="ja-JP" sz="1700" dirty="0"/>
          </a:p>
        </p:txBody>
      </p:sp>
      <p:sp>
        <p:nvSpPr>
          <p:cNvPr id="9" name="Text 7"/>
          <p:cNvSpPr/>
          <p:nvPr/>
        </p:nvSpPr>
        <p:spPr>
          <a:xfrm>
            <a:off x="685800" y="2212848"/>
            <a:ext cx="5065776" cy="1536192"/>
          </a:xfrm>
          <a:prstGeom prst="rect">
            <a:avLst/>
          </a:prstGeom>
          <a:noFill/>
          <a:ln/>
        </p:spPr>
        <p:txBody>
          <a:bodyPr wrap="square" lIns="0" tIns="0" rIns="0" bIns="0" rtlCol="0" anchor="t"/>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OneForce作業内容（画像5枚・No.1〜64）</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対象5テーブル、既存／新規の区分、事前検証、KT</a:t>
            </a:r>
            <a:endParaRPr lang="ja-JP" sz="1400" dirty="0"/>
          </a:p>
          <a:p>
            <a:pPr indent="0" marL="0">
              <a:buNone/>
            </a:pP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Fabric移行_WBS_作業内容反映_v1.0.xlsx</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101タスク、工程日程、確認事項20件</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※WBS自体もドラフト／未承認</a:t>
            </a:r>
            <a:endParaRPr lang="ja-JP" sz="1400" dirty="0"/>
          </a:p>
        </p:txBody>
      </p:sp>
      <p:sp>
        <p:nvSpPr>
          <p:cNvPr id="10" name="Shape 8"/>
          <p:cNvSpPr/>
          <p:nvPr/>
        </p:nvSpPr>
        <p:spPr>
          <a:xfrm>
            <a:off x="6208776" y="1536192"/>
            <a:ext cx="5495544" cy="2487168"/>
          </a:xfrm>
          <a:prstGeom prst="rect">
            <a:avLst>
              <a:gd name="adj" fmla="val 2941"/>
            </a:avLst>
          </a:prstGeom>
          <a:solidFill>
            <a:srgbClr val="FCE7E4"/>
          </a:solidFill>
          <a:ln w="12700">
            <a:solidFill>
              <a:srgbClr val="FCE7E4">
                <a:alpha val="0"/>
              </a:srgbClr>
            </a:solidFill>
            <a:prstDash val="solid"/>
          </a:ln>
        </p:spPr>
      </p:sp>
      <p:sp>
        <p:nvSpPr>
          <p:cNvPr id="11" name="Shape 9"/>
          <p:cNvSpPr/>
          <p:nvPr/>
        </p:nvSpPr>
        <p:spPr>
          <a:xfrm>
            <a:off x="6208776" y="1536192"/>
            <a:ext cx="5495544" cy="411480"/>
          </a:xfrm>
          <a:prstGeom prst="rect">
            <a:avLst>
              <a:gd name="adj" fmla="val 17778"/>
            </a:avLst>
          </a:prstGeom>
          <a:solidFill>
            <a:srgbClr val="E51B0B"/>
          </a:solidFill>
          <a:ln w="12700">
            <a:solidFill>
              <a:srgbClr val="E51B0B">
                <a:alpha val="0"/>
              </a:srgbClr>
            </a:solidFill>
            <a:prstDash val="solid"/>
          </a:ln>
        </p:spPr>
      </p:sp>
      <p:sp>
        <p:nvSpPr>
          <p:cNvPr id="12" name="Text 10"/>
          <p:cNvSpPr/>
          <p:nvPr/>
        </p:nvSpPr>
        <p:spPr>
          <a:xfrm>
            <a:off x="6355080" y="1554480"/>
            <a:ext cx="5202936" cy="365760"/>
          </a:xfrm>
          <a:prstGeom prst="rect">
            <a:avLst/>
          </a:prstGeom>
          <a:noFill/>
          <a:ln/>
        </p:spPr>
        <p:txBody>
          <a:bodyPr wrap="square" lIns="0" tIns="0" rIns="0" bIns="0" rtlCol="0" anchor="ctr"/>
          <a:lstStyle/>
          <a:p>
            <a:pPr indent="0" marL="0">
              <a:buNone/>
            </a:pPr>
            <a:r>
              <a:rPr lang="ja-JP" altLang="en-US" sz="1700" b="1" dirty="0">
                <a:solidFill>
                  <a:srgbClr val="FFFFFF"/>
                </a:solidFill>
                <a:latin typeface="Noto Sans CJK JP" pitchFamily="34" charset="0"/>
                <a:ea typeface="Noto Sans CJK JP" pitchFamily="34" charset="-122"/>
                <a:cs typeface="Noto Sans CJK JP" pitchFamily="34" charset="-120"/>
              </a:rPr>
              <a:t>本資料の提案・未確定事項</a:t>
            </a:r>
            <a:endParaRPr lang="ja-JP" sz="1700" dirty="0"/>
          </a:p>
        </p:txBody>
      </p:sp>
      <p:sp>
        <p:nvSpPr>
          <p:cNvPr id="13" name="Text 11"/>
          <p:cNvSpPr/>
          <p:nvPr/>
        </p:nvSpPr>
        <p:spPr>
          <a:xfrm>
            <a:off x="6419088" y="2212848"/>
            <a:ext cx="5065776" cy="1536192"/>
          </a:xfrm>
          <a:prstGeom prst="rect">
            <a:avLst/>
          </a:prstGeom>
          <a:noFill/>
          <a:ln/>
        </p:spPr>
        <p:txBody>
          <a:bodyPr wrap="square" lIns="0" tIns="0" rIns="0" bIns="0" rtlCol="0" anchor="t"/>
          <a:lstStyle/>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目的・業務価値、役割分担、品質判定の進め方</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正式開始日・納期・担当・SLA・成果物数量</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本番移行・Go-Live・切替後保守の範囲</a:t>
            </a:r>
            <a:endParaRPr lang="ja-JP" sz="1400" dirty="0"/>
          </a:p>
          <a:p>
            <a:pPr indent="0" marL="0">
              <a:buNone/>
            </a:pP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元資料No.5・6のみ「資料上完了」。</a:t>
            </a:r>
            <a:endParaRPr lang="ja-JP" sz="1400" dirty="0"/>
          </a:p>
          <a:p>
            <a:pPr indent="0" marL="0">
              <a:buNone/>
            </a:pPr>
            <a:r>
              <a:rPr lang="ja-JP" altLang="en-US" sz="1400" dirty="0">
                <a:solidFill>
                  <a:srgbClr val="25282E"/>
                </a:solidFill>
                <a:latin typeface="Noto Sans CJK JP" pitchFamily="34" charset="0"/>
                <a:ea typeface="Noto Sans CJK JP" pitchFamily="34" charset="-122"/>
                <a:cs typeface="Noto Sans CJK JP" pitchFamily="34" charset="-120"/>
              </a:rPr>
              <a:t>正式な実績日・承認状況は未確認。</a:t>
            </a:r>
            <a:endParaRPr lang="ja-JP" sz="1400" dirty="0"/>
          </a:p>
        </p:txBody>
      </p:sp>
      <p:sp>
        <p:nvSpPr>
          <p:cNvPr id="14" name="Text 12"/>
          <p:cNvSpPr/>
          <p:nvPr/>
        </p:nvSpPr>
        <p:spPr>
          <a:xfrm>
            <a:off x="493776" y="4306824"/>
            <a:ext cx="11155680" cy="365760"/>
          </a:xfrm>
          <a:prstGeom prst="rect">
            <a:avLst/>
          </a:prstGeom>
          <a:noFill/>
          <a:ln/>
        </p:spPr>
        <p:txBody>
          <a:bodyPr wrap="square" lIns="0" tIns="0" rIns="0" bIns="0" rtlCol="0" anchor="ctr"/>
          <a:lstStyle/>
          <a:p>
            <a:pPr indent="0" marL="0">
              <a:buNone/>
            </a:pPr>
            <a:r>
              <a:rPr lang="ja-JP" altLang="en-US" sz="1800" b="1" dirty="0">
                <a:solidFill>
                  <a:srgbClr val="25282E"/>
                </a:solidFill>
                <a:latin typeface="Noto Sans CJK JP" pitchFamily="34" charset="0"/>
                <a:ea typeface="Noto Sans CJK JP" pitchFamily="34" charset="-122"/>
                <a:cs typeface="Noto Sans CJK JP" pitchFamily="34" charset="-120"/>
              </a:rPr>
              <a:t>技術方式の参考：Microsoft Learn</a:t>
            </a:r>
            <a:endParaRPr lang="ja-JP" sz="1800" dirty="0"/>
          </a:p>
        </p:txBody>
      </p:sp>
      <p:sp>
        <p:nvSpPr>
          <p:cNvPr id="15" name="Shape 13"/>
          <p:cNvSpPr/>
          <p:nvPr/>
        </p:nvSpPr>
        <p:spPr>
          <a:xfrm>
            <a:off x="493776" y="4809744"/>
            <a:ext cx="658368" cy="283464"/>
          </a:xfrm>
          <a:prstGeom prst="rect">
            <a:avLst>
              <a:gd name="adj" fmla="val 25806"/>
            </a:avLst>
          </a:prstGeom>
          <a:solidFill>
            <a:srgbClr val="FCE7E4"/>
          </a:solidFill>
          <a:ln w="12700">
            <a:solidFill>
              <a:srgbClr val="FCE7E4">
                <a:alpha val="0"/>
              </a:srgbClr>
            </a:solidFill>
            <a:prstDash val="solid"/>
          </a:ln>
        </p:spPr>
      </p:sp>
      <p:sp>
        <p:nvSpPr>
          <p:cNvPr id="16" name="Text 14"/>
          <p:cNvSpPr/>
          <p:nvPr/>
        </p:nvSpPr>
        <p:spPr>
          <a:xfrm>
            <a:off x="566928" y="4818888"/>
            <a:ext cx="512064" cy="265176"/>
          </a:xfrm>
          <a:prstGeom prst="rect">
            <a:avLst/>
          </a:prstGeom>
          <a:noFill/>
          <a:ln/>
        </p:spPr>
        <p:txBody>
          <a:bodyPr wrap="square" lIns="0" tIns="0" rIns="0" bIns="0" rtlCol="0" anchor="ctr"/>
          <a:lstStyle/>
          <a:p>
            <a:pPr algn="ctr" indent="0" marL="0">
              <a:buNone/>
            </a:pPr>
            <a:r>
              <a:rPr lang="ja-JP" altLang="en-US" sz="1040" b="1" dirty="0">
                <a:solidFill>
                  <a:srgbClr val="E51B0B"/>
                </a:solidFill>
                <a:latin typeface="Noto Sans CJK JP" pitchFamily="34" charset="0"/>
                <a:ea typeface="Noto Sans CJK JP" pitchFamily="34" charset="-122"/>
                <a:cs typeface="Noto Sans CJK JP" pitchFamily="34" charset="-120"/>
              </a:rPr>
              <a:t>MS1</a:t>
            </a:r>
            <a:endParaRPr lang="ja-JP" sz="1040" dirty="0"/>
          </a:p>
        </p:txBody>
      </p:sp>
      <p:sp>
        <p:nvSpPr>
          <p:cNvPr id="17" name="Text 15">
            <a:hlinkClick r:id="rId1" tooltip=""/>
          </p:cNvPr>
          <p:cNvSpPr/>
          <p:nvPr/>
        </p:nvSpPr>
        <p:spPr>
          <a:xfrm>
            <a:off x="1316736" y="4828032"/>
            <a:ext cx="10094976" cy="228600"/>
          </a:xfrm>
          <a:prstGeom prst="rect">
            <a:avLst/>
          </a:prstGeom>
          <a:noFill/>
          <a:ln/>
        </p:spPr>
        <p:txBody>
          <a:bodyPr wrap="square" lIns="0" tIns="0" rIns="0" bIns="0" rtlCol="0" anchor="ctr"/>
          <a:lstStyle/>
          <a:p>
            <a:pPr indent="0" marL="0">
              <a:buNone/>
            </a:pPr>
            <a:r>
              <a:rPr lang="ja-JP" altLang="en-US" sz="1260" u="sng" dirty="0">
                <a:solidFill>
                  <a:srgbClr val="38566A"/>
                </a:solidFill>
                <a:uFill>
                  <a:solidFill>
                    <a:srgbClr val="38566A"/>
                  </a:solidFill>
                </a:uFill>
                <a:latin typeface="Noto Sans CJK JP" pitchFamily="34" charset="0"/>
                <a:ea typeface="Noto Sans CJK JP" pitchFamily="34" charset="-122"/>
                <a:cs typeface="Noto Sans CJK JP"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Dataverse：Copy activityのコピー先設定・Upsert・権限</a:t>
            </a:r>
            <a:endParaRPr lang="ja-JP" sz="1260" dirty="0"/>
          </a:p>
        </p:txBody>
      </p:sp>
      <p:sp>
        <p:nvSpPr>
          <p:cNvPr id="18" name="Shape 16"/>
          <p:cNvSpPr/>
          <p:nvPr/>
        </p:nvSpPr>
        <p:spPr>
          <a:xfrm>
            <a:off x="493776" y="5193792"/>
            <a:ext cx="658368" cy="283464"/>
          </a:xfrm>
          <a:prstGeom prst="rect">
            <a:avLst>
              <a:gd name="adj" fmla="val 25806"/>
            </a:avLst>
          </a:prstGeom>
          <a:solidFill>
            <a:srgbClr val="FCE7E4"/>
          </a:solidFill>
          <a:ln w="12700">
            <a:solidFill>
              <a:srgbClr val="FCE7E4">
                <a:alpha val="0"/>
              </a:srgbClr>
            </a:solidFill>
            <a:prstDash val="solid"/>
          </a:ln>
        </p:spPr>
      </p:sp>
      <p:sp>
        <p:nvSpPr>
          <p:cNvPr id="19" name="Text 17"/>
          <p:cNvSpPr/>
          <p:nvPr/>
        </p:nvSpPr>
        <p:spPr>
          <a:xfrm>
            <a:off x="566928" y="5202936"/>
            <a:ext cx="512064" cy="265176"/>
          </a:xfrm>
          <a:prstGeom prst="rect">
            <a:avLst/>
          </a:prstGeom>
          <a:noFill/>
          <a:ln/>
        </p:spPr>
        <p:txBody>
          <a:bodyPr wrap="square" lIns="0" tIns="0" rIns="0" bIns="0" rtlCol="0" anchor="ctr"/>
          <a:lstStyle/>
          <a:p>
            <a:pPr algn="ctr" indent="0" marL="0">
              <a:buNone/>
            </a:pPr>
            <a:r>
              <a:rPr lang="ja-JP" altLang="en-US" sz="1040" b="1" dirty="0">
                <a:solidFill>
                  <a:srgbClr val="E51B0B"/>
                </a:solidFill>
                <a:latin typeface="Noto Sans CJK JP" pitchFamily="34" charset="0"/>
                <a:ea typeface="Noto Sans CJK JP" pitchFamily="34" charset="-122"/>
                <a:cs typeface="Noto Sans CJK JP" pitchFamily="34" charset="-120"/>
              </a:rPr>
              <a:t>MS2</a:t>
            </a:r>
            <a:endParaRPr lang="ja-JP" sz="1040" dirty="0"/>
          </a:p>
        </p:txBody>
      </p:sp>
      <p:sp>
        <p:nvSpPr>
          <p:cNvPr id="20" name="Text 18">
            <a:hlinkClick r:id="rId2" tooltip=""/>
          </p:cNvPr>
          <p:cNvSpPr/>
          <p:nvPr/>
        </p:nvSpPr>
        <p:spPr>
          <a:xfrm>
            <a:off x="1316736" y="5212080"/>
            <a:ext cx="10094976" cy="228600"/>
          </a:xfrm>
          <a:prstGeom prst="rect">
            <a:avLst/>
          </a:prstGeom>
          <a:noFill/>
          <a:ln/>
        </p:spPr>
        <p:txBody>
          <a:bodyPr wrap="square" lIns="0" tIns="0" rIns="0" bIns="0" rtlCol="0" anchor="ctr"/>
          <a:lstStyle/>
          <a:p>
            <a:pPr indent="0" marL="0">
              <a:buNone/>
            </a:pPr>
            <a:r>
              <a:rPr lang="ja-JP" altLang="en-US" sz="1260" u="sng" dirty="0">
                <a:solidFill>
                  <a:srgbClr val="38566A"/>
                </a:solidFill>
                <a:uFill>
                  <a:solidFill>
                    <a:srgbClr val="38566A"/>
                  </a:solidFill>
                </a:uFill>
                <a:latin typeface="Noto Sans CJK JP" pitchFamily="34" charset="0"/>
                <a:ea typeface="Noto Sans CJK JP" pitchFamily="34" charset="-122"/>
                <a:cs typeface="Noto Sans CJK JP"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Lakehouse：SQL分析エンドポイントとSQLオブジェクト</a:t>
            </a:r>
            <a:endParaRPr lang="ja-JP" sz="1260" dirty="0"/>
          </a:p>
        </p:txBody>
      </p:sp>
      <p:sp>
        <p:nvSpPr>
          <p:cNvPr id="21" name="Shape 19"/>
          <p:cNvSpPr/>
          <p:nvPr/>
        </p:nvSpPr>
        <p:spPr>
          <a:xfrm>
            <a:off x="493776" y="5577840"/>
            <a:ext cx="658368" cy="283464"/>
          </a:xfrm>
          <a:prstGeom prst="rect">
            <a:avLst>
              <a:gd name="adj" fmla="val 25806"/>
            </a:avLst>
          </a:prstGeom>
          <a:solidFill>
            <a:srgbClr val="FCE7E4"/>
          </a:solidFill>
          <a:ln w="12700">
            <a:solidFill>
              <a:srgbClr val="FCE7E4">
                <a:alpha val="0"/>
              </a:srgbClr>
            </a:solidFill>
            <a:prstDash val="solid"/>
          </a:ln>
        </p:spPr>
      </p:sp>
      <p:sp>
        <p:nvSpPr>
          <p:cNvPr id="22" name="Text 20"/>
          <p:cNvSpPr/>
          <p:nvPr/>
        </p:nvSpPr>
        <p:spPr>
          <a:xfrm>
            <a:off x="566928" y="5586984"/>
            <a:ext cx="512064" cy="265176"/>
          </a:xfrm>
          <a:prstGeom prst="rect">
            <a:avLst/>
          </a:prstGeom>
          <a:noFill/>
          <a:ln/>
        </p:spPr>
        <p:txBody>
          <a:bodyPr wrap="square" lIns="0" tIns="0" rIns="0" bIns="0" rtlCol="0" anchor="ctr"/>
          <a:lstStyle/>
          <a:p>
            <a:pPr algn="ctr" indent="0" marL="0">
              <a:buNone/>
            </a:pPr>
            <a:r>
              <a:rPr lang="ja-JP" altLang="en-US" sz="1040" b="1" dirty="0">
                <a:solidFill>
                  <a:srgbClr val="E51B0B"/>
                </a:solidFill>
                <a:latin typeface="Noto Sans CJK JP" pitchFamily="34" charset="0"/>
                <a:ea typeface="Noto Sans CJK JP" pitchFamily="34" charset="-122"/>
                <a:cs typeface="Noto Sans CJK JP" pitchFamily="34" charset="-120"/>
              </a:rPr>
              <a:t>MS3</a:t>
            </a:r>
            <a:endParaRPr lang="ja-JP" sz="1040" dirty="0"/>
          </a:p>
        </p:txBody>
      </p:sp>
      <p:sp>
        <p:nvSpPr>
          <p:cNvPr id="23" name="Text 21">
            <a:hlinkClick r:id="rId3" tooltip=""/>
          </p:cNvPr>
          <p:cNvSpPr/>
          <p:nvPr/>
        </p:nvSpPr>
        <p:spPr>
          <a:xfrm>
            <a:off x="1316736" y="5596128"/>
            <a:ext cx="10094976" cy="228600"/>
          </a:xfrm>
          <a:prstGeom prst="rect">
            <a:avLst/>
          </a:prstGeom>
          <a:noFill/>
          <a:ln/>
        </p:spPr>
        <p:txBody>
          <a:bodyPr wrap="square" lIns="0" tIns="0" rIns="0" bIns="0" rtlCol="0" anchor="ctr"/>
          <a:lstStyle/>
          <a:p>
            <a:pPr indent="0" marL="0">
              <a:buNone/>
            </a:pPr>
            <a:r>
              <a:rPr lang="ja-JP" altLang="en-US" sz="1260" u="sng" dirty="0">
                <a:solidFill>
                  <a:srgbClr val="38566A"/>
                </a:solidFill>
                <a:uFill>
                  <a:solidFill>
                    <a:srgbClr val="38566A"/>
                  </a:solidFill>
                </a:uFill>
                <a:latin typeface="Noto Sans CJK JP" pitchFamily="34" charset="0"/>
                <a:ea typeface="Noto Sans CJK JP" pitchFamily="34" charset="-122"/>
                <a:cs typeface="Noto Sans CJK JP"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Notebook：%runによる同一ワークスペース内の共通化</a:t>
            </a:r>
            <a:endParaRPr lang="ja-JP" sz="1260" dirty="0"/>
          </a:p>
        </p:txBody>
      </p:sp>
      <p:sp>
        <p:nvSpPr>
          <p:cNvPr id="24" name="Text 22"/>
          <p:cNvSpPr/>
          <p:nvPr/>
        </p:nvSpPr>
        <p:spPr>
          <a:xfrm>
            <a:off x="502920" y="6080760"/>
            <a:ext cx="11173968" cy="201168"/>
          </a:xfrm>
          <a:prstGeom prst="rect">
            <a:avLst/>
          </a:prstGeom>
          <a:noFill/>
          <a:ln/>
        </p:spPr>
        <p:txBody>
          <a:bodyPr wrap="square" lIns="0" tIns="0" rIns="0" bIns="0" rtlCol="0" anchor="ctr"/>
          <a:lstStyle/>
          <a:p>
            <a:pPr indent="0" marL="0">
              <a:buNone/>
            </a:pPr>
            <a:r>
              <a:rPr lang="ja-JP" altLang="en-US" sz="980" dirty="0">
                <a:solidFill>
                  <a:srgbClr val="60656D"/>
                </a:solidFill>
                <a:latin typeface="Noto Sans CJK JP" pitchFamily="34" charset="0"/>
                <a:ea typeface="Noto Sans CJK JP" pitchFamily="34" charset="-122"/>
                <a:cs typeface="Noto Sans CJK JP" pitchFamily="34" charset="-120"/>
              </a:rPr>
              <a:t>Omni2Fabric Project Kickoff（提供画像 p.1〜9）は、構成・赤白デザインのみ参照。日程・氏名・別案件の範囲は転用しない。</a:t>
            </a:r>
            <a:endParaRPr lang="ja-JP" sz="980" dirty="0"/>
          </a:p>
        </p:txBody>
      </p:sp>
      <p:sp>
        <p:nvSpPr>
          <p:cNvPr id="25" name="Shape 23"/>
          <p:cNvSpPr/>
          <p:nvPr/>
        </p:nvSpPr>
        <p:spPr>
          <a:xfrm>
            <a:off x="457200" y="6492240"/>
            <a:ext cx="11274552" cy="0"/>
          </a:xfrm>
          <a:prstGeom prst="line">
            <a:avLst/>
          </a:prstGeom>
          <a:noFill/>
          <a:ln w="8890">
            <a:solidFill>
              <a:srgbClr val="DFE1E4"/>
            </a:solidFill>
            <a:prstDash val="solid"/>
            <a:headEnd type="none"/>
            <a:tailEnd type="none"/>
          </a:ln>
        </p:spPr>
      </p:sp>
      <p:sp>
        <p:nvSpPr>
          <p:cNvPr id="26" name="Text 24"/>
          <p:cNvSpPr/>
          <p:nvPr/>
        </p:nvSpPr>
        <p:spPr>
          <a:xfrm>
            <a:off x="457200" y="6565392"/>
            <a:ext cx="4663440" cy="173736"/>
          </a:xfrm>
          <a:prstGeom prst="rect">
            <a:avLst/>
          </a:prstGeom>
          <a:noFill/>
          <a:ln/>
        </p:spPr>
        <p:txBody>
          <a:bodyPr wrap="square" lIns="0" tIns="0" rIns="0" bIns="0" rtlCol="0" anchor="ctr"/>
          <a:lstStyle/>
          <a:p>
            <a:pPr indent="0" marL="0">
              <a:buNone/>
            </a:pPr>
            <a:r>
              <a:rPr lang="ja-JP" altLang="en-US" sz="900" dirty="0">
                <a:solidFill>
                  <a:srgbClr val="E51B0B"/>
                </a:solidFill>
                <a:latin typeface="Noto Sans CJK JP" pitchFamily="34" charset="0"/>
                <a:ea typeface="Noto Sans CJK JP" pitchFamily="34" charset="-122"/>
                <a:cs typeface="Noto Sans CJK JP" pitchFamily="34" charset="-120"/>
              </a:rPr>
              <a:t>OneForce  |  Fabric移行プロジェクト</a:t>
            </a:r>
            <a:endParaRPr lang="ja-JP" sz="900" dirty="0"/>
          </a:p>
        </p:txBody>
      </p:sp>
      <p:sp>
        <p:nvSpPr>
          <p:cNvPr id="27" name="Text 25"/>
          <p:cNvSpPr/>
          <p:nvPr/>
        </p:nvSpPr>
        <p:spPr>
          <a:xfrm>
            <a:off x="9692640" y="6565392"/>
            <a:ext cx="1554480" cy="173736"/>
          </a:xfrm>
          <a:prstGeom prst="rect">
            <a:avLst/>
          </a:prstGeom>
          <a:noFill/>
          <a:ln/>
        </p:spPr>
        <p:txBody>
          <a:bodyPr wrap="square" lIns="0" tIns="0" rIns="0" bIns="0" rtlCol="0" anchor="ctr"/>
          <a:lstStyle/>
          <a:p>
            <a:pPr algn="r" indent="0" marL="0">
              <a:buNone/>
            </a:pPr>
            <a:r>
              <a:rPr lang="ja-JP" altLang="en-US" sz="900" dirty="0">
                <a:solidFill>
                  <a:srgbClr val="60656D"/>
                </a:solidFill>
                <a:latin typeface="Noto Sans CJK JP" pitchFamily="34" charset="0"/>
                <a:ea typeface="Noto Sans CJK JP" pitchFamily="34" charset="-122"/>
                <a:cs typeface="Noto Sans CJK JP" pitchFamily="34" charset="-120"/>
              </a:rPr>
              <a:t>DRAFT / 未承認</a:t>
            </a:r>
            <a:endParaRPr lang="ja-JP" sz="900" dirty="0"/>
          </a:p>
        </p:txBody>
      </p:sp>
      <p:sp>
        <p:nvSpPr>
          <p:cNvPr id="28" name="Text 26"/>
          <p:cNvSpPr/>
          <p:nvPr/>
        </p:nvSpPr>
        <p:spPr>
          <a:xfrm>
            <a:off x="11338560" y="6537960"/>
            <a:ext cx="393192" cy="228600"/>
          </a:xfrm>
          <a:prstGeom prst="rect">
            <a:avLst/>
          </a:prstGeom>
          <a:noFill/>
          <a:ln/>
        </p:spPr>
        <p:txBody>
          <a:bodyPr wrap="square" lIns="0" tIns="0" rIns="0" bIns="0" rtlCol="0" anchor="ctr"/>
          <a:lstStyle/>
          <a:p>
            <a:pPr algn="r" indent="0" marL="0">
              <a:buNone/>
            </a:pPr>
            <a:r>
              <a:rPr lang="ja-JP" altLang="en-US" sz="1000" dirty="0">
                <a:solidFill>
                  <a:srgbClr val="60656D"/>
                </a:solidFill>
                <a:latin typeface="Noto Sans CJK JP" pitchFamily="34" charset="0"/>
                <a:ea typeface="Noto Sans CJK JP" pitchFamily="34" charset="-122"/>
                <a:cs typeface="Noto Sans CJK JP" pitchFamily="34" charset="-120"/>
              </a:rPr>
              <a:t>13</a:t>
            </a:r>
            <a:endParaRPr lang="ja-JP" sz="1000" dirty="0"/>
          </a:p>
        </p:txBody>
      </p:sp>
      <p:sp>
        <p:nvSpPr>
          <p:cNvPr id="29" name="Text 27"/>
          <p:cNvSpPr/>
          <p:nvPr/>
        </p:nvSpPr>
        <p:spPr>
          <a:xfrm>
            <a:off x="475488" y="6245352"/>
            <a:ext cx="11137392" cy="164592"/>
          </a:xfrm>
          <a:prstGeom prst="rect">
            <a:avLst/>
          </a:prstGeom>
          <a:noFill/>
          <a:ln/>
        </p:spPr>
        <p:txBody>
          <a:bodyPr wrap="square" lIns="0" tIns="0" rIns="0" bIns="0" rtlCol="0" anchor="ctr"/>
          <a:lstStyle/>
          <a:p>
            <a:pPr indent="0" marL="0">
              <a:buNone/>
            </a:pPr>
            <a:r>
              <a:rPr lang="ja-JP" altLang="en-US" sz="860" dirty="0">
                <a:solidFill>
                  <a:srgbClr val="8A8F97"/>
                </a:solidFill>
                <a:latin typeface="Noto Sans CJK JP" pitchFamily="34" charset="0"/>
                <a:ea typeface="Noto Sans CJK JP" pitchFamily="34" charset="-122"/>
                <a:cs typeface="Noto Sans CJK JP" pitchFamily="34" charset="-120"/>
              </a:rPr>
              <a:t>作成：2026/10/14／技術情報は公式ドキュメントで確認。プロジェクト固有の接続・実行結果を保証するものではない。</a:t>
            </a:r>
            <a:endParaRPr lang="ja-JP"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OneForce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OneForce プロジェクト キックオフ</dc:title>
  <dc:subject>OneForceプロジェクト キックオフ資料（日本語・検討用ドラフト）</dc:subject>
  <dc:creator>OneForce Project</dc:creator>
  <cp:lastModifiedBy>OneForce Project</cp:lastModifiedBy>
  <cp:revision>1</cp:revision>
  <dcterms:created xsi:type="dcterms:W3CDTF">2026-10-14T04:30:12Z</dcterms:created>
  <dcterms:modified xsi:type="dcterms:W3CDTF">2026-10-14T04:30:12Z</dcterms:modified>
</cp:coreProperties>
</file>